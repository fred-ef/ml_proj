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9d1678f1-ad4c-8cb7-1207-79d247c09127}">
          <p14:sldIdLst>
            <p14:sldId id="256"/>
            <p14:sldId id="257"/>
          </p14:sldIdLst>
        </p14:section>
        <p14:section name="Method" id="{dcc239fd-5c0b-a1ee-28b6-046b37776b69}">
          <p14:sldIdLst>
            <p14:sldId id="258"/>
            <p14:sldId id="259"/>
            <p14:sldId id="260"/>
          </p14:sldIdLst>
        </p14:section>
        <p14:section name="MONK" id="{2ffe753d-8756-5313-b379-b458fb996091}">
          <p14:sldIdLst>
            <p14:sldId id="261"/>
            <p14:sldId id="262"/>
            <p14:sldId id="263"/>
          </p14:sldIdLst>
        </p14:section>
        <p14:section name="CUP" id="{209ee67c-31fa-c6bf-1ca8-f26c4a797222}">
          <p14:sldIdLst>
            <p14:sldId id="264"/>
            <p14:sldId id="265"/>
            <p14:sldId id="266"/>
            <p14:sldId id="267"/>
            <p14:sldId id="268"/>
          </p14:sldIdLst>
        </p14:section>
        <p14:section name="Discussion" id="{715651ad-1a86-0952-dfbe-99d2d0c93c39}">
          <p14:sldIdLst>
            <p14:sldId id="269"/>
            <p14:sldId id="270"/>
          </p14:sldIdLst>
        </p14:section>
        <p14:section name="References" id="{99a0113c-9465-bf2e-8c6b-efa1237fc2a8}">
          <p14:sldIdLst>
            <p14:sldId id="271"/>
          </p14:sldIdLst>
        </p14:section>
        <p14:section name="Appendix" id="{1860ea43-06e9-6dfe-d503-ebe8f47daa3b}">
          <p14:sldIdLst>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Mandatory: surnames (also in the PDF and zip file names), team nickname, degree, emails, date, project type A with the language.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1 of the Report-info: aims, models and algorithms (just defined), significant assumptions.
The abstract (max 5 rows) must name the CUP model, the validation technique and the novelties, if any. The same text, shortened, goes into team-name_abstract.txt.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2 of the Report-info: code description in short, tools/libraries, software design choices if interesting.
Do not insert a picture of the network. Do not describe algorithms already seen in the lectures.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list of the Report-info (Your contributions): architectures and number of layers, activations, training algorithm, batch / on-line / mini-batch, initialization (multiple trials with different random weights? std reported?), regularization (L2 is a must), stop conditions.
Be schematic: technique names and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Novelties: what goes beyond the standard course pipeline. Repeated initializations alone are required by the course (slide 4).
Reproducibility was used in practice: the MONK runs were repeated with the same seeds to add the MSE, with identical accuracies.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Lack of results here invalidates the report. Report the MEAN over the initializations, not the best one; MSE without penalty.
Values are read at build time from results/final/*_summary.json and configs/final/*_config.json.
MONK 2 without L2: the fine grid (configs/monk2/monk2_grid_fine_s2026.json) ranks no-penalty configurations first; the earlier λ 5e-4 run (99.6 ± 1.2% TS) is kept as results/final/MONK2_l2_*.
MONK 3 (reg.): a hold-out grid could not separate the configurations (top 9 within one validation pattern) and its pick, λ 1e-3, gave 95.1% TS; 5-fold CV ranks λ 0.01 first in all top 8 configurations.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MSE and accuracy plots for each MONK. Readable in black and white (different line styles), large fonts for legend and axes, one point per epoch (mean over the epoch for mini-batch).
Source: results/final/MONK*_learning_curve.png.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MONK 3: the training set has 5% misclassified examples [2], so TR accuracy stays below 100%.
Without L2 the TS accuracy of the representative trial peaks near 97% around epoch 70 and ends at 95.6%. With λ 0.01 the network keeps TR at 93.4% and TS at 97.1% (97.2% in 42 of 50 trials). 8 trials never reach the TR-MSE target (they settle at 0.082 because of the penalty) and stop at 1000 epochs, still at 97.2% 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Validation schema: splitting TR / VL / internal TS with percentages and K. Answer the template question: is there a final retraining?
Split and seeds from the code: internal test 20% with seed 0, the same in every run (src/data/cup.py).
k = 3 and 10 inits from configs/cup/cup_grid_fine.json.
Final model (experiments/cup_final.py): seeds of assessment trial 0, fixed before looking at the test; fitted on all 500 labelled rows and stopped at the same cv_stop_target.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Schema and range of the explored hyper-parameters, number of configurations.
Coarse grids: results/cup/2026-10-25_202307 (tanh), _205508 (sigmoid), _214320 (ReLU); η above 0.01 removed for ReLU after divergence. Fine grid: configs/cup/cup_grid_fine.json.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Different seeds and splits across these runs: the comparison is indicative.
Rows from results/cup/: 2026-10-25_202307, _205508, _214320, _223011, _225141; the diverged run is 2026-10-25_165349.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How the FINAL model was selected, which candidate and why, its hyper-parameters, and how the initialization for the blind test was chosen.
[*][*] Table with MEE for TR, VL and internal TS in the original scale. VL comes from the model selection (CV mean).
The course asks the criterion that sets up the final network among the possible initializations: e.g. a seed fixed in advance. Never pick it by internal test MEE.
Machine description is mandatory.
TR is the CV target by construction (every retraining stops there). VL: mean ± std of the chosen row of the fine grid.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Learning curve TR / (VL) / TS of the FINAL model (it is unique). The VL curve may be missing if the retraining uses all the design data.
The test curve is only recorded: it never decides when to stop (say it explicitly if asked).
The blind-test network is fitted on all 500 rows and has no test curve: this is one of the 30 assessment retrainings, with the same hyper-parameters and stopping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MONK 3 hold-out grid: results/monk3/2026-10-26_104148 (λ 1e-3 picked, 95.1% TS at assessment); 5-fold grid: configs/monk3/monk3_grid_l2_kfold.json.
Fold and initialization spreads: val_std and val_init_std of the rows of Table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you have drawn and what you learned (in short). Blind test: name of the result file and nickname.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Uniform style: authors, title, journal / proceedings, volume, pages, year. Numbered, and each number cited in the slides (e.g. Glorot [3] and He [4] on the features slide). Keep only the references actually cited.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FFFFFF"/>
        </a:solidFill>
      </p:bgPr>
    </p:bg>
    <p:spTree>
      <p:nvGrpSpPr>
        <p:cNvPr id="1" name=""/>
        <p:cNvGrpSpPr/>
        <p:nvPr/>
      </p:nvGrpSpPr>
      <p:grpSpPr>
        <a:xfrm>
          <a:off x="0" y="0"/>
          <a:ext cx="0" cy="0"/>
          <a:chOff x="0" y="0"/>
          <a:chExt cx="0" cy="0"/>
        </a:xfrm>
      </p:grpSpPr>
      <p:pic>
        <p:nvPicPr>
          <p:cNvPr id="2" name="Image 0" descr="/home/nedbear/Coding/ml_proj/context/slides/assets/unipi_logo.png">    </p:cNvPr>
          <p:cNvPicPr>
            <a:picLocks noChangeAspect="1"/>
          </p:cNvPicPr>
          <p:nvPr/>
        </p:nvPicPr>
        <p:blipFill>
          <a:blip r:embed="rId1"/>
          <a:stretch>
            <a:fillRect/>
          </a:stretch>
        </p:blipFill>
        <p:spPr>
          <a:xfrm>
            <a:off x="7818120" y="320040"/>
            <a:ext cx="868680" cy="890626"/>
          </a:xfrm>
          <a:prstGeom prst="rect">
            <a:avLst/>
          </a:prstGeom>
        </p:spPr>
      </p:pic>
      <p:sp>
        <p:nvSpPr>
          <p:cNvPr id="3" name="Text 0"/>
          <p:cNvSpPr/>
          <p:nvPr>
            <p:ph idx="101" type="title" hasCustomPrompt="1"/>
          </p:nvPr>
        </p:nvSpPr>
        <p:spPr>
          <a:xfrm>
            <a:off x="548640" y="1097280"/>
            <a:ext cx="7040880" cy="1188720"/>
          </a:xfrm>
          <a:prstGeom prst="rect">
            <a:avLst/>
          </a:prstGeom>
          <a:noFill/>
          <a:ln/>
        </p:spPr>
        <p:txBody>
          <a:bodyPr wrap="square" rtlCol="0"/>
          <a:lstStyle>
            <a:lvl1pPr indent="0" marL="0">
              <a:buNone/>
              <a:defRPr lang="en-US" sz="3400" b="1" dirty="0">
                <a:solidFill>
                  <a:schemeClr val="tx2"/>
                </a:solidFill>
              </a:defRPr>
            </a:lvl1pPr>
          </a:lstStyle>
          <a:p>
            <a:pPr indent="0" marL="0">
              <a:buNone/>
            </a:pPr>
            <a:endParaRPr lang="en-US" sz="3400" dirty="0"/>
          </a:p>
        </p:txBody>
      </p:sp>
      <p:sp>
        <p:nvSpPr>
          <p:cNvPr id="4" name="Text 0"/>
          <p:cNvSpPr/>
          <p:nvPr>
            <p:ph idx="102" type="body" hasCustomPrompt="1"/>
          </p:nvPr>
        </p:nvSpPr>
        <p:spPr>
          <a:xfrm>
            <a:off x="548640" y="2377440"/>
            <a:ext cx="8046720" cy="411480"/>
          </a:xfrm>
          <a:prstGeom prst="rect">
            <a:avLst/>
          </a:prstGeom>
          <a:noFill/>
          <a:ln/>
        </p:spPr>
        <p:txBody>
          <a:bodyPr wrap="square" rtlCol="0"/>
          <a:lstStyle>
            <a:lvl1pPr indent="0" marL="0">
              <a:buNone/>
              <a:defRPr lang="en-US" sz="1800" dirty="0">
                <a:solidFill>
                  <a:schemeClr val="accent3"/>
                </a:solidFill>
              </a:defRPr>
            </a:lvl1pPr>
          </a:lstStyle>
          <a:p>
            <a:pPr indent="0" marL="0">
              <a:buNone/>
            </a:pPr>
            <a:endParaRPr lang="en-US" sz="1800" dirty="0"/>
          </a:p>
        </p:txBody>
      </p:sp>
      <p:sp>
        <p:nvSpPr>
          <p:cNvPr id="25" name="Slide Number Placeholder 0"/>
          <p:cNvSpPr>
            <a:spLocks noGrp="1"/>
          </p:cNvSpPr>
          <p:nvPr>
            <p:ph type="sldNum" sz="quarter" idx="4294967295"/>
          </p:nvPr>
        </p:nvSpPr>
        <p:spPr>
          <a:xfrm>
            <a:off x="8138160" y="4736592"/>
            <a:ext cx="548640" cy="274320"/>
          </a:xfrm>
          <a:prstGeom prst="rect">
            <a:avLst/>
          </a:prstGeom>
          <a:extLst>
            <a:ext uri="{C572A759-6A51-4108-AA02-DFA0A04FC94B}">
              <ma14:wrappingTextBoxFlag xmlns:ma14="http://schemas.microsoft.com/office/mac/drawingml/2011/main" val="0"/>
            </a:ext>
          </a:extLst>
        </p:spPr>
        <p:txBody>
          <a:bodyPr/>
          <a:lstStyle>
            <a:lvl1pPr>
              <a:defRPr sz="1400">
                <a:solidFill>
                  <a:srgbClr val="5A6F86"/>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594360"/>
          </a:xfrm>
          <a:prstGeom prst="rect">
            <a:avLst/>
          </a:prstGeom>
          <a:noFill/>
          <a:ln/>
        </p:spPr>
        <p:txBody>
          <a:bodyPr wrap="square" rtlCol="0"/>
          <a:lstStyle>
            <a:lvl1pPr indent="0" marL="0">
              <a:buNone/>
              <a:defRPr lang="en-US" sz="2600" b="1" dirty="0">
                <a:solidFill>
                  <a:schemeClr val="tx2"/>
                </a:solidFill>
              </a:defRPr>
            </a:lvl1pPr>
          </a:lstStyle>
          <a:p>
            <a:pPr indent="0" marL="0">
              <a:buNone/>
            </a:pPr>
            <a:endParaRPr lang="en-US" sz="2600" dirty="0"/>
          </a:p>
        </p:txBody>
      </p:sp>
      <p:sp>
        <p:nvSpPr>
          <p:cNvPr id="25" name="Slide Number Placeholder 0"/>
          <p:cNvSpPr>
            <a:spLocks noGrp="1"/>
          </p:cNvSpPr>
          <p:nvPr>
            <p:ph type="sldNum" sz="quarter" idx="4294967295"/>
          </p:nvPr>
        </p:nvSpPr>
        <p:spPr>
          <a:xfrm>
            <a:off x="8138160" y="4736592"/>
            <a:ext cx="548640" cy="274320"/>
          </a:xfrm>
          <a:prstGeom prst="rect">
            <a:avLst/>
          </a:prstGeom>
          <a:extLst>
            <a:ext uri="{C572A759-6A51-4108-AA02-DFA0A04FC94B}">
              <ma14:wrappingTextBoxFlag xmlns:ma14="http://schemas.microsoft.com/office/mac/drawingml/2011/main" val="0"/>
            </a:ext>
          </a:extLst>
        </p:spPr>
        <p:txBody>
          <a:bodyPr/>
          <a:lstStyle>
            <a:lvl1pPr>
              <a:defRPr sz="1400">
                <a:solidFill>
                  <a:srgbClr val="5A6F8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IVIDER">
    <p:bg>
      <p:bgPr>
        <a:solidFill>
          <a:srgbClr val="16365C"/>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645920"/>
            <a:ext cx="8046720" cy="822960"/>
          </a:xfrm>
          <a:prstGeom prst="rect">
            <a:avLst/>
          </a:prstGeom>
          <a:noFill/>
          <a:ln/>
        </p:spPr>
        <p:txBody>
          <a:bodyPr wrap="square" rtlCol="0"/>
          <a:lstStyle>
            <a:lvl1pPr indent="0" marL="0">
              <a:buNone/>
              <a:defRPr lang="en-US" sz="3400" b="1" dirty="0">
                <a:solidFill>
                  <a:schemeClr val="bg1"/>
                </a:solidFill>
              </a:defRPr>
            </a:lvl1pPr>
          </a:lstStyle>
          <a:p>
            <a:pPr indent="0" marL="0">
              <a:buNone/>
            </a:pPr>
            <a:endParaRPr lang="en-US" sz="3400" dirty="0"/>
          </a:p>
        </p:txBody>
      </p:sp>
      <p:sp>
        <p:nvSpPr>
          <p:cNvPr id="3" name="Text 0"/>
          <p:cNvSpPr/>
          <p:nvPr>
            <p:ph idx="101" type="body" hasCustomPrompt="1"/>
          </p:nvPr>
        </p:nvSpPr>
        <p:spPr>
          <a:xfrm>
            <a:off x="548640" y="2606040"/>
            <a:ext cx="8046720" cy="914400"/>
          </a:xfrm>
          <a:prstGeom prst="rect">
            <a:avLst/>
          </a:prstGeom>
          <a:noFill/>
          <a:ln/>
        </p:spPr>
        <p:txBody>
          <a:bodyPr wrap="square" rtlCol="0"/>
          <a:lstStyle>
            <a:lvl1pPr indent="0" marL="0">
              <a:buNone/>
              <a:defRPr lang="en-US" sz="1800" dirty="0">
                <a:solidFill>
                  <a:schemeClr val="bg2"/>
                </a:solidFill>
              </a:defRPr>
            </a:lvl1pPr>
          </a:lstStyle>
          <a:p>
            <a:pPr indent="0" marL="0">
              <a:buNone/>
            </a:pPr>
            <a:endParaRPr lang="en-US" sz="1800" dirty="0"/>
          </a:p>
        </p:txBody>
      </p:sp>
      <p:sp>
        <p:nvSpPr>
          <p:cNvPr id="25" name="Slide Number Placeholder 0"/>
          <p:cNvSpPr>
            <a:spLocks noGrp="1"/>
          </p:cNvSpPr>
          <p:nvPr>
            <p:ph type="sldNum" sz="quarter" idx="4294967295"/>
          </p:nvPr>
        </p:nvSpPr>
        <p:spPr>
          <a:xfrm>
            <a:off x="8138160" y="4736592"/>
            <a:ext cx="548640" cy="274320"/>
          </a:xfrm>
          <a:prstGeom prst="rect">
            <a:avLst/>
          </a:prstGeom>
          <a:extLst>
            <a:ext uri="{C572A759-6A51-4108-AA02-DFA0A04FC94B}">
              <ma14:wrappingTextBoxFlag xmlns:ma14="http://schemas.microsoft.com/office/mac/drawingml/2011/main" val="0"/>
            </a:ext>
          </a:extLst>
        </p:spPr>
        <p:txBody>
          <a:bodyPr/>
          <a:lstStyle>
            <a:lvl1pPr>
              <a:defRPr sz="1400">
                <a:solidFill>
                  <a:srgbClr val="EDF1F6"/>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138160" y="4736592"/>
            <a:ext cx="548640" cy="274320"/>
          </a:xfrm>
          <a:prstGeom prst="rect">
            <a:avLst/>
          </a:prstGeom>
          <a:extLst>
            <a:ext uri="{C572A759-6A51-4108-AA02-DFA0A04FC94B}">
              <ma14:wrappingTextBoxFlag xmlns:ma14="http://schemas.microsoft.com/office/mac/drawingml/2011/main" val="0"/>
            </a:ext>
          </a:extLst>
        </p:spPr>
        <p:txBody>
          <a:bodyPr/>
          <a:lstStyle>
            <a:lvl1pPr>
              <a:defRPr sz="1400">
                <a:solidFill>
                  <a:srgbClr val="5A6F8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1" type="title" hasCustomPrompt="1"/>
          </p:nvPr>
        </p:nvSpPr>
        <p:spPr>
          <a:xfrm>
            <a:off x="548640" y="1097280"/>
            <a:ext cx="7040880" cy="1188720"/>
          </a:xfrm>
          <a:prstGeom prst="rect">
            <a:avLst/>
          </a:prstGeom>
          <a:noFill/>
          <a:ln/>
        </p:spPr>
        <p:txBody>
          <a:bodyPr wrap="square" lIns="0" tIns="0" rIns="0" bIns="0" rtlCol="0" anchor="b"/>
          <a:lstStyle/>
          <a:p>
            <a:pPr indent="0" marL="0">
              <a:buNone/>
            </a:pPr>
            <a:r>
              <a:rPr lang="en-US" sz="3400" b="1" dirty="0">
                <a:solidFill>
                  <a:schemeClr val="tx2"/>
                </a:solidFill>
              </a:rPr>
              <a:t>A neural network from scratch for MONK and ML-CUP25</a:t>
            </a:r>
            <a:endParaRPr lang="en-US" sz="3400" dirty="0"/>
          </a:p>
        </p:txBody>
      </p:sp>
      <p:sp>
        <p:nvSpPr>
          <p:cNvPr id="3" name="Text 0"/>
          <p:cNvSpPr/>
          <p:nvPr>
            <p:ph idx="102" type="body" hasCustomPrompt="1"/>
          </p:nvPr>
        </p:nvSpPr>
        <p:spPr>
          <a:xfrm>
            <a:off x="548640" y="2377440"/>
            <a:ext cx="8046720" cy="411480"/>
          </a:xfrm>
          <a:prstGeom prst="rect">
            <a:avLst/>
          </a:prstGeom>
          <a:noFill/>
          <a:ln/>
        </p:spPr>
        <p:txBody>
          <a:bodyPr wrap="square" lIns="0" tIns="0" rIns="0" bIns="0" rtlCol="0" anchor="t"/>
          <a:lstStyle/>
          <a:p>
            <a:pPr indent="0" marL="0">
              <a:buNone/>
            </a:pPr>
            <a:r>
              <a:rPr lang="en-US" sz="1800" dirty="0">
                <a:solidFill>
                  <a:schemeClr val="accent3"/>
                </a:solidFill>
              </a:rPr>
              <a:t>Machine Learning 2025 Project, University of Pisa</a:t>
            </a:r>
            <a:endParaRPr lang="en-US" sz="1800" dirty="0"/>
          </a:p>
        </p:txBody>
      </p:sp>
      <p:sp>
        <p:nvSpPr>
          <p:cNvPr id="4" name="Text 2"/>
          <p:cNvSpPr txBox="1"/>
          <p:nvPr/>
        </p:nvSpPr>
        <p:spPr>
          <a:xfrm>
            <a:off x="548640" y="2971800"/>
            <a:ext cx="3931920" cy="914400"/>
          </a:xfrm>
          <a:prstGeom prst="rect">
            <a:avLst/>
          </a:prstGeom>
          <a:noFill/>
          <a:ln/>
        </p:spPr>
        <p:txBody>
          <a:bodyPr wrap="square" lIns="0" tIns="0" rIns="0" bIns="0" rtlCol="0" anchor="t"/>
          <a:lstStyle/>
          <a:p>
            <a:pPr indent="0" marL="0">
              <a:spcAft>
                <a:spcPts val="200"/>
              </a:spcAft>
              <a:buNone/>
            </a:pPr>
            <a:r>
              <a:rPr lang="en-US" sz="1800" b="1" dirty="0">
                <a:solidFill>
                  <a:schemeClr val="tx2"/>
                </a:solidFill>
              </a:rPr>
              <a:t>Fabio Federico</a:t>
            </a:r>
            <a:endParaRPr lang="en-US" sz="1400" dirty="0"/>
          </a:p>
          <a:p>
            <a:pPr indent="0" marL="0">
              <a:buNone/>
            </a:pPr>
            <a:r>
              <a:rPr lang="en-US" sz="1400" dirty="0">
                <a:solidFill>
                  <a:schemeClr val="tx1"/>
                </a:solidFill>
              </a:rPr>
              <a:t>MSc Computer Science, Software curriculum</a:t>
            </a:r>
            <a:endParaRPr lang="en-US" sz="1400" dirty="0"/>
          </a:p>
          <a:p>
            <a:pPr indent="0" marL="0">
              <a:buNone/>
            </a:pPr>
            <a:r>
              <a:rPr lang="en-US" sz="1400" dirty="0">
                <a:solidFill>
                  <a:schemeClr val="accent3"/>
                </a:solidFill>
              </a:rPr>
              <a:t>f.federico4@studenti.unipi.it</a:t>
            </a:r>
            <a:endParaRPr lang="en-US" sz="1400" dirty="0"/>
          </a:p>
        </p:txBody>
      </p:sp>
      <p:sp>
        <p:nvSpPr>
          <p:cNvPr id="5" name="Text 3"/>
          <p:cNvSpPr txBox="1"/>
          <p:nvPr/>
        </p:nvSpPr>
        <p:spPr>
          <a:xfrm>
            <a:off x="4572000" y="2971800"/>
            <a:ext cx="3931920" cy="914400"/>
          </a:xfrm>
          <a:prstGeom prst="rect">
            <a:avLst/>
          </a:prstGeom>
          <a:noFill/>
          <a:ln/>
        </p:spPr>
        <p:txBody>
          <a:bodyPr wrap="square" lIns="0" tIns="0" rIns="0" bIns="0" rtlCol="0" anchor="t"/>
          <a:lstStyle/>
          <a:p>
            <a:pPr indent="0" marL="0">
              <a:spcAft>
                <a:spcPts val="200"/>
              </a:spcAft>
              <a:buNone/>
            </a:pPr>
            <a:r>
              <a:rPr lang="en-US" sz="1800" b="1" dirty="0">
                <a:solidFill>
                  <a:schemeClr val="tx2"/>
                </a:solidFill>
              </a:rPr>
              <a:t>Gabriele Cristofaro</a:t>
            </a:r>
            <a:endParaRPr lang="en-US" sz="1400" dirty="0"/>
          </a:p>
          <a:p>
            <a:pPr indent="0" marL="0">
              <a:buNone/>
            </a:pPr>
            <a:r>
              <a:rPr lang="en-US" sz="1400" dirty="0">
                <a:solidFill>
                  <a:schemeClr val="tx1"/>
                </a:solidFill>
              </a:rPr>
              <a:t>MSc Computer Science, AI curriculum</a:t>
            </a:r>
            <a:endParaRPr lang="en-US" sz="1400" dirty="0"/>
          </a:p>
          <a:p>
            <a:pPr indent="0" marL="0">
              <a:buNone/>
            </a:pPr>
            <a:r>
              <a:rPr lang="en-US" sz="1400" dirty="0">
                <a:solidFill>
                  <a:schemeClr val="accent3"/>
                </a:solidFill>
              </a:rPr>
              <a:t>g.cristofaro3@studenti.unipi.it</a:t>
            </a:r>
            <a:endParaRPr lang="en-US" sz="1400" dirty="0"/>
          </a:p>
        </p:txBody>
      </p:sp>
      <p:sp>
        <p:nvSpPr>
          <p:cNvPr id="6" name="Text 4"/>
          <p:cNvSpPr txBox="1"/>
          <p:nvPr/>
        </p:nvSpPr>
        <p:spPr>
          <a:xfrm>
            <a:off x="548640" y="4114800"/>
            <a:ext cx="8046720" cy="365760"/>
          </a:xfrm>
          <a:prstGeom prst="rect">
            <a:avLst/>
          </a:prstGeom>
          <a:noFill/>
          <a:ln/>
        </p:spPr>
        <p:txBody>
          <a:bodyPr wrap="square" lIns="0" tIns="0" rIns="0" bIns="0" rtlCol="0" anchor="t"/>
          <a:lstStyle/>
          <a:p>
            <a:pPr indent="0" marL="0">
              <a:buNone/>
            </a:pPr>
            <a:r>
              <a:rPr lang="en-US" sz="1600" b="1" dirty="0">
                <a:solidFill>
                  <a:schemeClr val="tx1"/>
                </a:solidFill>
              </a:rPr>
              <a:t>Team Netfix</a:t>
            </a:r>
            <a:pPr indent="0" marL="0">
              <a:buNone/>
            </a:pPr>
            <a:r>
              <a:rPr lang="en-US" sz="1600" dirty="0">
                <a:solidFill>
                  <a:schemeClr val="tx1"/>
                </a:solidFill>
              </a:rPr>
              <a:t>  ·  26/10/2026  ·  </a:t>
            </a:r>
            <a:pPr indent="0" marL="0">
              <a:buNone/>
            </a:pPr>
            <a:r>
              <a:rPr lang="en-US" sz="1600" b="1" dirty="0">
                <a:solidFill>
                  <a:schemeClr val="tx1"/>
                </a:solidFill>
              </a:rPr>
              <a:t>Type of project: A</a:t>
            </a:r>
            <a:pPr indent="0" marL="0">
              <a:buNone/>
            </a:pPr>
            <a:r>
              <a:rPr lang="en-US" sz="1600" dirty="0">
                <a:solidFill>
                  <a:schemeClr val="tx1"/>
                </a:solidFill>
              </a:rPr>
              <a:t> (Python 3.12 + NumPy)</a:t>
            </a:r>
            <a:endParaRPr lang="en-US" sz="1600" dirty="0"/>
          </a:p>
        </p:txBody>
      </p:sp>
      <p:sp>
        <p:nvSpPr>
          <p:cNvPr id="25" name="Slide Number Placeholder 0"/>
          <p:cNvSpPr>
            <a:spLocks noGrp="1"/>
          </p:cNvSpPr>
          <p:nvPr>
            <p:ph type="sldNum" sz="quarter" idx="4294967295"/>
          </p:nvPr>
        </p:nvSpPr>
        <p:spPr>
          <a:xfrm>
            <a:off x="8138160" y="4736592"/>
            <a:ext cx="548640" cy="274320"/>
          </a:xfrm>
          <a:prstGeom prst="rect">
            <a:avLst/>
          </a:prstGeom>
          <a:extLst>
            <a:ext uri="{C572A759-6A51-4108-AA02-DFA0A04FC94B}">
              <ma14:wrappingTextBoxFlag xmlns:ma14="http://schemas.microsoft.com/office/mac/drawingml/2011/main" val="0"/>
            </a:ext>
          </a:extLst>
        </p:spPr>
        <p:txBody>
          <a:bodyPr/>
          <a:lstStyle>
            <a:lvl1pPr>
              <a:defRPr sz="1400">
                <a:solidFill>
                  <a:srgbClr val="5A6F86"/>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594360"/>
          </a:xfrm>
          <a:prstGeom prst="rect">
            <a:avLst/>
          </a:prstGeom>
          <a:noFill/>
          <a:ln/>
        </p:spPr>
        <p:txBody>
          <a:bodyPr wrap="square" lIns="0" tIns="0" rIns="0" bIns="0" rtlCol="0" anchor="ctr"/>
          <a:lstStyle/>
          <a:p>
            <a:pPr indent="0" marL="0">
              <a:buNone/>
            </a:pPr>
            <a:r>
              <a:rPr lang="en-US" sz="2600" b="1" dirty="0">
                <a:solidFill>
                  <a:schemeClr val="tx2"/>
                </a:solidFill>
              </a:rPr>
              <a:t>Abstract and objectives</a:t>
            </a:r>
            <a:endParaRPr lang="en-US" sz="2600" dirty="0"/>
          </a:p>
        </p:txBody>
      </p:sp>
      <p:sp>
        <p:nvSpPr>
          <p:cNvPr id="3" name="Shape 1"/>
          <p:cNvSpPr/>
          <p:nvPr/>
        </p:nvSpPr>
        <p:spPr>
          <a:xfrm>
            <a:off x="457200" y="1005840"/>
            <a:ext cx="3977640" cy="3566160"/>
          </a:xfrm>
          <a:prstGeom prst="roundRect">
            <a:avLst>
              <a:gd name="adj" fmla="val 2051"/>
            </a:avLst>
          </a:prstGeom>
          <a:solidFill>
            <a:schemeClr val="bg2"/>
          </a:solidFill>
          <a:ln/>
        </p:spPr>
      </p:sp>
      <p:sp>
        <p:nvSpPr>
          <p:cNvPr id="4" name="Text 2"/>
          <p:cNvSpPr txBox="1"/>
          <p:nvPr/>
        </p:nvSpPr>
        <p:spPr>
          <a:xfrm>
            <a:off x="640080" y="1143000"/>
            <a:ext cx="3611880" cy="3291840"/>
          </a:xfrm>
          <a:prstGeom prst="rect">
            <a:avLst/>
          </a:prstGeom>
          <a:noFill/>
          <a:ln/>
        </p:spPr>
        <p:txBody>
          <a:bodyPr wrap="square" lIns="635" tIns="635" rIns="635" bIns="635" rtlCol="0" anchor="t"/>
          <a:lstStyle/>
          <a:p>
            <a:pPr indent="0" marL="0">
              <a:spcAft>
                <a:spcPts val="600"/>
              </a:spcAft>
              <a:buNone/>
            </a:pPr>
            <a:r>
              <a:rPr lang="en-US" sz="1600" b="1" dirty="0">
                <a:solidFill>
                  <a:schemeClr val="tx2"/>
                </a:solidFill>
              </a:rPr>
              <a:t>Abstract</a:t>
            </a:r>
            <a:endParaRPr lang="en-US" sz="1400" dirty="0"/>
          </a:p>
          <a:p>
            <a:pPr indent="0" marL="0">
              <a:buNone/>
            </a:pPr>
            <a:r>
              <a:rPr lang="en-US" sz="1400" dirty="0">
                <a:solidFill>
                  <a:schemeClr val="tx1"/>
                </a:solidFill>
              </a:rPr>
              <a:t>A multilayer perceptron trained by back-propagation (SGD with momentum, L2) written from scratch with NumPy. ML-CUP25: grid search with </a:t>
            </a:r>
            <a:pPr indent="0" marL="0">
              <a:buNone/>
            </a:pPr>
            <a:r>
              <a:rPr lang="en-US" sz="1400" i="1" dirty="0">
                <a:solidFill>
                  <a:schemeClr val="accent2"/>
                </a:solidFill>
              </a:rPr>
              <a:t>3</a:t>
            </a:r>
            <a:pPr indent="0" marL="0">
              <a:buNone/>
            </a:pPr>
            <a:r>
              <a:rPr lang="en-US" sz="1400" dirty="0">
                <a:solidFill>
                  <a:schemeClr val="tx1"/>
                </a:solidFill>
              </a:rPr>
              <a:t>-fold CV on 80% of the data and </a:t>
            </a:r>
            <a:pPr indent="0" marL="0">
              <a:buNone/>
            </a:pPr>
            <a:r>
              <a:rPr lang="en-US" sz="1400" i="1" dirty="0">
                <a:solidFill>
                  <a:schemeClr val="accent2"/>
                </a:solidFill>
              </a:rPr>
              <a:t>10</a:t>
            </a:r>
            <a:pPr indent="0" marL="0">
              <a:buNone/>
            </a:pPr>
            <a:r>
              <a:rPr lang="en-US" sz="1400" dirty="0">
                <a:solidFill>
                  <a:schemeClr val="tx1"/>
                </a:solidFill>
              </a:rPr>
              <a:t> random initializations per configuration, internal test on the other 20%. Final model: one 12-64-64-4 ReLU network (η 0.01, α 0.9, λ 0.01), internal test MEE 20.85 ± 0.29.</a:t>
            </a:r>
            <a:endParaRPr lang="en-US" sz="1400" dirty="0"/>
          </a:p>
        </p:txBody>
      </p:sp>
      <p:sp>
        <p:nvSpPr>
          <p:cNvPr id="5" name="Text 3"/>
          <p:cNvSpPr txBox="1"/>
          <p:nvPr/>
        </p:nvSpPr>
        <p:spPr>
          <a:xfrm>
            <a:off x="4709160" y="1005840"/>
            <a:ext cx="3977640" cy="365760"/>
          </a:xfrm>
          <a:prstGeom prst="rect">
            <a:avLst/>
          </a:prstGeom>
          <a:noFill/>
          <a:ln/>
        </p:spPr>
        <p:txBody>
          <a:bodyPr wrap="square" lIns="635" tIns="635" rIns="635" bIns="635" rtlCol="0" anchor="t"/>
          <a:lstStyle/>
          <a:p>
            <a:pPr indent="0" marL="0">
              <a:buNone/>
            </a:pPr>
            <a:r>
              <a:rPr lang="en-US" sz="1600" b="1" dirty="0">
                <a:solidFill>
                  <a:schemeClr val="tx2"/>
                </a:solidFill>
              </a:rPr>
              <a:t>Objectives</a:t>
            </a:r>
            <a:endParaRPr lang="en-US" sz="1400" dirty="0"/>
          </a:p>
        </p:txBody>
      </p:sp>
      <p:sp>
        <p:nvSpPr>
          <p:cNvPr id="6" name="Shape 4"/>
          <p:cNvSpPr/>
          <p:nvPr/>
        </p:nvSpPr>
        <p:spPr>
          <a:xfrm>
            <a:off x="4709160" y="1508760"/>
            <a:ext cx="365760" cy="365760"/>
          </a:xfrm>
          <a:prstGeom prst="ellipse">
            <a:avLst/>
          </a:prstGeom>
          <a:solidFill>
            <a:schemeClr val="tx2"/>
          </a:solidFill>
          <a:ln/>
        </p:spPr>
      </p:sp>
      <p:sp>
        <p:nvSpPr>
          <p:cNvPr id="7" name="Text 5"/>
          <p:cNvSpPr txBox="1"/>
          <p:nvPr/>
        </p:nvSpPr>
        <p:spPr>
          <a:xfrm>
            <a:off x="4709160" y="150876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8" name="Text 6"/>
          <p:cNvSpPr txBox="1"/>
          <p:nvPr/>
        </p:nvSpPr>
        <p:spPr>
          <a:xfrm>
            <a:off x="5212080" y="1463040"/>
            <a:ext cx="3474720" cy="868680"/>
          </a:xfrm>
          <a:prstGeom prst="rect">
            <a:avLst/>
          </a:prstGeom>
          <a:noFill/>
          <a:ln/>
        </p:spPr>
        <p:txBody>
          <a:bodyPr wrap="square" lIns="635" tIns="635" rIns="635" bIns="635" rtlCol="0" anchor="t"/>
          <a:lstStyle/>
          <a:p>
            <a:pPr indent="0" marL="0">
              <a:buNone/>
            </a:pPr>
            <a:r>
              <a:rPr lang="en-US" sz="1400" dirty="0">
                <a:solidFill>
                  <a:schemeClr val="tx1"/>
                </a:solidFill>
              </a:rPr>
              <a:t>Build a correct MLP simulator and validate it on the three MONK tasks with small networks</a:t>
            </a:r>
            <a:endParaRPr lang="en-US" sz="1400" dirty="0"/>
          </a:p>
        </p:txBody>
      </p:sp>
      <p:sp>
        <p:nvSpPr>
          <p:cNvPr id="9" name="Shape 7"/>
          <p:cNvSpPr/>
          <p:nvPr/>
        </p:nvSpPr>
        <p:spPr>
          <a:xfrm>
            <a:off x="4709160" y="2532888"/>
            <a:ext cx="365760" cy="365760"/>
          </a:xfrm>
          <a:prstGeom prst="ellipse">
            <a:avLst/>
          </a:prstGeom>
          <a:solidFill>
            <a:schemeClr val="tx2"/>
          </a:solidFill>
          <a:ln/>
        </p:spPr>
      </p:sp>
      <p:sp>
        <p:nvSpPr>
          <p:cNvPr id="10" name="Text 8"/>
          <p:cNvSpPr txBox="1"/>
          <p:nvPr/>
        </p:nvSpPr>
        <p:spPr>
          <a:xfrm>
            <a:off x="4709160" y="2532888"/>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1" name="Text 9"/>
          <p:cNvSpPr txBox="1"/>
          <p:nvPr/>
        </p:nvSpPr>
        <p:spPr>
          <a:xfrm>
            <a:off x="5212080" y="2487168"/>
            <a:ext cx="3474720" cy="868680"/>
          </a:xfrm>
          <a:prstGeom prst="rect">
            <a:avLst/>
          </a:prstGeom>
          <a:noFill/>
          <a:ln/>
        </p:spPr>
        <p:txBody>
          <a:bodyPr wrap="square" lIns="635" tIns="635" rIns="635" bIns="635" rtlCol="0" anchor="t"/>
          <a:lstStyle/>
          <a:p>
            <a:pPr indent="0" marL="0">
              <a:buNone/>
            </a:pPr>
            <a:r>
              <a:rPr lang="en-US" sz="1400" dirty="0">
                <a:solidFill>
                  <a:schemeClr val="tx1"/>
                </a:solidFill>
              </a:rPr>
              <a:t>Select and assess a model for ML-CUP25 with a rigorous procedure, reporting mean ± std over random initializations</a:t>
            </a:r>
            <a:endParaRPr lang="en-US" sz="1400" dirty="0"/>
          </a:p>
        </p:txBody>
      </p:sp>
      <p:sp>
        <p:nvSpPr>
          <p:cNvPr id="12" name="Shape 10"/>
          <p:cNvSpPr/>
          <p:nvPr/>
        </p:nvSpPr>
        <p:spPr>
          <a:xfrm>
            <a:off x="4709160" y="3557016"/>
            <a:ext cx="365760" cy="365760"/>
          </a:xfrm>
          <a:prstGeom prst="ellipse">
            <a:avLst/>
          </a:prstGeom>
          <a:solidFill>
            <a:schemeClr val="tx2"/>
          </a:solidFill>
          <a:ln/>
        </p:spPr>
      </p:sp>
      <p:sp>
        <p:nvSpPr>
          <p:cNvPr id="13" name="Text 11"/>
          <p:cNvSpPr txBox="1"/>
          <p:nvPr/>
        </p:nvSpPr>
        <p:spPr>
          <a:xfrm>
            <a:off x="4709160" y="3557016"/>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4" name="Text 12"/>
          <p:cNvSpPr txBox="1"/>
          <p:nvPr/>
        </p:nvSpPr>
        <p:spPr>
          <a:xfrm>
            <a:off x="5212080" y="3511296"/>
            <a:ext cx="3474720" cy="868680"/>
          </a:xfrm>
          <a:prstGeom prst="rect">
            <a:avLst/>
          </a:prstGeom>
          <a:noFill/>
          <a:ln/>
        </p:spPr>
        <p:txBody>
          <a:bodyPr wrap="square" lIns="635" tIns="635" rIns="635" bIns="635" rtlCol="0" anchor="t"/>
          <a:lstStyle/>
          <a:p>
            <a:pPr indent="0" marL="0">
              <a:buNone/>
            </a:pPr>
            <a:r>
              <a:rPr lang="en-US" sz="1400" dirty="0">
                <a:solidFill>
                  <a:schemeClr val="tx1"/>
                </a:solidFill>
              </a:rPr>
              <a:t>Explore the effects of different hyperparameters and regularization on the tasks at hand</a:t>
            </a:r>
            <a:endParaRPr lang="en-US" sz="1400" dirty="0"/>
          </a:p>
        </p:txBody>
      </p:sp>
      <p:sp>
        <p:nvSpPr>
          <p:cNvPr id="25" name="Slide Number Placeholder 0"/>
          <p:cNvSpPr>
            <a:spLocks noGrp="1"/>
          </p:cNvSpPr>
          <p:nvPr>
            <p:ph type="sldNum" sz="quarter" idx="4294967295"/>
          </p:nvPr>
        </p:nvSpPr>
        <p:spPr>
          <a:xfrm>
            <a:off x="8138160" y="4736592"/>
            <a:ext cx="548640" cy="274320"/>
          </a:xfrm>
          <a:prstGeom prst="rect">
            <a:avLst/>
          </a:prstGeom>
          <a:extLst>
            <a:ext uri="{C572A759-6A51-4108-AA02-DFA0A04FC94B}">
              <ma14:wrappingTextBoxFlag xmlns:ma14="http://schemas.microsoft.com/office/mac/drawingml/2011/main" val="0"/>
            </a:ext>
          </a:extLst>
        </p:spPr>
        <p:txBody>
          <a:bodyPr/>
          <a:lstStyle>
            <a:lvl1pPr>
              <a:defRPr sz="1400">
                <a:solidFill>
                  <a:srgbClr val="5A6F8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594360"/>
          </a:xfrm>
          <a:prstGeom prst="rect">
            <a:avLst/>
          </a:prstGeom>
          <a:noFill/>
          <a:ln/>
        </p:spPr>
        <p:txBody>
          <a:bodyPr wrap="square" lIns="0" tIns="0" rIns="0" bIns="0" rtlCol="0" anchor="ctr"/>
          <a:lstStyle/>
          <a:p>
            <a:pPr indent="0" marL="0">
              <a:buNone/>
            </a:pPr>
            <a:r>
              <a:rPr lang="en-US" sz="2600" b="1" dirty="0">
                <a:solidFill>
                  <a:schemeClr val="tx2"/>
                </a:solidFill>
              </a:rPr>
              <a:t>Implementation overview</a:t>
            </a:r>
            <a:endParaRPr lang="en-US" sz="2600" dirty="0"/>
          </a:p>
        </p:txBody>
      </p:sp>
      <p:sp>
        <p:nvSpPr>
          <p:cNvPr id="3" name="Text 1"/>
          <p:cNvSpPr txBox="1"/>
          <p:nvPr/>
        </p:nvSpPr>
        <p:spPr>
          <a:xfrm>
            <a:off x="457200" y="1005840"/>
            <a:ext cx="3794760" cy="3566160"/>
          </a:xfrm>
          <a:prstGeom prst="rect">
            <a:avLst/>
          </a:prstGeom>
          <a:noFill/>
          <a:ln/>
        </p:spPr>
        <p:txBody>
          <a:bodyPr wrap="square" lIns="635" tIns="635" rIns="635" bIns="635" rtlCol="0" anchor="t"/>
          <a:lstStyle/>
          <a:p>
            <a:pPr marL="177800" indent="-177800">
              <a:spcAft>
                <a:spcPts val="700"/>
              </a:spcAft>
              <a:buSzPct val="100000"/>
              <a:buChar char="•"/>
            </a:pPr>
            <a:r>
              <a:rPr lang="en-US" sz="1400" b="1" dirty="0">
                <a:solidFill>
                  <a:schemeClr val="tx1"/>
                </a:solidFill>
              </a:rPr>
              <a:t>Language: </a:t>
            </a:r>
            <a:pPr indent="0" marL="0">
              <a:buNone/>
            </a:pPr>
            <a:r>
              <a:rPr lang="en-US" sz="1400" dirty="0">
                <a:solidFill>
                  <a:schemeClr val="tx1"/>
                </a:solidFill>
              </a:rPr>
              <a:t>Python 3.12, using NumPy for vector operations and Matplotlib for curve plotting</a:t>
            </a:r>
            <a:endParaRPr lang="en-US" sz="1400" dirty="0"/>
          </a:p>
          <a:p>
            <a:pPr marL="177800" indent="-177800">
              <a:spcAft>
                <a:spcPts val="700"/>
              </a:spcAft>
              <a:buSzPct val="100000"/>
              <a:buChar char="•"/>
            </a:pPr>
            <a:r>
              <a:rPr lang="en-US" sz="1400" b="1" dirty="0">
                <a:solidFill>
                  <a:schemeClr val="tx1"/>
                </a:solidFill>
              </a:rPr>
              <a:t>Network: </a:t>
            </a:r>
            <a:pPr indent="0" marL="0">
              <a:buNone/>
            </a:pPr>
            <a:r>
              <a:rPr lang="en-US" sz="1400" dirty="0">
                <a:solidFill>
                  <a:schemeClr val="tx1"/>
                </a:solidFill>
              </a:rPr>
              <a:t>built as a Neural Network Library core with an application layer on top</a:t>
            </a:r>
            <a:endParaRPr lang="en-US" sz="1400" dirty="0"/>
          </a:p>
          <a:p>
            <a:pPr marL="177800" indent="-177800">
              <a:spcAft>
                <a:spcPts val="700"/>
              </a:spcAft>
              <a:buSzPct val="100000"/>
              <a:buChar char="•"/>
            </a:pPr>
            <a:r>
              <a:rPr lang="en-US" sz="1400" b="1" dirty="0">
                <a:solidFill>
                  <a:schemeClr val="tx1"/>
                </a:solidFill>
              </a:rPr>
              <a:t>Experiments: </a:t>
            </a:r>
            <a:pPr indent="0" marL="0">
              <a:buNone/>
            </a:pPr>
            <a:r>
              <a:rPr lang="en-US" sz="1400" dirty="0">
                <a:solidFill>
                  <a:schemeClr val="tx1"/>
                </a:solidFill>
              </a:rPr>
              <a:t>abstracted as programmable JSON configurations</a:t>
            </a:r>
            <a:endParaRPr lang="en-US" sz="1400" dirty="0"/>
          </a:p>
          <a:p>
            <a:pPr marL="177800" indent="-177800">
              <a:spcAft>
                <a:spcPts val="700"/>
              </a:spcAft>
              <a:buSzPct val="100000"/>
              <a:buChar char="•"/>
            </a:pPr>
            <a:r>
              <a:rPr lang="en-US" sz="1400" b="1" dirty="0">
                <a:solidFill>
                  <a:schemeClr val="tx1"/>
                </a:solidFill>
              </a:rPr>
              <a:t>Parallelization: </a:t>
            </a:r>
            <a:pPr indent="0" marL="0">
              <a:buNone/>
            </a:pPr>
            <a:r>
              <a:rPr lang="en-US" sz="1400" dirty="0">
                <a:solidFill>
                  <a:schemeClr val="tx1"/>
                </a:solidFill>
              </a:rPr>
              <a:t>the code supports parallel execution on different cores to boost training times</a:t>
            </a:r>
            <a:endParaRPr lang="en-US" sz="1400" dirty="0"/>
          </a:p>
        </p:txBody>
      </p:sp>
      <p:sp>
        <p:nvSpPr>
          <p:cNvPr id="4" name="module runner"/>
          <p:cNvSpPr/>
          <p:nvPr/>
        </p:nvSpPr>
        <p:spPr>
          <a:xfrm>
            <a:off x="4526280" y="1005840"/>
            <a:ext cx="4160520" cy="502920"/>
          </a:xfrm>
          <a:prstGeom prst="roundRect">
            <a:avLst>
              <a:gd name="adj" fmla="val 14545"/>
            </a:avLst>
          </a:prstGeom>
          <a:solidFill>
            <a:schemeClr val="bg2"/>
          </a:solidFill>
          <a:ln/>
        </p:spPr>
      </p:sp>
      <p:sp>
        <p:nvSpPr>
          <p:cNvPr id="5" name="Text 3"/>
          <p:cNvSpPr txBox="1"/>
          <p:nvPr/>
        </p:nvSpPr>
        <p:spPr>
          <a:xfrm>
            <a:off x="4636008" y="1005840"/>
            <a:ext cx="3941064" cy="502920"/>
          </a:xfrm>
          <a:prstGeom prst="rect">
            <a:avLst/>
          </a:prstGeom>
          <a:noFill/>
          <a:ln/>
        </p:spPr>
        <p:txBody>
          <a:bodyPr wrap="square" lIns="635" tIns="635" rIns="635" bIns="635" rtlCol="0" anchor="ctr"/>
          <a:lstStyle/>
          <a:p>
            <a:pPr indent="0" marL="0">
              <a:buNone/>
            </a:pPr>
            <a:r>
              <a:rPr lang="en-US" sz="1400" b="1" dirty="0">
                <a:solidFill>
                  <a:schemeClr val="tx2"/>
                </a:solidFill>
              </a:rPr>
              <a:t>runner  </a:t>
            </a:r>
            <a:pPr indent="0" marL="0">
              <a:buNone/>
            </a:pPr>
            <a:r>
              <a:rPr lang="en-US" sz="1400" dirty="0">
                <a:solidFill>
                  <a:schemeClr val="tx1"/>
                </a:solidFill>
              </a:rPr>
              <a:t>JSON config → select / assess</a:t>
            </a:r>
            <a:endParaRPr lang="en-US" sz="1400" dirty="0"/>
          </a:p>
        </p:txBody>
      </p:sp>
      <p:sp>
        <p:nvSpPr>
          <p:cNvPr id="6" name="Shape 4"/>
          <p:cNvSpPr/>
          <p:nvPr/>
        </p:nvSpPr>
        <p:spPr>
          <a:xfrm>
            <a:off x="6606540" y="1508760"/>
            <a:ext cx="0" cy="182880"/>
          </a:xfrm>
          <a:prstGeom prst="line">
            <a:avLst/>
          </a:prstGeom>
          <a:noFill/>
          <a:ln w="19050">
            <a:solidFill>
              <a:srgbClr val="5A6F86"/>
            </a:solidFill>
            <a:prstDash val="solid"/>
            <a:tailEnd type="triangle"/>
          </a:ln>
        </p:spPr>
      </p:sp>
      <p:sp>
        <p:nvSpPr>
          <p:cNvPr id="7" name="module model_selection"/>
          <p:cNvSpPr/>
          <p:nvPr/>
        </p:nvSpPr>
        <p:spPr>
          <a:xfrm>
            <a:off x="4526280" y="1691640"/>
            <a:ext cx="4160520" cy="777240"/>
          </a:xfrm>
          <a:prstGeom prst="roundRect">
            <a:avLst>
              <a:gd name="adj" fmla="val 9412"/>
            </a:avLst>
          </a:prstGeom>
          <a:solidFill>
            <a:schemeClr val="bg2"/>
          </a:solidFill>
          <a:ln/>
        </p:spPr>
      </p:sp>
      <p:sp>
        <p:nvSpPr>
          <p:cNvPr id="8" name="Text 6"/>
          <p:cNvSpPr txBox="1"/>
          <p:nvPr/>
        </p:nvSpPr>
        <p:spPr>
          <a:xfrm>
            <a:off x="4636008" y="1691640"/>
            <a:ext cx="3941064" cy="777240"/>
          </a:xfrm>
          <a:prstGeom prst="rect">
            <a:avLst/>
          </a:prstGeom>
          <a:noFill/>
          <a:ln/>
        </p:spPr>
        <p:txBody>
          <a:bodyPr wrap="square" lIns="635" tIns="635" rIns="635" bIns="635" rtlCol="0" anchor="ctr"/>
          <a:lstStyle/>
          <a:p>
            <a:pPr indent="0" marL="0">
              <a:buNone/>
            </a:pPr>
            <a:r>
              <a:rPr lang="en-US" sz="1400" b="1" dirty="0">
                <a:solidFill>
                  <a:schemeClr val="tx2"/>
                </a:solidFill>
              </a:rPr>
              <a:t>model_selection  </a:t>
            </a:r>
            <a:pPr indent="0" marL="0">
              <a:buNone/>
            </a:pPr>
            <a:r>
              <a:rPr lang="en-US" sz="1400" dirty="0">
                <a:solidFill>
                  <a:schemeClr val="tx1"/>
                </a:solidFill>
              </a:rPr>
              <a:t>grid search, k-fold CV, stratified hold-out, early stopping, repeated trials</a:t>
            </a:r>
            <a:endParaRPr lang="en-US" sz="1400" dirty="0"/>
          </a:p>
        </p:txBody>
      </p:sp>
      <p:sp>
        <p:nvSpPr>
          <p:cNvPr id="9" name="Shape 7"/>
          <p:cNvSpPr/>
          <p:nvPr/>
        </p:nvSpPr>
        <p:spPr>
          <a:xfrm>
            <a:off x="6606540" y="2468880"/>
            <a:ext cx="0" cy="182880"/>
          </a:xfrm>
          <a:prstGeom prst="line">
            <a:avLst/>
          </a:prstGeom>
          <a:noFill/>
          <a:ln w="19050">
            <a:solidFill>
              <a:srgbClr val="5A6F86"/>
            </a:solidFill>
            <a:prstDash val="solid"/>
            <a:tailEnd type="triangle"/>
          </a:ln>
        </p:spPr>
      </p:sp>
      <p:sp>
        <p:nvSpPr>
          <p:cNvPr id="10" name="module nn"/>
          <p:cNvSpPr/>
          <p:nvPr/>
        </p:nvSpPr>
        <p:spPr>
          <a:xfrm>
            <a:off x="4526280" y="2651760"/>
            <a:ext cx="4160520" cy="1051560"/>
          </a:xfrm>
          <a:prstGeom prst="roundRect">
            <a:avLst>
              <a:gd name="adj" fmla="val 6957"/>
            </a:avLst>
          </a:prstGeom>
          <a:solidFill>
            <a:schemeClr val="tx2"/>
          </a:solidFill>
          <a:ln/>
        </p:spPr>
      </p:sp>
      <p:sp>
        <p:nvSpPr>
          <p:cNvPr id="11" name="Text 9"/>
          <p:cNvSpPr txBox="1"/>
          <p:nvPr/>
        </p:nvSpPr>
        <p:spPr>
          <a:xfrm>
            <a:off x="4636008" y="2651760"/>
            <a:ext cx="3941064" cy="1051560"/>
          </a:xfrm>
          <a:prstGeom prst="rect">
            <a:avLst/>
          </a:prstGeom>
          <a:noFill/>
          <a:ln/>
        </p:spPr>
        <p:txBody>
          <a:bodyPr wrap="square" lIns="635" tIns="635" rIns="635" bIns="635" rtlCol="0" anchor="ctr"/>
          <a:lstStyle/>
          <a:p>
            <a:pPr indent="0" marL="0">
              <a:buNone/>
            </a:pPr>
            <a:r>
              <a:rPr lang="en-US" sz="1400" b="1" dirty="0">
                <a:solidFill>
                  <a:schemeClr val="bg1"/>
                </a:solidFill>
              </a:rPr>
              <a:t>nn  </a:t>
            </a:r>
            <a:pPr indent="0" marL="0">
              <a:buNone/>
            </a:pPr>
            <a:r>
              <a:rPr lang="en-US" sz="1400" dirty="0">
                <a:solidFill>
                  <a:schemeClr val="bg1"/>
                </a:solidFill>
              </a:rPr>
              <a:t>dense layers; sigmoid, tanh, ReLU, identity; MSE; SGD with classical / Nesterov momentum; linear LR decay; L2, L1; uniform, Glorot, He init</a:t>
            </a:r>
            <a:endParaRPr lang="en-US" sz="1400" dirty="0"/>
          </a:p>
        </p:txBody>
      </p:sp>
      <p:sp>
        <p:nvSpPr>
          <p:cNvPr id="12" name="module data"/>
          <p:cNvSpPr/>
          <p:nvPr/>
        </p:nvSpPr>
        <p:spPr>
          <a:xfrm>
            <a:off x="4526280" y="3840480"/>
            <a:ext cx="2011680" cy="731520"/>
          </a:xfrm>
          <a:prstGeom prst="roundRect">
            <a:avLst>
              <a:gd name="adj" fmla="val 10000"/>
            </a:avLst>
          </a:prstGeom>
          <a:solidFill>
            <a:schemeClr val="bg2"/>
          </a:solidFill>
          <a:ln/>
        </p:spPr>
      </p:sp>
      <p:sp>
        <p:nvSpPr>
          <p:cNvPr id="13" name="Text 11"/>
          <p:cNvSpPr txBox="1"/>
          <p:nvPr/>
        </p:nvSpPr>
        <p:spPr>
          <a:xfrm>
            <a:off x="4617720" y="3840480"/>
            <a:ext cx="1828800" cy="731520"/>
          </a:xfrm>
          <a:prstGeom prst="rect">
            <a:avLst/>
          </a:prstGeom>
          <a:noFill/>
          <a:ln/>
        </p:spPr>
        <p:txBody>
          <a:bodyPr wrap="square" lIns="635" tIns="635" rIns="635" bIns="635" rtlCol="0" anchor="ctr"/>
          <a:lstStyle/>
          <a:p>
            <a:pPr indent="0" marL="0">
              <a:buNone/>
            </a:pPr>
            <a:r>
              <a:rPr lang="en-US" sz="1400" b="1" dirty="0">
                <a:solidFill>
                  <a:schemeClr val="tx2"/>
                </a:solidFill>
              </a:rPr>
              <a:t>data  </a:t>
            </a:r>
            <a:pPr indent="0" marL="0">
              <a:buNone/>
            </a:pPr>
            <a:r>
              <a:rPr lang="en-US" sz="1400" dirty="0">
                <a:solidFill>
                  <a:schemeClr val="tx1"/>
                </a:solidFill>
              </a:rPr>
              <a:t>MONK 1-of-k, CUP split, scaling</a:t>
            </a:r>
            <a:endParaRPr lang="en-US" sz="1400" dirty="0"/>
          </a:p>
        </p:txBody>
      </p:sp>
      <p:sp>
        <p:nvSpPr>
          <p:cNvPr id="14" name="module utils"/>
          <p:cNvSpPr/>
          <p:nvPr/>
        </p:nvSpPr>
        <p:spPr>
          <a:xfrm>
            <a:off x="6675120" y="3840480"/>
            <a:ext cx="2011680" cy="731520"/>
          </a:xfrm>
          <a:prstGeom prst="roundRect">
            <a:avLst>
              <a:gd name="adj" fmla="val 10000"/>
            </a:avLst>
          </a:prstGeom>
          <a:solidFill>
            <a:schemeClr val="bg2"/>
          </a:solidFill>
          <a:ln/>
        </p:spPr>
      </p:sp>
      <p:sp>
        <p:nvSpPr>
          <p:cNvPr id="15" name="Text 13"/>
          <p:cNvSpPr txBox="1"/>
          <p:nvPr/>
        </p:nvSpPr>
        <p:spPr>
          <a:xfrm>
            <a:off x="6766560" y="3840480"/>
            <a:ext cx="1828800" cy="731520"/>
          </a:xfrm>
          <a:prstGeom prst="rect">
            <a:avLst/>
          </a:prstGeom>
          <a:noFill/>
          <a:ln/>
        </p:spPr>
        <p:txBody>
          <a:bodyPr wrap="square" lIns="635" tIns="635" rIns="635" bIns="635" rtlCol="0" anchor="ctr"/>
          <a:lstStyle/>
          <a:p>
            <a:pPr indent="0" marL="0">
              <a:buNone/>
            </a:pPr>
            <a:r>
              <a:rPr lang="en-US" sz="1400" b="1" dirty="0">
                <a:solidFill>
                  <a:schemeClr val="tx2"/>
                </a:solidFill>
              </a:rPr>
              <a:t>utils  </a:t>
            </a:r>
            <a:pPr indent="0" marL="0">
              <a:buNone/>
            </a:pPr>
            <a:r>
              <a:rPr lang="en-US" sz="1400" dirty="0">
                <a:solidFill>
                  <a:schemeClr val="tx1"/>
                </a:solidFill>
              </a:rPr>
              <a:t>metrics, plots, seeds, saving</a:t>
            </a:r>
            <a:endParaRPr lang="en-US" sz="1400" dirty="0"/>
          </a:p>
        </p:txBody>
      </p:sp>
      <p:sp>
        <p:nvSpPr>
          <p:cNvPr id="25" name="Slide Number Placeholder 0"/>
          <p:cNvSpPr>
            <a:spLocks noGrp="1"/>
          </p:cNvSpPr>
          <p:nvPr>
            <p:ph type="sldNum" sz="quarter" idx="4294967295"/>
          </p:nvPr>
        </p:nvSpPr>
        <p:spPr>
          <a:xfrm>
            <a:off x="8138160" y="4736592"/>
            <a:ext cx="548640" cy="274320"/>
          </a:xfrm>
          <a:prstGeom prst="rect">
            <a:avLst/>
          </a:prstGeom>
          <a:extLst>
            <a:ext uri="{C572A759-6A51-4108-AA02-DFA0A04FC94B}">
              <ma14:wrappingTextBoxFlag xmlns:ma14="http://schemas.microsoft.com/office/mac/drawingml/2011/main" val="0"/>
            </a:ext>
          </a:extLst>
        </p:spPr>
        <p:txBody>
          <a:bodyPr/>
          <a:lstStyle>
            <a:lvl1pPr>
              <a:defRPr sz="1400">
                <a:solidFill>
                  <a:srgbClr val="5A6F8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594360"/>
          </a:xfrm>
          <a:prstGeom prst="rect">
            <a:avLst/>
          </a:prstGeom>
          <a:noFill/>
          <a:ln/>
        </p:spPr>
        <p:txBody>
          <a:bodyPr wrap="square" lIns="0" tIns="0" rIns="0" bIns="0" rtlCol="0" anchor="ctr"/>
          <a:lstStyle/>
          <a:p>
            <a:pPr indent="0" marL="0">
              <a:buNone/>
            </a:pPr>
            <a:r>
              <a:rPr lang="en-US" sz="2600" b="1" dirty="0">
                <a:solidFill>
                  <a:schemeClr val="tx2"/>
                </a:solidFill>
              </a:rPr>
              <a:t>Implemented features and CUP choices</a:t>
            </a:r>
            <a:endParaRPr lang="en-US" sz="2600" dirty="0"/>
          </a:p>
        </p:txBody>
      </p:sp>
      <p:sp>
        <p:nvSpPr>
          <p:cNvPr id="3" name="feature Architecture"/>
          <p:cNvSpPr/>
          <p:nvPr/>
        </p:nvSpPr>
        <p:spPr>
          <a:xfrm>
            <a:off x="457200" y="1005840"/>
            <a:ext cx="2615184" cy="1097280"/>
          </a:xfrm>
          <a:prstGeom prst="roundRect">
            <a:avLst>
              <a:gd name="adj" fmla="val 6667"/>
            </a:avLst>
          </a:prstGeom>
          <a:solidFill>
            <a:schemeClr val="bg2"/>
          </a:solidFill>
          <a:ln/>
        </p:spPr>
      </p:sp>
      <p:sp>
        <p:nvSpPr>
          <p:cNvPr id="4" name="Text 2"/>
          <p:cNvSpPr txBox="1"/>
          <p:nvPr/>
        </p:nvSpPr>
        <p:spPr>
          <a:xfrm>
            <a:off x="548640" y="1033272"/>
            <a:ext cx="2432304" cy="1042416"/>
          </a:xfrm>
          <a:prstGeom prst="rect">
            <a:avLst/>
          </a:prstGeom>
          <a:noFill/>
          <a:ln/>
        </p:spPr>
        <p:txBody>
          <a:bodyPr wrap="square" lIns="635" tIns="635" rIns="635" bIns="635" rtlCol="0" anchor="ctr"/>
          <a:lstStyle/>
          <a:p>
            <a:pPr indent="0" marL="0">
              <a:buNone/>
            </a:pPr>
            <a:r>
              <a:rPr lang="en-US" sz="1400" b="1" dirty="0">
                <a:solidFill>
                  <a:schemeClr val="tx2"/>
                </a:solidFill>
              </a:rPr>
              <a:t>Architecture</a:t>
            </a:r>
            <a:endParaRPr lang="en-US" sz="1400" dirty="0"/>
          </a:p>
          <a:p>
            <a:pPr indent="0" marL="0">
              <a:buNone/>
            </a:pPr>
            <a:r>
              <a:rPr lang="en-US" sz="1400" dirty="0">
                <a:solidFill>
                  <a:schemeClr val="tx1"/>
                </a:solidFill>
              </a:rPr>
              <a:t>MLP of any depth; CUP: 2 hidden layers of 64 units, 4 linear outputs</a:t>
            </a:r>
            <a:endParaRPr lang="en-US" sz="1400" dirty="0"/>
          </a:p>
        </p:txBody>
      </p:sp>
      <p:sp>
        <p:nvSpPr>
          <p:cNvPr id="5" name="feature Activation functions"/>
          <p:cNvSpPr/>
          <p:nvPr/>
        </p:nvSpPr>
        <p:spPr>
          <a:xfrm>
            <a:off x="3264408" y="1005840"/>
            <a:ext cx="2615184" cy="1097280"/>
          </a:xfrm>
          <a:prstGeom prst="roundRect">
            <a:avLst>
              <a:gd name="adj" fmla="val 6667"/>
            </a:avLst>
          </a:prstGeom>
          <a:solidFill>
            <a:schemeClr val="bg2"/>
          </a:solidFill>
          <a:ln/>
        </p:spPr>
      </p:sp>
      <p:sp>
        <p:nvSpPr>
          <p:cNvPr id="6" name="Text 4"/>
          <p:cNvSpPr txBox="1"/>
          <p:nvPr/>
        </p:nvSpPr>
        <p:spPr>
          <a:xfrm>
            <a:off x="3355848" y="1033272"/>
            <a:ext cx="2432304" cy="1042416"/>
          </a:xfrm>
          <a:prstGeom prst="rect">
            <a:avLst/>
          </a:prstGeom>
          <a:noFill/>
          <a:ln/>
        </p:spPr>
        <p:txBody>
          <a:bodyPr wrap="square" lIns="635" tIns="635" rIns="635" bIns="635" rtlCol="0" anchor="ctr"/>
          <a:lstStyle/>
          <a:p>
            <a:pPr indent="0" marL="0">
              <a:buNone/>
            </a:pPr>
            <a:r>
              <a:rPr lang="en-US" sz="1400" b="1" dirty="0">
                <a:solidFill>
                  <a:schemeClr val="tx2"/>
                </a:solidFill>
              </a:rPr>
              <a:t>Activation functions</a:t>
            </a:r>
            <a:endParaRPr lang="en-US" sz="1400" dirty="0"/>
          </a:p>
          <a:p>
            <a:pPr indent="0" marL="0">
              <a:buNone/>
            </a:pPr>
            <a:r>
              <a:rPr lang="en-US" sz="1400" dirty="0">
                <a:solidFill>
                  <a:schemeClr val="tx1"/>
                </a:solidFill>
              </a:rPr>
              <a:t>Sigmoid, tanh, ReLU, identity; CUP: ReLU hidden, identity output</a:t>
            </a:r>
            <a:endParaRPr lang="en-US" sz="1400" dirty="0"/>
          </a:p>
        </p:txBody>
      </p:sp>
      <p:sp>
        <p:nvSpPr>
          <p:cNvPr id="7" name="feature Training algorithm"/>
          <p:cNvSpPr/>
          <p:nvPr/>
        </p:nvSpPr>
        <p:spPr>
          <a:xfrm>
            <a:off x="6071616" y="1005840"/>
            <a:ext cx="2615184" cy="1097280"/>
          </a:xfrm>
          <a:prstGeom prst="roundRect">
            <a:avLst>
              <a:gd name="adj" fmla="val 6667"/>
            </a:avLst>
          </a:prstGeom>
          <a:solidFill>
            <a:schemeClr val="bg2"/>
          </a:solidFill>
          <a:ln/>
        </p:spPr>
      </p:sp>
      <p:sp>
        <p:nvSpPr>
          <p:cNvPr id="8" name="Text 6"/>
          <p:cNvSpPr txBox="1"/>
          <p:nvPr/>
        </p:nvSpPr>
        <p:spPr>
          <a:xfrm>
            <a:off x="6163056" y="1033272"/>
            <a:ext cx="2432304" cy="1042416"/>
          </a:xfrm>
          <a:prstGeom prst="rect">
            <a:avLst/>
          </a:prstGeom>
          <a:noFill/>
          <a:ln/>
        </p:spPr>
        <p:txBody>
          <a:bodyPr wrap="square" lIns="635" tIns="635" rIns="635" bIns="635" rtlCol="0" anchor="ctr"/>
          <a:lstStyle/>
          <a:p>
            <a:pPr indent="0" marL="0">
              <a:buNone/>
            </a:pPr>
            <a:r>
              <a:rPr lang="en-US" sz="1400" b="1" dirty="0">
                <a:solidFill>
                  <a:schemeClr val="tx2"/>
                </a:solidFill>
              </a:rPr>
              <a:t>Training algorithm</a:t>
            </a:r>
            <a:endParaRPr lang="en-US" sz="1400" dirty="0"/>
          </a:p>
          <a:p>
            <a:pPr indent="0" marL="0">
              <a:buNone/>
            </a:pPr>
            <a:r>
              <a:rPr lang="en-US" sz="1400" dirty="0">
                <a:solidFill>
                  <a:schemeClr val="tx1"/>
                </a:solidFill>
              </a:rPr>
              <a:t>Backprop + SGD, classical or Nesterov momentum; CUP: classical, α 0.9</a:t>
            </a:r>
            <a:endParaRPr lang="en-US" sz="1400" dirty="0"/>
          </a:p>
        </p:txBody>
      </p:sp>
      <p:sp>
        <p:nvSpPr>
          <p:cNvPr id="9" name="feature Learning rate"/>
          <p:cNvSpPr/>
          <p:nvPr/>
        </p:nvSpPr>
        <p:spPr>
          <a:xfrm>
            <a:off x="457200" y="2212848"/>
            <a:ext cx="2615184" cy="1097280"/>
          </a:xfrm>
          <a:prstGeom prst="roundRect">
            <a:avLst>
              <a:gd name="adj" fmla="val 6667"/>
            </a:avLst>
          </a:prstGeom>
          <a:solidFill>
            <a:schemeClr val="bg2"/>
          </a:solidFill>
          <a:ln/>
        </p:spPr>
      </p:sp>
      <p:sp>
        <p:nvSpPr>
          <p:cNvPr id="10" name="Text 8"/>
          <p:cNvSpPr txBox="1"/>
          <p:nvPr/>
        </p:nvSpPr>
        <p:spPr>
          <a:xfrm>
            <a:off x="548640" y="2240280"/>
            <a:ext cx="2432304" cy="1042416"/>
          </a:xfrm>
          <a:prstGeom prst="rect">
            <a:avLst/>
          </a:prstGeom>
          <a:noFill/>
          <a:ln/>
        </p:spPr>
        <p:txBody>
          <a:bodyPr wrap="square" lIns="635" tIns="635" rIns="635" bIns="635" rtlCol="0" anchor="ctr"/>
          <a:lstStyle/>
          <a:p>
            <a:pPr indent="0" marL="0">
              <a:buNone/>
            </a:pPr>
            <a:r>
              <a:rPr lang="en-US" sz="1400" b="1" dirty="0">
                <a:solidFill>
                  <a:schemeClr val="tx2"/>
                </a:solidFill>
              </a:rPr>
              <a:t>Learning rate</a:t>
            </a:r>
            <a:endParaRPr lang="en-US" sz="1400" dirty="0"/>
          </a:p>
          <a:p>
            <a:pPr indent="0" marL="0">
              <a:buNone/>
            </a:pPr>
            <a:r>
              <a:rPr lang="en-US" sz="1400" dirty="0">
                <a:solidFill>
                  <a:schemeClr val="tx1"/>
                </a:solidFill>
              </a:rPr>
              <a:t>Fixed, or linear decay from η</a:t>
            </a:r>
            <a:pPr indent="0" marL="0">
              <a:buNone/>
            </a:pPr>
            <a:r>
              <a:rPr lang="en-US" sz="1400" baseline="-40000" dirty="0">
                <a:solidFill>
                  <a:schemeClr val="tx1"/>
                </a:solidFill>
              </a:rPr>
              <a:t>0</a:t>
            </a:r>
            <a:pPr indent="0" marL="0">
              <a:buNone/>
            </a:pPr>
            <a:r>
              <a:rPr lang="en-US" sz="1400" dirty="0">
                <a:solidFill>
                  <a:schemeClr val="tx1"/>
                </a:solidFill>
              </a:rPr>
              <a:t> to η</a:t>
            </a:r>
            <a:pPr indent="0" marL="0">
              <a:buNone/>
            </a:pPr>
            <a:r>
              <a:rPr lang="en-US" sz="1400" baseline="-40000" dirty="0">
                <a:solidFill>
                  <a:schemeClr val="tx1"/>
                </a:solidFill>
              </a:rPr>
              <a:t>τ</a:t>
            </a:r>
            <a:pPr indent="0" marL="0">
              <a:buNone/>
            </a:pPr>
            <a:r>
              <a:rPr lang="en-US" sz="1400" dirty="0">
                <a:solidFill>
                  <a:schemeClr val="tx1"/>
                </a:solidFill>
              </a:rPr>
              <a:t> in τ epochs; CUP: fixed, η 0.01</a:t>
            </a:r>
            <a:endParaRPr lang="en-US" sz="1400" dirty="0"/>
          </a:p>
        </p:txBody>
      </p:sp>
      <p:sp>
        <p:nvSpPr>
          <p:cNvPr id="11" name="feature Batch / on-line / mini-batch"/>
          <p:cNvSpPr/>
          <p:nvPr/>
        </p:nvSpPr>
        <p:spPr>
          <a:xfrm>
            <a:off x="3264408" y="2212848"/>
            <a:ext cx="2615184" cy="1097280"/>
          </a:xfrm>
          <a:prstGeom prst="roundRect">
            <a:avLst>
              <a:gd name="adj" fmla="val 6667"/>
            </a:avLst>
          </a:prstGeom>
          <a:solidFill>
            <a:schemeClr val="bg2"/>
          </a:solidFill>
          <a:ln/>
        </p:spPr>
      </p:sp>
      <p:sp>
        <p:nvSpPr>
          <p:cNvPr id="12" name="Text 10"/>
          <p:cNvSpPr txBox="1"/>
          <p:nvPr/>
        </p:nvSpPr>
        <p:spPr>
          <a:xfrm>
            <a:off x="3355848" y="2240280"/>
            <a:ext cx="2432304" cy="1042416"/>
          </a:xfrm>
          <a:prstGeom prst="rect">
            <a:avLst/>
          </a:prstGeom>
          <a:noFill/>
          <a:ln/>
        </p:spPr>
        <p:txBody>
          <a:bodyPr wrap="square" lIns="635" tIns="635" rIns="635" bIns="635" rtlCol="0" anchor="ctr"/>
          <a:lstStyle/>
          <a:p>
            <a:pPr indent="0" marL="0">
              <a:buNone/>
            </a:pPr>
            <a:r>
              <a:rPr lang="en-US" sz="1400" b="1" dirty="0">
                <a:solidFill>
                  <a:schemeClr val="tx2"/>
                </a:solidFill>
              </a:rPr>
              <a:t>Batch / on-line / mini-batch</a:t>
            </a:r>
            <a:endParaRPr lang="en-US" sz="1400" dirty="0"/>
          </a:p>
          <a:p>
            <a:pPr indent="0" marL="0">
              <a:buNone/>
            </a:pPr>
            <a:r>
              <a:rPr lang="en-US" sz="1400" dirty="0">
                <a:solidFill>
                  <a:schemeClr val="tx1"/>
                </a:solidFill>
              </a:rPr>
              <a:t>All three; CUP: full batch; MONK: Table 1</a:t>
            </a:r>
            <a:endParaRPr lang="en-US" sz="1400" dirty="0"/>
          </a:p>
        </p:txBody>
      </p:sp>
      <p:sp>
        <p:nvSpPr>
          <p:cNvPr id="13" name="feature Initialization"/>
          <p:cNvSpPr/>
          <p:nvPr/>
        </p:nvSpPr>
        <p:spPr>
          <a:xfrm>
            <a:off x="6071616" y="2212848"/>
            <a:ext cx="2615184" cy="1097280"/>
          </a:xfrm>
          <a:prstGeom prst="roundRect">
            <a:avLst>
              <a:gd name="adj" fmla="val 6667"/>
            </a:avLst>
          </a:prstGeom>
          <a:solidFill>
            <a:schemeClr val="bg2"/>
          </a:solidFill>
          <a:ln/>
        </p:spPr>
      </p:sp>
      <p:sp>
        <p:nvSpPr>
          <p:cNvPr id="14" name="Text 12"/>
          <p:cNvSpPr txBox="1"/>
          <p:nvPr/>
        </p:nvSpPr>
        <p:spPr>
          <a:xfrm>
            <a:off x="6163056" y="2240280"/>
            <a:ext cx="2432304" cy="1042416"/>
          </a:xfrm>
          <a:prstGeom prst="rect">
            <a:avLst/>
          </a:prstGeom>
          <a:noFill/>
          <a:ln/>
        </p:spPr>
        <p:txBody>
          <a:bodyPr wrap="square" lIns="635" tIns="635" rIns="635" bIns="635" rtlCol="0" anchor="ctr"/>
          <a:lstStyle/>
          <a:p>
            <a:pPr indent="0" marL="0">
              <a:buNone/>
            </a:pPr>
            <a:r>
              <a:rPr lang="en-US" sz="1400" b="1" dirty="0">
                <a:solidFill>
                  <a:schemeClr val="tx2"/>
                </a:solidFill>
              </a:rPr>
              <a:t>Initialization</a:t>
            </a:r>
            <a:endParaRPr lang="en-US" sz="1400" dirty="0"/>
          </a:p>
          <a:p>
            <a:pPr indent="0" marL="0">
              <a:buNone/>
            </a:pPr>
            <a:r>
              <a:rPr lang="en-US" sz="1400" dirty="0">
                <a:solidFill>
                  <a:schemeClr val="tx1"/>
                </a:solidFill>
              </a:rPr>
              <a:t>Uniform, Glorot, He; CUP: He, </a:t>
            </a:r>
            <a:pPr indent="0" marL="0">
              <a:buNone/>
            </a:pPr>
            <a:r>
              <a:rPr lang="en-US" sz="1400" i="1" dirty="0">
                <a:solidFill>
                  <a:schemeClr val="accent2"/>
                </a:solidFill>
              </a:rPr>
              <a:t>10</a:t>
            </a:r>
            <a:pPr indent="0" marL="0">
              <a:buNone/>
            </a:pPr>
            <a:r>
              <a:rPr lang="en-US" sz="1400" dirty="0">
                <a:solidFill>
                  <a:schemeClr val="tx1"/>
                </a:solidFill>
              </a:rPr>
              <a:t> random inits per configuration</a:t>
            </a:r>
            <a:endParaRPr lang="en-US" sz="1400" dirty="0"/>
          </a:p>
        </p:txBody>
      </p:sp>
      <p:sp>
        <p:nvSpPr>
          <p:cNvPr id="15" name="feature Regularization"/>
          <p:cNvSpPr/>
          <p:nvPr/>
        </p:nvSpPr>
        <p:spPr>
          <a:xfrm>
            <a:off x="457200" y="3419856"/>
            <a:ext cx="2615184" cy="1097280"/>
          </a:xfrm>
          <a:prstGeom prst="roundRect">
            <a:avLst>
              <a:gd name="adj" fmla="val 6667"/>
            </a:avLst>
          </a:prstGeom>
          <a:solidFill>
            <a:schemeClr val="bg2"/>
          </a:solidFill>
          <a:ln/>
        </p:spPr>
      </p:sp>
      <p:sp>
        <p:nvSpPr>
          <p:cNvPr id="16" name="Text 14"/>
          <p:cNvSpPr txBox="1"/>
          <p:nvPr/>
        </p:nvSpPr>
        <p:spPr>
          <a:xfrm>
            <a:off x="548640" y="3447288"/>
            <a:ext cx="2432304" cy="1042416"/>
          </a:xfrm>
          <a:prstGeom prst="rect">
            <a:avLst/>
          </a:prstGeom>
          <a:noFill/>
          <a:ln/>
        </p:spPr>
        <p:txBody>
          <a:bodyPr wrap="square" lIns="635" tIns="635" rIns="635" bIns="635" rtlCol="0" anchor="ctr"/>
          <a:lstStyle/>
          <a:p>
            <a:pPr indent="0" marL="0">
              <a:buNone/>
            </a:pPr>
            <a:r>
              <a:rPr lang="en-US" sz="1400" b="1" dirty="0">
                <a:solidFill>
                  <a:schemeClr val="tx2"/>
                </a:solidFill>
              </a:rPr>
              <a:t>Regularization</a:t>
            </a:r>
            <a:endParaRPr lang="en-US" sz="1400" dirty="0"/>
          </a:p>
          <a:p>
            <a:pPr indent="0" marL="0">
              <a:buNone/>
            </a:pPr>
            <a:r>
              <a:rPr lang="en-US" sz="1400" dirty="0">
                <a:solidFill>
                  <a:schemeClr val="tx1"/>
                </a:solidFill>
              </a:rPr>
              <a:t>L2 (Tikhonov) and L1 on the weights, not on the biases; CUP: L2, λ 0.01</a:t>
            </a:r>
            <a:endParaRPr lang="en-US" sz="1400" dirty="0"/>
          </a:p>
        </p:txBody>
      </p:sp>
      <p:sp>
        <p:nvSpPr>
          <p:cNvPr id="17" name="feature Stop conditions"/>
          <p:cNvSpPr/>
          <p:nvPr/>
        </p:nvSpPr>
        <p:spPr>
          <a:xfrm>
            <a:off x="3264408" y="3419856"/>
            <a:ext cx="2615184" cy="1097280"/>
          </a:xfrm>
          <a:prstGeom prst="roundRect">
            <a:avLst>
              <a:gd name="adj" fmla="val 6667"/>
            </a:avLst>
          </a:prstGeom>
          <a:solidFill>
            <a:schemeClr val="bg2"/>
          </a:solidFill>
          <a:ln/>
        </p:spPr>
      </p:sp>
      <p:sp>
        <p:nvSpPr>
          <p:cNvPr id="18" name="Text 16"/>
          <p:cNvSpPr txBox="1"/>
          <p:nvPr/>
        </p:nvSpPr>
        <p:spPr>
          <a:xfrm>
            <a:off x="3355848" y="3447288"/>
            <a:ext cx="2432304" cy="1042416"/>
          </a:xfrm>
          <a:prstGeom prst="rect">
            <a:avLst/>
          </a:prstGeom>
          <a:noFill/>
          <a:ln/>
        </p:spPr>
        <p:txBody>
          <a:bodyPr wrap="square" lIns="635" tIns="635" rIns="635" bIns="635" rtlCol="0" anchor="ctr"/>
          <a:lstStyle/>
          <a:p>
            <a:pPr indent="0" marL="0">
              <a:buNone/>
            </a:pPr>
            <a:r>
              <a:rPr lang="en-US" sz="1400" b="1" dirty="0">
                <a:solidFill>
                  <a:schemeClr val="tx2"/>
                </a:solidFill>
              </a:rPr>
              <a:t>Stop conditions</a:t>
            </a:r>
            <a:endParaRPr lang="en-US" sz="1400" dirty="0"/>
          </a:p>
          <a:p>
            <a:pPr indent="0" marL="0">
              <a:buNone/>
            </a:pPr>
            <a:r>
              <a:rPr lang="en-US" sz="1400" dirty="0">
                <a:solidFill>
                  <a:schemeClr val="tx1"/>
                </a:solidFill>
              </a:rPr>
              <a:t>Max epochs, early stopping (patience </a:t>
            </a:r>
            <a:pPr indent="0" marL="0">
              <a:buNone/>
            </a:pPr>
            <a:r>
              <a:rPr lang="en-US" sz="1400" i="1" dirty="0">
                <a:solidFill>
                  <a:schemeClr val="accent2"/>
                </a:solidFill>
              </a:rPr>
              <a:t>100</a:t>
            </a:r>
            <a:pPr indent="0" marL="0">
              <a:buNone/>
            </a:pPr>
            <a:r>
              <a:rPr lang="en-US" sz="1400" dirty="0">
                <a:solidFill>
                  <a:schemeClr val="tx1"/>
                </a:solidFill>
              </a:rPr>
              <a:t>); retraining: CV TR-error target</a:t>
            </a:r>
            <a:endParaRPr lang="en-US" sz="1400" dirty="0"/>
          </a:p>
        </p:txBody>
      </p:sp>
      <p:sp>
        <p:nvSpPr>
          <p:cNvPr id="19" name="feature Loss and metrics"/>
          <p:cNvSpPr/>
          <p:nvPr/>
        </p:nvSpPr>
        <p:spPr>
          <a:xfrm>
            <a:off x="6071616" y="3419856"/>
            <a:ext cx="2615184" cy="1097280"/>
          </a:xfrm>
          <a:prstGeom prst="roundRect">
            <a:avLst>
              <a:gd name="adj" fmla="val 6667"/>
            </a:avLst>
          </a:prstGeom>
          <a:solidFill>
            <a:schemeClr val="bg2"/>
          </a:solidFill>
          <a:ln/>
        </p:spPr>
      </p:sp>
      <p:sp>
        <p:nvSpPr>
          <p:cNvPr id="20" name="Text 18"/>
          <p:cNvSpPr txBox="1"/>
          <p:nvPr/>
        </p:nvSpPr>
        <p:spPr>
          <a:xfrm>
            <a:off x="6163056" y="3447288"/>
            <a:ext cx="2432304" cy="1042416"/>
          </a:xfrm>
          <a:prstGeom prst="rect">
            <a:avLst/>
          </a:prstGeom>
          <a:noFill/>
          <a:ln/>
        </p:spPr>
        <p:txBody>
          <a:bodyPr wrap="square" lIns="635" tIns="635" rIns="635" bIns="635" rtlCol="0" anchor="ctr"/>
          <a:lstStyle/>
          <a:p>
            <a:pPr indent="0" marL="0">
              <a:buNone/>
            </a:pPr>
            <a:r>
              <a:rPr lang="en-US" sz="1400" b="1" dirty="0">
                <a:solidFill>
                  <a:schemeClr val="tx2"/>
                </a:solidFill>
              </a:rPr>
              <a:t>Loss and metrics</a:t>
            </a:r>
            <a:endParaRPr lang="en-US" sz="1400" dirty="0"/>
          </a:p>
          <a:p>
            <a:pPr indent="0" marL="0">
              <a:buNone/>
            </a:pPr>
            <a:r>
              <a:rPr lang="en-US" sz="1400" dirty="0">
                <a:solidFill>
                  <a:schemeClr val="tx1"/>
                </a:solidFill>
              </a:rPr>
              <a:t>MSE loss, no penalty in tables; MONK: accuracy; CUP: MEE, original scale</a:t>
            </a:r>
            <a:endParaRPr lang="en-US" sz="1400" dirty="0"/>
          </a:p>
        </p:txBody>
      </p:sp>
      <p:sp>
        <p:nvSpPr>
          <p:cNvPr id="25" name="Slide Number Placeholder 0"/>
          <p:cNvSpPr>
            <a:spLocks noGrp="1"/>
          </p:cNvSpPr>
          <p:nvPr>
            <p:ph type="sldNum" sz="quarter" idx="4294967295"/>
          </p:nvPr>
        </p:nvSpPr>
        <p:spPr>
          <a:xfrm>
            <a:off x="8138160" y="4736592"/>
            <a:ext cx="548640" cy="274320"/>
          </a:xfrm>
          <a:prstGeom prst="rect">
            <a:avLst/>
          </a:prstGeom>
          <a:extLst>
            <a:ext uri="{C572A759-6A51-4108-AA02-DFA0A04FC94B}">
              <ma14:wrappingTextBoxFlag xmlns:ma14="http://schemas.microsoft.com/office/mac/drawingml/2011/main" val="0"/>
            </a:ext>
          </a:extLst>
        </p:spPr>
        <p:txBody>
          <a:bodyPr/>
          <a:lstStyle>
            <a:lvl1pPr>
              <a:defRPr sz="1400">
                <a:solidFill>
                  <a:srgbClr val="5A6F8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594360"/>
          </a:xfrm>
          <a:prstGeom prst="rect">
            <a:avLst/>
          </a:prstGeom>
          <a:noFill/>
          <a:ln/>
        </p:spPr>
        <p:txBody>
          <a:bodyPr wrap="square" lIns="0" tIns="0" rIns="0" bIns="0" rtlCol="0" anchor="ctr"/>
          <a:lstStyle/>
          <a:p>
            <a:pPr indent="0" marL="0">
              <a:buNone/>
            </a:pPr>
            <a:r>
              <a:rPr lang="en-US" sz="2600" b="1" dirty="0">
                <a:solidFill>
                  <a:schemeClr val="tx2"/>
                </a:solidFill>
              </a:rPr>
              <a:t>Beyond the basics</a:t>
            </a:r>
            <a:endParaRPr lang="en-US" sz="2600" dirty="0"/>
          </a:p>
        </p:txBody>
      </p:sp>
      <p:sp>
        <p:nvSpPr>
          <p:cNvPr id="3" name="extra Retraining guided by the CV"/>
          <p:cNvSpPr/>
          <p:nvPr/>
        </p:nvSpPr>
        <p:spPr>
          <a:xfrm>
            <a:off x="457200" y="1005840"/>
            <a:ext cx="2560320" cy="3566160"/>
          </a:xfrm>
          <a:prstGeom prst="roundRect">
            <a:avLst>
              <a:gd name="adj" fmla="val 2857"/>
            </a:avLst>
          </a:prstGeom>
          <a:solidFill>
            <a:schemeClr val="bg2"/>
          </a:solidFill>
          <a:ln/>
        </p:spPr>
      </p:sp>
      <p:sp>
        <p:nvSpPr>
          <p:cNvPr id="4" name="Text 2"/>
          <p:cNvSpPr txBox="1"/>
          <p:nvPr/>
        </p:nvSpPr>
        <p:spPr>
          <a:xfrm>
            <a:off x="594360" y="1097280"/>
            <a:ext cx="2286000" cy="3383280"/>
          </a:xfrm>
          <a:prstGeom prst="rect">
            <a:avLst/>
          </a:prstGeom>
          <a:noFill/>
          <a:ln/>
        </p:spPr>
        <p:txBody>
          <a:bodyPr wrap="square" lIns="635" tIns="635" rIns="635" bIns="635" rtlCol="0" anchor="t"/>
          <a:lstStyle/>
          <a:p>
            <a:pPr indent="0" marL="0">
              <a:spcAft>
                <a:spcPts val="800"/>
              </a:spcAft>
              <a:buNone/>
            </a:pPr>
            <a:r>
              <a:rPr lang="en-US" sz="1600" b="1" dirty="0">
                <a:solidFill>
                  <a:schemeClr val="tx2"/>
                </a:solidFill>
              </a:rPr>
              <a:t>Retraining guided by the CV</a:t>
            </a:r>
            <a:endParaRPr lang="en-US" sz="1400" dirty="0"/>
          </a:p>
          <a:p>
            <a:pPr indent="0" marL="0">
              <a:buNone/>
            </a:pPr>
            <a:r>
              <a:rPr lang="en-US" sz="1400" dirty="0">
                <a:solidFill>
                  <a:schemeClr val="tx1"/>
                </a:solidFill>
              </a:rPr>
              <a:t>A fold trains on about two thirds of the design data, so its best epoch does not transfer to the final retraining. We record the training error at the best validation epoch of each fold and stop the retraining when the network reaches that error.</a:t>
            </a:r>
            <a:endParaRPr lang="en-US" sz="1400" dirty="0"/>
          </a:p>
        </p:txBody>
      </p:sp>
      <p:sp>
        <p:nvSpPr>
          <p:cNvPr id="5" name="extra Several starts per configuration"/>
          <p:cNvSpPr/>
          <p:nvPr/>
        </p:nvSpPr>
        <p:spPr>
          <a:xfrm>
            <a:off x="3291840" y="1005840"/>
            <a:ext cx="2560320" cy="3566160"/>
          </a:xfrm>
          <a:prstGeom prst="roundRect">
            <a:avLst>
              <a:gd name="adj" fmla="val 2857"/>
            </a:avLst>
          </a:prstGeom>
          <a:solidFill>
            <a:schemeClr val="bg2"/>
          </a:solidFill>
          <a:ln/>
        </p:spPr>
      </p:sp>
      <p:sp>
        <p:nvSpPr>
          <p:cNvPr id="6" name="Text 4"/>
          <p:cNvSpPr txBox="1"/>
          <p:nvPr/>
        </p:nvSpPr>
        <p:spPr>
          <a:xfrm>
            <a:off x="3429000" y="1097280"/>
            <a:ext cx="2286000" cy="3383280"/>
          </a:xfrm>
          <a:prstGeom prst="rect">
            <a:avLst/>
          </a:prstGeom>
          <a:noFill/>
          <a:ln/>
        </p:spPr>
        <p:txBody>
          <a:bodyPr wrap="square" lIns="635" tIns="635" rIns="635" bIns="635" rtlCol="0" anchor="t"/>
          <a:lstStyle/>
          <a:p>
            <a:pPr indent="0" marL="0">
              <a:spcAft>
                <a:spcPts val="800"/>
              </a:spcAft>
              <a:buNone/>
            </a:pPr>
            <a:r>
              <a:rPr lang="en-US" sz="1600" b="1" dirty="0">
                <a:solidFill>
                  <a:schemeClr val="tx2"/>
                </a:solidFill>
              </a:rPr>
              <a:t>Several starts per configuration</a:t>
            </a:r>
            <a:endParaRPr lang="en-US" sz="1400" dirty="0"/>
          </a:p>
          <a:p>
            <a:pPr indent="0" marL="0">
              <a:buNone/>
            </a:pPr>
            <a:r>
              <a:rPr lang="en-US" sz="1400" dirty="0">
                <a:solidFill>
                  <a:schemeClr val="tx1"/>
                </a:solidFill>
              </a:rPr>
              <a:t>Each configuration is trained from several random initializations on every fold. The ranking uses the mean, and we keep two spreads apart: across initializations, how much the starting point matters, and across folds, how much the data split does.</a:t>
            </a:r>
            <a:endParaRPr lang="en-US" sz="1400" dirty="0"/>
          </a:p>
        </p:txBody>
      </p:sp>
      <p:sp>
        <p:nvSpPr>
          <p:cNvPr id="7" name="extra Parallel and reproducible"/>
          <p:cNvSpPr/>
          <p:nvPr/>
        </p:nvSpPr>
        <p:spPr>
          <a:xfrm>
            <a:off x="6126480" y="1005840"/>
            <a:ext cx="2560320" cy="3566160"/>
          </a:xfrm>
          <a:prstGeom prst="roundRect">
            <a:avLst>
              <a:gd name="adj" fmla="val 2857"/>
            </a:avLst>
          </a:prstGeom>
          <a:solidFill>
            <a:schemeClr val="bg2"/>
          </a:solidFill>
          <a:ln/>
        </p:spPr>
      </p:sp>
      <p:sp>
        <p:nvSpPr>
          <p:cNvPr id="8" name="Text 6"/>
          <p:cNvSpPr txBox="1"/>
          <p:nvPr/>
        </p:nvSpPr>
        <p:spPr>
          <a:xfrm>
            <a:off x="6263640" y="1097280"/>
            <a:ext cx="2286000" cy="3383280"/>
          </a:xfrm>
          <a:prstGeom prst="rect">
            <a:avLst/>
          </a:prstGeom>
          <a:noFill/>
          <a:ln/>
        </p:spPr>
        <p:txBody>
          <a:bodyPr wrap="square" lIns="635" tIns="635" rIns="635" bIns="635" rtlCol="0" anchor="t"/>
          <a:lstStyle/>
          <a:p>
            <a:pPr indent="0" marL="0">
              <a:spcAft>
                <a:spcPts val="800"/>
              </a:spcAft>
              <a:buNone/>
            </a:pPr>
            <a:r>
              <a:rPr lang="en-US" sz="1600" b="1" dirty="0">
                <a:solidFill>
                  <a:schemeClr val="tx2"/>
                </a:solidFill>
              </a:rPr>
              <a:t>Parallel and reproducible</a:t>
            </a:r>
            <a:endParaRPr lang="en-US" sz="1400" dirty="0"/>
          </a:p>
          <a:p>
            <a:pPr indent="0" marL="0">
              <a:buNone/>
            </a:pPr>
            <a:r>
              <a:rPr lang="en-US" sz="1400" dirty="0">
                <a:solidFill>
                  <a:schemeClr val="tx1"/>
                </a:solidFill>
              </a:rPr>
              <a:t>Configurations, folds and initializations are independent, so they run in parallel on all the cores. Every random choice (split, weights, shuffling) comes from one master seed, so any run can be repeated exactly.</a:t>
            </a:r>
            <a:endParaRPr lang="en-US" sz="1400" dirty="0"/>
          </a:p>
        </p:txBody>
      </p:sp>
      <p:sp>
        <p:nvSpPr>
          <p:cNvPr id="25" name="Slide Number Placeholder 0"/>
          <p:cNvSpPr>
            <a:spLocks noGrp="1"/>
          </p:cNvSpPr>
          <p:nvPr>
            <p:ph type="sldNum" sz="quarter" idx="4294967295"/>
          </p:nvPr>
        </p:nvSpPr>
        <p:spPr>
          <a:xfrm>
            <a:off x="8138160" y="4736592"/>
            <a:ext cx="548640" cy="274320"/>
          </a:xfrm>
          <a:prstGeom prst="rect">
            <a:avLst/>
          </a:prstGeom>
          <a:extLst>
            <a:ext uri="{C572A759-6A51-4108-AA02-DFA0A04FC94B}">
              <ma14:wrappingTextBoxFlag xmlns:ma14="http://schemas.microsoft.com/office/mac/drawingml/2011/main" val="0"/>
            </a:ext>
          </a:extLst>
        </p:spPr>
        <p:txBody>
          <a:bodyPr/>
          <a:lstStyle>
            <a:lvl1pPr>
              <a:defRPr sz="1400">
                <a:solidFill>
                  <a:srgbClr val="5A6F8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594360"/>
          </a:xfrm>
          <a:prstGeom prst="rect">
            <a:avLst/>
          </a:prstGeom>
          <a:noFill/>
          <a:ln/>
        </p:spPr>
        <p:txBody>
          <a:bodyPr wrap="square" lIns="0" tIns="0" rIns="0" bIns="0" rtlCol="0" anchor="ctr"/>
          <a:lstStyle/>
          <a:p>
            <a:pPr indent="0" marL="0">
              <a:buNone/>
            </a:pPr>
            <a:r>
              <a:rPr lang="en-US" sz="2600" b="1" dirty="0">
                <a:solidFill>
                  <a:schemeClr val="tx2"/>
                </a:solidFill>
              </a:rPr>
              <a:t>MONK results</a:t>
            </a:r>
            <a:endParaRPr lang="en-US" sz="2600" dirty="0"/>
          </a:p>
        </p:txBody>
      </p:sp>
      <p:sp>
        <p:nvSpPr>
          <p:cNvPr id="3" name="Text 1"/>
          <p:cNvSpPr txBox="1"/>
          <p:nvPr/>
        </p:nvSpPr>
        <p:spPr>
          <a:xfrm>
            <a:off x="457200" y="960120"/>
            <a:ext cx="8229600" cy="731520"/>
          </a:xfrm>
          <a:prstGeom prst="rect">
            <a:avLst/>
          </a:prstGeom>
          <a:noFill/>
          <a:ln/>
        </p:spPr>
        <p:txBody>
          <a:bodyPr wrap="square" lIns="635" tIns="635" rIns="635" bIns="635" rtlCol="0" anchor="t"/>
          <a:lstStyle/>
          <a:p>
            <a:pPr indent="0" marL="0">
              <a:buNone/>
            </a:pPr>
            <a:r>
              <a:rPr lang="en-US" sz="1400" dirty="0">
                <a:solidFill>
                  <a:schemeClr val="tx1"/>
                </a:solidFill>
              </a:rPr>
              <a:t>17 one-hot inputs → 4 tanh units → 1 sigmoid unit; MSE loss, Glorot init. Model selection: grid search with stratified hold-out (80% TR / 20% VL); MONK 3 (reg.): 5-fold CV.</a:t>
            </a:r>
            <a:endParaRPr lang="en-US" sz="1400" dirty="0"/>
          </a:p>
        </p:txBody>
      </p:sp>
      <p:sp>
        <p:nvSpPr>
          <p:cNvPr id="4" name="Text 2"/>
          <p:cNvSpPr txBox="1"/>
          <p:nvPr/>
        </p:nvSpPr>
        <p:spPr>
          <a:xfrm>
            <a:off x="457200" y="1719072"/>
            <a:ext cx="8229600" cy="521208"/>
          </a:xfrm>
          <a:prstGeom prst="rect">
            <a:avLst/>
          </a:prstGeom>
          <a:noFill/>
          <a:ln/>
        </p:spPr>
        <p:txBody>
          <a:bodyPr wrap="square" lIns="635" tIns="635" rIns="635" bIns="635" rtlCol="0" anchor="t"/>
          <a:lstStyle/>
          <a:p>
            <a:pPr indent="0" marL="0">
              <a:buNone/>
            </a:pPr>
            <a:r>
              <a:rPr lang="en-US" sz="1400" i="1" dirty="0">
                <a:solidFill>
                  <a:schemeClr val="accent3"/>
                </a:solidFill>
              </a:rPr>
              <a:t>Table 1. Mean ± std over 50 inits, MSE without penalty. N = Nesterov; CV stop = retraining up to the TR-MSE target of the CV.</a:t>
            </a:r>
            <a:endParaRPr lang="en-US" sz="1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2240280"/>
          <a:ext cx="8229600" cy="914400"/>
        </p:xfrm>
        <a:graphic>
          <a:graphicData uri="http://schemas.openxmlformats.org/drawingml/2006/table">
            <a:tbl>
              <a:tblPr/>
              <a:tblGrid>
                <a:gridCol w="1188720"/>
                <a:gridCol w="2286000"/>
                <a:gridCol w="1188720"/>
                <a:gridCol w="1188720"/>
                <a:gridCol w="1188720"/>
                <a:gridCol w="1188720"/>
              </a:tblGrid>
              <a:tr h="384048">
                <a:tc>
                  <a:txBody>
                    <a:bodyPr/>
                    <a:lstStyle/>
                    <a:p>
                      <a:pPr indent="0" marL="0">
                        <a:buNone/>
                      </a:pPr>
                      <a:r>
                        <a:rPr lang="en-US" sz="1400" b="1" dirty="0">
                          <a:solidFill>
                            <a:schemeClr val="bg1"/>
                          </a:solidFill>
                        </a:rPr>
                        <a:t>Task</a:t>
                      </a:r>
                      <a:endParaRPr lang="en-US" sz="1400" dirty="0"/>
                    </a:p>
                  </a:txBody>
                  <a:tcPr marL="45720" marR="45720" marT="45720" marB="45720" anchor="ctr">
                    <a:lnL w="9525" cap="flat" cmpd="sng" algn="ctr">
                      <a:solidFill>
                        <a:srgbClr val="9DB0C6"/>
                      </a:solidFill>
                      <a:prstDash val="solid"/>
                      <a:round/>
                      <a:headEnd type="none" w="med" len="med"/>
                      <a:tailEnd type="none" w="med" len="med"/>
                    </a:lnL>
                    <a:lnR w="9525" cap="flat" cmpd="sng" algn="ctr">
                      <a:solidFill>
                        <a:srgbClr val="9DB0C6"/>
                      </a:solidFill>
                      <a:prstDash val="solid"/>
                      <a:round/>
                      <a:headEnd type="none" w="med" len="med"/>
                      <a:tailEnd type="none" w="med" len="med"/>
                    </a:lnR>
                    <a:lnT w="9525" cap="flat" cmpd="sng" algn="ctr">
                      <a:solidFill>
                        <a:srgbClr val="9DB0C6"/>
                      </a:solidFill>
                      <a:prstDash val="solid"/>
                      <a:round/>
                      <a:headEnd type="none" w="med" len="med"/>
                      <a:tailEnd type="none" w="med" len="med"/>
                    </a:lnT>
                    <a:lnB w="9525" cap="flat" cmpd="sng" algn="ctr">
                      <a:solidFill>
                        <a:srgbClr val="9DB0C6"/>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Units, η, α, λ, batch, epochs</a:t>
                      </a:r>
                      <a:endParaRPr lang="en-US" sz="1400" dirty="0"/>
                    </a:p>
                  </a:txBody>
                  <a:tcPr marL="45720" marR="45720" marT="45720" marB="45720" anchor="ctr">
                    <a:lnL w="9525" cap="flat" cmpd="sng" algn="ctr">
                      <a:solidFill>
                        <a:srgbClr val="9DB0C6"/>
                      </a:solidFill>
                      <a:prstDash val="solid"/>
                      <a:round/>
                      <a:headEnd type="none" w="med" len="med"/>
                      <a:tailEnd type="none" w="med" len="med"/>
                    </a:lnL>
                    <a:lnR w="9525" cap="flat" cmpd="sng" algn="ctr">
                      <a:solidFill>
                        <a:srgbClr val="9DB0C6"/>
                      </a:solidFill>
                      <a:prstDash val="solid"/>
                      <a:round/>
                      <a:headEnd type="none" w="med" len="med"/>
                      <a:tailEnd type="none" w="med" len="med"/>
                    </a:lnR>
                    <a:lnT w="9525" cap="flat" cmpd="sng" algn="ctr">
                      <a:solidFill>
                        <a:srgbClr val="9DB0C6"/>
                      </a:solidFill>
                      <a:prstDash val="solid"/>
                      <a:round/>
                      <a:headEnd type="none" w="med" len="med"/>
                      <a:tailEnd type="none" w="med" len="med"/>
                    </a:lnT>
                    <a:lnB w="9525" cap="flat" cmpd="sng" algn="ctr">
                      <a:solidFill>
                        <a:srgbClr val="9DB0C6"/>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MSE TR</a:t>
                      </a:r>
                      <a:endParaRPr lang="en-US" sz="1400" dirty="0"/>
                    </a:p>
                  </a:txBody>
                  <a:tcPr marL="45720" marR="45720" marT="45720" marB="45720" anchor="ctr">
                    <a:lnL w="9525" cap="flat" cmpd="sng" algn="ctr">
                      <a:solidFill>
                        <a:srgbClr val="9DB0C6"/>
                      </a:solidFill>
                      <a:prstDash val="solid"/>
                      <a:round/>
                      <a:headEnd type="none" w="med" len="med"/>
                      <a:tailEnd type="none" w="med" len="med"/>
                    </a:lnL>
                    <a:lnR w="9525" cap="flat" cmpd="sng" algn="ctr">
                      <a:solidFill>
                        <a:srgbClr val="9DB0C6"/>
                      </a:solidFill>
                      <a:prstDash val="solid"/>
                      <a:round/>
                      <a:headEnd type="none" w="med" len="med"/>
                      <a:tailEnd type="none" w="med" len="med"/>
                    </a:lnR>
                    <a:lnT w="9525" cap="flat" cmpd="sng" algn="ctr">
                      <a:solidFill>
                        <a:srgbClr val="9DB0C6"/>
                      </a:solidFill>
                      <a:prstDash val="solid"/>
                      <a:round/>
                      <a:headEnd type="none" w="med" len="med"/>
                      <a:tailEnd type="none" w="med" len="med"/>
                    </a:lnT>
                    <a:lnB w="9525" cap="flat" cmpd="sng" algn="ctr">
                      <a:solidFill>
                        <a:srgbClr val="9DB0C6"/>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MSE TS</a:t>
                      </a:r>
                      <a:endParaRPr lang="en-US" sz="1400" dirty="0"/>
                    </a:p>
                  </a:txBody>
                  <a:tcPr marL="45720" marR="45720" marT="45720" marB="45720" anchor="ctr">
                    <a:lnL w="9525" cap="flat" cmpd="sng" algn="ctr">
                      <a:solidFill>
                        <a:srgbClr val="9DB0C6"/>
                      </a:solidFill>
                      <a:prstDash val="solid"/>
                      <a:round/>
                      <a:headEnd type="none" w="med" len="med"/>
                      <a:tailEnd type="none" w="med" len="med"/>
                    </a:lnL>
                    <a:lnR w="9525" cap="flat" cmpd="sng" algn="ctr">
                      <a:solidFill>
                        <a:srgbClr val="9DB0C6"/>
                      </a:solidFill>
                      <a:prstDash val="solid"/>
                      <a:round/>
                      <a:headEnd type="none" w="med" len="med"/>
                      <a:tailEnd type="none" w="med" len="med"/>
                    </a:lnR>
                    <a:lnT w="9525" cap="flat" cmpd="sng" algn="ctr">
                      <a:solidFill>
                        <a:srgbClr val="9DB0C6"/>
                      </a:solidFill>
                      <a:prstDash val="solid"/>
                      <a:round/>
                      <a:headEnd type="none" w="med" len="med"/>
                      <a:tailEnd type="none" w="med" len="med"/>
                    </a:lnT>
                    <a:lnB w="9525" cap="flat" cmpd="sng" algn="ctr">
                      <a:solidFill>
                        <a:srgbClr val="9DB0C6"/>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Acc. TR (%)</a:t>
                      </a:r>
                      <a:endParaRPr lang="en-US" sz="1400" dirty="0"/>
                    </a:p>
                  </a:txBody>
                  <a:tcPr marL="45720" marR="45720" marT="45720" marB="45720" anchor="ctr">
                    <a:lnL w="9525" cap="flat" cmpd="sng" algn="ctr">
                      <a:solidFill>
                        <a:srgbClr val="9DB0C6"/>
                      </a:solidFill>
                      <a:prstDash val="solid"/>
                      <a:round/>
                      <a:headEnd type="none" w="med" len="med"/>
                      <a:tailEnd type="none" w="med" len="med"/>
                    </a:lnL>
                    <a:lnR w="9525" cap="flat" cmpd="sng" algn="ctr">
                      <a:solidFill>
                        <a:srgbClr val="9DB0C6"/>
                      </a:solidFill>
                      <a:prstDash val="solid"/>
                      <a:round/>
                      <a:headEnd type="none" w="med" len="med"/>
                      <a:tailEnd type="none" w="med" len="med"/>
                    </a:lnR>
                    <a:lnT w="9525" cap="flat" cmpd="sng" algn="ctr">
                      <a:solidFill>
                        <a:srgbClr val="9DB0C6"/>
                      </a:solidFill>
                      <a:prstDash val="solid"/>
                      <a:round/>
                      <a:headEnd type="none" w="med" len="med"/>
                      <a:tailEnd type="none" w="med" len="med"/>
                    </a:lnT>
                    <a:lnB w="9525" cap="flat" cmpd="sng" algn="ctr">
                      <a:solidFill>
                        <a:srgbClr val="9DB0C6"/>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Acc. TS (%)</a:t>
                      </a:r>
                      <a:endParaRPr lang="en-US" sz="1400" dirty="0"/>
                    </a:p>
                  </a:txBody>
                  <a:tcPr marL="45720" marR="45720" marT="45720" marB="45720" anchor="ctr">
                    <a:lnL w="9525" cap="flat" cmpd="sng" algn="ctr">
                      <a:solidFill>
                        <a:srgbClr val="9DB0C6"/>
                      </a:solidFill>
                      <a:prstDash val="solid"/>
                      <a:round/>
                      <a:headEnd type="none" w="med" len="med"/>
                      <a:tailEnd type="none" w="med" len="med"/>
                    </a:lnL>
                    <a:lnR w="9525" cap="flat" cmpd="sng" algn="ctr">
                      <a:solidFill>
                        <a:srgbClr val="9DB0C6"/>
                      </a:solidFill>
                      <a:prstDash val="solid"/>
                      <a:round/>
                      <a:headEnd type="none" w="med" len="med"/>
                      <a:tailEnd type="none" w="med" len="med"/>
                    </a:lnR>
                    <a:lnT w="9525" cap="flat" cmpd="sng" algn="ctr">
                      <a:solidFill>
                        <a:srgbClr val="9DB0C6"/>
                      </a:solidFill>
                      <a:prstDash val="solid"/>
                      <a:round/>
                      <a:headEnd type="none" w="med" len="med"/>
                      <a:tailEnd type="none" w="med" len="med"/>
                    </a:lnT>
                    <a:lnB w="9525" cap="flat" cmpd="sng" algn="ctr">
                      <a:solidFill>
                        <a:srgbClr val="9DB0C6"/>
                      </a:solidFill>
                      <a:prstDash val="solid"/>
                      <a:round/>
                      <a:headEnd type="none" w="med" len="med"/>
                      <a:tailEnd type="none" w="med" len="med"/>
                    </a:lnB>
                    <a:solidFill>
                      <a:schemeClr val="tx2"/>
                    </a:solidFill>
                  </a:tcPr>
                </a:tc>
              </a:tr>
              <a:tr h="384048">
                <a:tc>
                  <a:txBody>
                    <a:bodyPr/>
                    <a:lstStyle/>
                    <a:p>
                      <a:pPr indent="0" marL="0">
                        <a:buNone/>
                      </a:pPr>
                      <a:r>
                        <a:rPr lang="en-US" sz="1400" b="1" dirty="0">
                          <a:solidFill>
                            <a:schemeClr val="tx1"/>
                          </a:solidFill>
                        </a:rPr>
                        <a:t>MONK 1</a:t>
                      </a:r>
                      <a:endParaRPr lang="en-US" sz="1400" dirty="0"/>
                    </a:p>
                  </a:txBody>
                  <a:tcPr marL="45720" marR="45720" marT="45720" marB="45720" anchor="ctr">
                    <a:lnL w="9525" cap="flat" cmpd="sng" algn="ctr">
                      <a:solidFill>
                        <a:srgbClr val="9DB0C6"/>
                      </a:solidFill>
                      <a:prstDash val="solid"/>
                      <a:round/>
                      <a:headEnd type="none" w="med" len="med"/>
                      <a:tailEnd type="none" w="med" len="med"/>
                    </a:lnL>
                    <a:lnR w="9525" cap="flat" cmpd="sng" algn="ctr">
                      <a:solidFill>
                        <a:srgbClr val="9DB0C6"/>
                      </a:solidFill>
                      <a:prstDash val="solid"/>
                      <a:round/>
                      <a:headEnd type="none" w="med" len="med"/>
                      <a:tailEnd type="none" w="med" len="med"/>
                    </a:lnR>
                    <a:lnT w="9525" cap="flat" cmpd="sng" algn="ctr">
                      <a:solidFill>
                        <a:srgbClr val="9DB0C6"/>
                      </a:solidFill>
                      <a:prstDash val="solid"/>
                      <a:round/>
                      <a:headEnd type="none" w="med" len="med"/>
                      <a:tailEnd type="none" w="med" len="med"/>
                    </a:lnT>
                    <a:lnB w="9525" cap="flat" cmpd="sng" algn="ctr">
                      <a:solidFill>
                        <a:srgbClr val="9DB0C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4, η 0.7, batch, 1400 ep</a:t>
                      </a:r>
                      <a:endParaRPr lang="en-US" sz="1400" dirty="0"/>
                    </a:p>
                  </a:txBody>
                  <a:tcPr marL="45720" marR="45720" marT="45720" marB="45720" anchor="ctr">
                    <a:lnL w="9525" cap="flat" cmpd="sng" algn="ctr">
                      <a:solidFill>
                        <a:srgbClr val="9DB0C6"/>
                      </a:solidFill>
                      <a:prstDash val="solid"/>
                      <a:round/>
                      <a:headEnd type="none" w="med" len="med"/>
                      <a:tailEnd type="none" w="med" len="med"/>
                    </a:lnL>
                    <a:lnR w="9525" cap="flat" cmpd="sng" algn="ctr">
                      <a:solidFill>
                        <a:srgbClr val="9DB0C6"/>
                      </a:solidFill>
                      <a:prstDash val="solid"/>
                      <a:round/>
                      <a:headEnd type="none" w="med" len="med"/>
                      <a:tailEnd type="none" w="med" len="med"/>
                    </a:lnR>
                    <a:lnT w="9525" cap="flat" cmpd="sng" algn="ctr">
                      <a:solidFill>
                        <a:srgbClr val="9DB0C6"/>
                      </a:solidFill>
                      <a:prstDash val="solid"/>
                      <a:round/>
                      <a:headEnd type="none" w="med" len="med"/>
                      <a:tailEnd type="none" w="med" len="med"/>
                    </a:lnT>
                    <a:lnB w="9525" cap="flat" cmpd="sng" algn="ctr">
                      <a:solidFill>
                        <a:srgbClr val="9DB0C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0.005 ± 0.015</a:t>
                      </a:r>
                      <a:endParaRPr lang="en-US" sz="1400" dirty="0"/>
                    </a:p>
                  </a:txBody>
                  <a:tcPr marL="45720" marR="45720" marT="45720" marB="45720" anchor="ctr">
                    <a:lnL w="9525" cap="flat" cmpd="sng" algn="ctr">
                      <a:solidFill>
                        <a:srgbClr val="9DB0C6"/>
                      </a:solidFill>
                      <a:prstDash val="solid"/>
                      <a:round/>
                      <a:headEnd type="none" w="med" len="med"/>
                      <a:tailEnd type="none" w="med" len="med"/>
                    </a:lnL>
                    <a:lnR w="9525" cap="flat" cmpd="sng" algn="ctr">
                      <a:solidFill>
                        <a:srgbClr val="9DB0C6"/>
                      </a:solidFill>
                      <a:prstDash val="solid"/>
                      <a:round/>
                      <a:headEnd type="none" w="med" len="med"/>
                      <a:tailEnd type="none" w="med" len="med"/>
                    </a:lnR>
                    <a:lnT w="9525" cap="flat" cmpd="sng" algn="ctr">
                      <a:solidFill>
                        <a:srgbClr val="9DB0C6"/>
                      </a:solidFill>
                      <a:prstDash val="solid"/>
                      <a:round/>
                      <a:headEnd type="none" w="med" len="med"/>
                      <a:tailEnd type="none" w="med" len="med"/>
                    </a:lnT>
                    <a:lnB w="9525" cap="flat" cmpd="sng" algn="ctr">
                      <a:solidFill>
                        <a:srgbClr val="9DB0C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0.009 ± 0.019</a:t>
                      </a:r>
                      <a:endParaRPr lang="en-US" sz="1400" dirty="0"/>
                    </a:p>
                  </a:txBody>
                  <a:tcPr marL="45720" marR="45720" marT="45720" marB="45720" anchor="ctr">
                    <a:lnL w="9525" cap="flat" cmpd="sng" algn="ctr">
                      <a:solidFill>
                        <a:srgbClr val="9DB0C6"/>
                      </a:solidFill>
                      <a:prstDash val="solid"/>
                      <a:round/>
                      <a:headEnd type="none" w="med" len="med"/>
                      <a:tailEnd type="none" w="med" len="med"/>
                    </a:lnL>
                    <a:lnR w="9525" cap="flat" cmpd="sng" algn="ctr">
                      <a:solidFill>
                        <a:srgbClr val="9DB0C6"/>
                      </a:solidFill>
                      <a:prstDash val="solid"/>
                      <a:round/>
                      <a:headEnd type="none" w="med" len="med"/>
                      <a:tailEnd type="none" w="med" len="med"/>
                    </a:lnR>
                    <a:lnT w="9525" cap="flat" cmpd="sng" algn="ctr">
                      <a:solidFill>
                        <a:srgbClr val="9DB0C6"/>
                      </a:solidFill>
                      <a:prstDash val="solid"/>
                      <a:round/>
                      <a:headEnd type="none" w="med" len="med"/>
                      <a:tailEnd type="none" w="med" len="med"/>
                    </a:lnT>
                    <a:lnB w="9525" cap="flat" cmpd="sng" algn="ctr">
                      <a:solidFill>
                        <a:srgbClr val="9DB0C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99.6 ± 1.5</a:t>
                      </a:r>
                      <a:endParaRPr lang="en-US" sz="1400" dirty="0"/>
                    </a:p>
                  </a:txBody>
                  <a:tcPr marL="45720" marR="45720" marT="45720" marB="45720" anchor="ctr">
                    <a:lnL w="9525" cap="flat" cmpd="sng" algn="ctr">
                      <a:solidFill>
                        <a:srgbClr val="9DB0C6"/>
                      </a:solidFill>
                      <a:prstDash val="solid"/>
                      <a:round/>
                      <a:headEnd type="none" w="med" len="med"/>
                      <a:tailEnd type="none" w="med" len="med"/>
                    </a:lnL>
                    <a:lnR w="9525" cap="flat" cmpd="sng" algn="ctr">
                      <a:solidFill>
                        <a:srgbClr val="9DB0C6"/>
                      </a:solidFill>
                      <a:prstDash val="solid"/>
                      <a:round/>
                      <a:headEnd type="none" w="med" len="med"/>
                      <a:tailEnd type="none" w="med" len="med"/>
                    </a:lnR>
                    <a:lnT w="9525" cap="flat" cmpd="sng" algn="ctr">
                      <a:solidFill>
                        <a:srgbClr val="9DB0C6"/>
                      </a:solidFill>
                      <a:prstDash val="solid"/>
                      <a:round/>
                      <a:headEnd type="none" w="med" len="med"/>
                      <a:tailEnd type="none" w="med" len="med"/>
                    </a:lnT>
                    <a:lnB w="9525" cap="flat" cmpd="sng" algn="ctr">
                      <a:solidFill>
                        <a:srgbClr val="9DB0C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99.3 ± 2.0</a:t>
                      </a:r>
                      <a:endParaRPr lang="en-US" sz="1400" dirty="0"/>
                    </a:p>
                  </a:txBody>
                  <a:tcPr marL="45720" marR="45720" marT="45720" marB="45720" anchor="ctr">
                    <a:lnL w="9525" cap="flat" cmpd="sng" algn="ctr">
                      <a:solidFill>
                        <a:srgbClr val="9DB0C6"/>
                      </a:solidFill>
                      <a:prstDash val="solid"/>
                      <a:round/>
                      <a:headEnd type="none" w="med" len="med"/>
                      <a:tailEnd type="none" w="med" len="med"/>
                    </a:lnL>
                    <a:lnR w="9525" cap="flat" cmpd="sng" algn="ctr">
                      <a:solidFill>
                        <a:srgbClr val="9DB0C6"/>
                      </a:solidFill>
                      <a:prstDash val="solid"/>
                      <a:round/>
                      <a:headEnd type="none" w="med" len="med"/>
                      <a:tailEnd type="none" w="med" len="med"/>
                    </a:lnR>
                    <a:lnT w="9525" cap="flat" cmpd="sng" algn="ctr">
                      <a:solidFill>
                        <a:srgbClr val="9DB0C6"/>
                      </a:solidFill>
                      <a:prstDash val="solid"/>
                      <a:round/>
                      <a:headEnd type="none" w="med" len="med"/>
                      <a:tailEnd type="none" w="med" len="med"/>
                    </a:lnT>
                    <a:lnB w="9525" cap="flat" cmpd="sng" algn="ctr">
                      <a:solidFill>
                        <a:srgbClr val="9DB0C6"/>
                      </a:solidFill>
                      <a:prstDash val="solid"/>
                      <a:round/>
                      <a:headEnd type="none" w="med" len="med"/>
                      <a:tailEnd type="none" w="med" len="med"/>
                    </a:lnB>
                    <a:solidFill>
                      <a:schemeClr val="bg1"/>
                    </a:solidFill>
                  </a:tcPr>
                </a:tc>
              </a:tr>
              <a:tr h="384048">
                <a:tc>
                  <a:txBody>
                    <a:bodyPr/>
                    <a:lstStyle/>
                    <a:p>
                      <a:pPr indent="0" marL="0">
                        <a:buNone/>
                      </a:pPr>
                      <a:r>
                        <a:rPr lang="en-US" sz="1400" b="1" dirty="0">
                          <a:solidFill>
                            <a:schemeClr val="tx1"/>
                          </a:solidFill>
                        </a:rPr>
                        <a:t>MONK 2</a:t>
                      </a:r>
                      <a:endParaRPr lang="en-US" sz="1400" dirty="0"/>
                    </a:p>
                  </a:txBody>
                  <a:tcPr marL="45720" marR="45720" marT="45720" marB="45720" anchor="ctr">
                    <a:lnL w="9525" cap="flat" cmpd="sng" algn="ctr">
                      <a:solidFill>
                        <a:srgbClr val="9DB0C6"/>
                      </a:solidFill>
                      <a:prstDash val="solid"/>
                      <a:round/>
                      <a:headEnd type="none" w="med" len="med"/>
                      <a:tailEnd type="none" w="med" len="med"/>
                    </a:lnL>
                    <a:lnR w="9525" cap="flat" cmpd="sng" algn="ctr">
                      <a:solidFill>
                        <a:srgbClr val="9DB0C6"/>
                      </a:solidFill>
                      <a:prstDash val="solid"/>
                      <a:round/>
                      <a:headEnd type="none" w="med" len="med"/>
                      <a:tailEnd type="none" w="med" len="med"/>
                    </a:lnR>
                    <a:lnT w="9525" cap="flat" cmpd="sng" algn="ctr">
                      <a:solidFill>
                        <a:srgbClr val="9DB0C6"/>
                      </a:solidFill>
                      <a:prstDash val="solid"/>
                      <a:round/>
                      <a:headEnd type="none" w="med" len="med"/>
                      <a:tailEnd type="none" w="med" len="med"/>
                    </a:lnT>
                    <a:lnB w="9525" cap="flat" cmpd="sng" algn="ctr">
                      <a:solidFill>
                        <a:srgbClr val="9DB0C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4, η 0.08, α 0.9 N, on-line, 71 ep</a:t>
                      </a:r>
                      <a:endParaRPr lang="en-US" sz="1400" dirty="0"/>
                    </a:p>
                  </a:txBody>
                  <a:tcPr marL="45720" marR="45720" marT="45720" marB="45720" anchor="ctr">
                    <a:lnL w="9525" cap="flat" cmpd="sng" algn="ctr">
                      <a:solidFill>
                        <a:srgbClr val="9DB0C6"/>
                      </a:solidFill>
                      <a:prstDash val="solid"/>
                      <a:round/>
                      <a:headEnd type="none" w="med" len="med"/>
                      <a:tailEnd type="none" w="med" len="med"/>
                    </a:lnL>
                    <a:lnR w="9525" cap="flat" cmpd="sng" algn="ctr">
                      <a:solidFill>
                        <a:srgbClr val="9DB0C6"/>
                      </a:solidFill>
                      <a:prstDash val="solid"/>
                      <a:round/>
                      <a:headEnd type="none" w="med" len="med"/>
                      <a:tailEnd type="none" w="med" len="med"/>
                    </a:lnR>
                    <a:lnT w="9525" cap="flat" cmpd="sng" algn="ctr">
                      <a:solidFill>
                        <a:srgbClr val="9DB0C6"/>
                      </a:solidFill>
                      <a:prstDash val="solid"/>
                      <a:round/>
                      <a:headEnd type="none" w="med" len="med"/>
                      <a:tailEnd type="none" w="med" len="med"/>
                    </a:lnT>
                    <a:lnB w="9525" cap="flat" cmpd="sng" algn="ctr">
                      <a:solidFill>
                        <a:srgbClr val="9DB0C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0.002 ± 0.008</a:t>
                      </a:r>
                      <a:endParaRPr lang="en-US" sz="1400" dirty="0"/>
                    </a:p>
                  </a:txBody>
                  <a:tcPr marL="45720" marR="45720" marT="45720" marB="45720" anchor="ctr">
                    <a:lnL w="9525" cap="flat" cmpd="sng" algn="ctr">
                      <a:solidFill>
                        <a:srgbClr val="9DB0C6"/>
                      </a:solidFill>
                      <a:prstDash val="solid"/>
                      <a:round/>
                      <a:headEnd type="none" w="med" len="med"/>
                      <a:tailEnd type="none" w="med" len="med"/>
                    </a:lnL>
                    <a:lnR w="9525" cap="flat" cmpd="sng" algn="ctr">
                      <a:solidFill>
                        <a:srgbClr val="9DB0C6"/>
                      </a:solidFill>
                      <a:prstDash val="solid"/>
                      <a:round/>
                      <a:headEnd type="none" w="med" len="med"/>
                      <a:tailEnd type="none" w="med" len="med"/>
                    </a:lnR>
                    <a:lnT w="9525" cap="flat" cmpd="sng" algn="ctr">
                      <a:solidFill>
                        <a:srgbClr val="9DB0C6"/>
                      </a:solidFill>
                      <a:prstDash val="solid"/>
                      <a:round/>
                      <a:headEnd type="none" w="med" len="med"/>
                      <a:tailEnd type="none" w="med" len="med"/>
                    </a:lnT>
                    <a:lnB w="9525" cap="flat" cmpd="sng" algn="ctr">
                      <a:solidFill>
                        <a:srgbClr val="9DB0C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0.004 ± 0.013</a:t>
                      </a:r>
                      <a:endParaRPr lang="en-US" sz="1400" dirty="0"/>
                    </a:p>
                  </a:txBody>
                  <a:tcPr marL="45720" marR="45720" marT="45720" marB="45720" anchor="ctr">
                    <a:lnL w="9525" cap="flat" cmpd="sng" algn="ctr">
                      <a:solidFill>
                        <a:srgbClr val="9DB0C6"/>
                      </a:solidFill>
                      <a:prstDash val="solid"/>
                      <a:round/>
                      <a:headEnd type="none" w="med" len="med"/>
                      <a:tailEnd type="none" w="med" len="med"/>
                    </a:lnL>
                    <a:lnR w="9525" cap="flat" cmpd="sng" algn="ctr">
                      <a:solidFill>
                        <a:srgbClr val="9DB0C6"/>
                      </a:solidFill>
                      <a:prstDash val="solid"/>
                      <a:round/>
                      <a:headEnd type="none" w="med" len="med"/>
                      <a:tailEnd type="none" w="med" len="med"/>
                    </a:lnR>
                    <a:lnT w="9525" cap="flat" cmpd="sng" algn="ctr">
                      <a:solidFill>
                        <a:srgbClr val="9DB0C6"/>
                      </a:solidFill>
                      <a:prstDash val="solid"/>
                      <a:round/>
                      <a:headEnd type="none" w="med" len="med"/>
                      <a:tailEnd type="none" w="med" len="med"/>
                    </a:lnT>
                    <a:lnB w="9525" cap="flat" cmpd="sng" algn="ctr">
                      <a:solidFill>
                        <a:srgbClr val="9DB0C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99.8 ± 1.0</a:t>
                      </a:r>
                      <a:endParaRPr lang="en-US" sz="1400" dirty="0"/>
                    </a:p>
                  </a:txBody>
                  <a:tcPr marL="45720" marR="45720" marT="45720" marB="45720" anchor="ctr">
                    <a:lnL w="9525" cap="flat" cmpd="sng" algn="ctr">
                      <a:solidFill>
                        <a:srgbClr val="9DB0C6"/>
                      </a:solidFill>
                      <a:prstDash val="solid"/>
                      <a:round/>
                      <a:headEnd type="none" w="med" len="med"/>
                      <a:tailEnd type="none" w="med" len="med"/>
                    </a:lnL>
                    <a:lnR w="9525" cap="flat" cmpd="sng" algn="ctr">
                      <a:solidFill>
                        <a:srgbClr val="9DB0C6"/>
                      </a:solidFill>
                      <a:prstDash val="solid"/>
                      <a:round/>
                      <a:headEnd type="none" w="med" len="med"/>
                      <a:tailEnd type="none" w="med" len="med"/>
                    </a:lnR>
                    <a:lnT w="9525" cap="flat" cmpd="sng" algn="ctr">
                      <a:solidFill>
                        <a:srgbClr val="9DB0C6"/>
                      </a:solidFill>
                      <a:prstDash val="solid"/>
                      <a:round/>
                      <a:headEnd type="none" w="med" len="med"/>
                      <a:tailEnd type="none" w="med" len="med"/>
                    </a:lnT>
                    <a:lnB w="9525" cap="flat" cmpd="sng" algn="ctr">
                      <a:solidFill>
                        <a:srgbClr val="9DB0C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99.6 ± 1.5</a:t>
                      </a:r>
                      <a:endParaRPr lang="en-US" sz="1400" dirty="0"/>
                    </a:p>
                  </a:txBody>
                  <a:tcPr marL="45720" marR="45720" marT="45720" marB="45720" anchor="ctr">
                    <a:lnL w="9525" cap="flat" cmpd="sng" algn="ctr">
                      <a:solidFill>
                        <a:srgbClr val="9DB0C6"/>
                      </a:solidFill>
                      <a:prstDash val="solid"/>
                      <a:round/>
                      <a:headEnd type="none" w="med" len="med"/>
                      <a:tailEnd type="none" w="med" len="med"/>
                    </a:lnL>
                    <a:lnR w="9525" cap="flat" cmpd="sng" algn="ctr">
                      <a:solidFill>
                        <a:srgbClr val="9DB0C6"/>
                      </a:solidFill>
                      <a:prstDash val="solid"/>
                      <a:round/>
                      <a:headEnd type="none" w="med" len="med"/>
                      <a:tailEnd type="none" w="med" len="med"/>
                    </a:lnR>
                    <a:lnT w="9525" cap="flat" cmpd="sng" algn="ctr">
                      <a:solidFill>
                        <a:srgbClr val="9DB0C6"/>
                      </a:solidFill>
                      <a:prstDash val="solid"/>
                      <a:round/>
                      <a:headEnd type="none" w="med" len="med"/>
                      <a:tailEnd type="none" w="med" len="med"/>
                    </a:lnT>
                    <a:lnB w="9525" cap="flat" cmpd="sng" algn="ctr">
                      <a:solidFill>
                        <a:srgbClr val="9DB0C6"/>
                      </a:solidFill>
                      <a:prstDash val="solid"/>
                      <a:round/>
                      <a:headEnd type="none" w="med" len="med"/>
                      <a:tailEnd type="none" w="med" len="med"/>
                    </a:lnB>
                    <a:solidFill>
                      <a:schemeClr val="bg2"/>
                    </a:solidFill>
                  </a:tcPr>
                </a:tc>
              </a:tr>
              <a:tr h="384048">
                <a:tc>
                  <a:txBody>
                    <a:bodyPr/>
                    <a:lstStyle/>
                    <a:p>
                      <a:pPr indent="0" marL="0">
                        <a:buNone/>
                      </a:pPr>
                      <a:r>
                        <a:rPr lang="en-US" sz="1400" b="1" dirty="0">
                          <a:solidFill>
                            <a:schemeClr val="tx1"/>
                          </a:solidFill>
                        </a:rPr>
                        <a:t>MONK 3</a:t>
                      </a:r>
                      <a:endParaRPr lang="en-US" sz="1400" dirty="0"/>
                    </a:p>
                  </a:txBody>
                  <a:tcPr marL="45720" marR="45720" marT="45720" marB="45720" anchor="ctr">
                    <a:lnL w="9525" cap="flat" cmpd="sng" algn="ctr">
                      <a:solidFill>
                        <a:srgbClr val="9DB0C6"/>
                      </a:solidFill>
                      <a:prstDash val="solid"/>
                      <a:round/>
                      <a:headEnd type="none" w="med" len="med"/>
                      <a:tailEnd type="none" w="med" len="med"/>
                    </a:lnL>
                    <a:lnR w="9525" cap="flat" cmpd="sng" algn="ctr">
                      <a:solidFill>
                        <a:srgbClr val="9DB0C6"/>
                      </a:solidFill>
                      <a:prstDash val="solid"/>
                      <a:round/>
                      <a:headEnd type="none" w="med" len="med"/>
                      <a:tailEnd type="none" w="med" len="med"/>
                    </a:lnR>
                    <a:lnT w="9525" cap="flat" cmpd="sng" algn="ctr">
                      <a:solidFill>
                        <a:srgbClr val="9DB0C6"/>
                      </a:solidFill>
                      <a:prstDash val="solid"/>
                      <a:round/>
                      <a:headEnd type="none" w="med" len="med"/>
                      <a:tailEnd type="none" w="med" len="med"/>
                    </a:lnT>
                    <a:lnB w="9525" cap="flat" cmpd="sng" algn="ctr">
                      <a:solidFill>
                        <a:srgbClr val="9DB0C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4, η 0.5, batch, 300 ep</a:t>
                      </a:r>
                      <a:endParaRPr lang="en-US" sz="1400" dirty="0"/>
                    </a:p>
                  </a:txBody>
                  <a:tcPr marL="45720" marR="45720" marT="45720" marB="45720" anchor="ctr">
                    <a:lnL w="9525" cap="flat" cmpd="sng" algn="ctr">
                      <a:solidFill>
                        <a:srgbClr val="9DB0C6"/>
                      </a:solidFill>
                      <a:prstDash val="solid"/>
                      <a:round/>
                      <a:headEnd type="none" w="med" len="med"/>
                      <a:tailEnd type="none" w="med" len="med"/>
                    </a:lnL>
                    <a:lnR w="9525" cap="flat" cmpd="sng" algn="ctr">
                      <a:solidFill>
                        <a:srgbClr val="9DB0C6"/>
                      </a:solidFill>
                      <a:prstDash val="solid"/>
                      <a:round/>
                      <a:headEnd type="none" w="med" len="med"/>
                      <a:tailEnd type="none" w="med" len="med"/>
                    </a:lnR>
                    <a:lnT w="9525" cap="flat" cmpd="sng" algn="ctr">
                      <a:solidFill>
                        <a:srgbClr val="9DB0C6"/>
                      </a:solidFill>
                      <a:prstDash val="solid"/>
                      <a:round/>
                      <a:headEnd type="none" w="med" len="med"/>
                      <a:tailEnd type="none" w="med" len="med"/>
                    </a:lnT>
                    <a:lnB w="9525" cap="flat" cmpd="sng" algn="ctr">
                      <a:solidFill>
                        <a:srgbClr val="9DB0C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0.045 ± 0.002</a:t>
                      </a:r>
                      <a:endParaRPr lang="en-US" sz="1400" dirty="0"/>
                    </a:p>
                  </a:txBody>
                  <a:tcPr marL="45720" marR="45720" marT="45720" marB="45720" anchor="ctr">
                    <a:lnL w="9525" cap="flat" cmpd="sng" algn="ctr">
                      <a:solidFill>
                        <a:srgbClr val="9DB0C6"/>
                      </a:solidFill>
                      <a:prstDash val="solid"/>
                      <a:round/>
                      <a:headEnd type="none" w="med" len="med"/>
                      <a:tailEnd type="none" w="med" len="med"/>
                    </a:lnL>
                    <a:lnR w="9525" cap="flat" cmpd="sng" algn="ctr">
                      <a:solidFill>
                        <a:srgbClr val="9DB0C6"/>
                      </a:solidFill>
                      <a:prstDash val="solid"/>
                      <a:round/>
                      <a:headEnd type="none" w="med" len="med"/>
                      <a:tailEnd type="none" w="med" len="med"/>
                    </a:lnR>
                    <a:lnT w="9525" cap="flat" cmpd="sng" algn="ctr">
                      <a:solidFill>
                        <a:srgbClr val="9DB0C6"/>
                      </a:solidFill>
                      <a:prstDash val="solid"/>
                      <a:round/>
                      <a:headEnd type="none" w="med" len="med"/>
                      <a:tailEnd type="none" w="med" len="med"/>
                    </a:lnT>
                    <a:lnB w="9525" cap="flat" cmpd="sng" algn="ctr">
                      <a:solidFill>
                        <a:srgbClr val="9DB0C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0.042 ± 0.004</a:t>
                      </a:r>
                      <a:endParaRPr lang="en-US" sz="1400" dirty="0"/>
                    </a:p>
                  </a:txBody>
                  <a:tcPr marL="45720" marR="45720" marT="45720" marB="45720" anchor="ctr">
                    <a:lnL w="9525" cap="flat" cmpd="sng" algn="ctr">
                      <a:solidFill>
                        <a:srgbClr val="9DB0C6"/>
                      </a:solidFill>
                      <a:prstDash val="solid"/>
                      <a:round/>
                      <a:headEnd type="none" w="med" len="med"/>
                      <a:tailEnd type="none" w="med" len="med"/>
                    </a:lnL>
                    <a:lnR w="9525" cap="flat" cmpd="sng" algn="ctr">
                      <a:solidFill>
                        <a:srgbClr val="9DB0C6"/>
                      </a:solidFill>
                      <a:prstDash val="solid"/>
                      <a:round/>
                      <a:headEnd type="none" w="med" len="med"/>
                      <a:tailEnd type="none" w="med" len="med"/>
                    </a:lnR>
                    <a:lnT w="9525" cap="flat" cmpd="sng" algn="ctr">
                      <a:solidFill>
                        <a:srgbClr val="9DB0C6"/>
                      </a:solidFill>
                      <a:prstDash val="solid"/>
                      <a:round/>
                      <a:headEnd type="none" w="med" len="med"/>
                      <a:tailEnd type="none" w="med" len="med"/>
                    </a:lnT>
                    <a:lnB w="9525" cap="flat" cmpd="sng" algn="ctr">
                      <a:solidFill>
                        <a:srgbClr val="9DB0C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94.9 ± 0.4</a:t>
                      </a:r>
                      <a:endParaRPr lang="en-US" sz="1400" dirty="0"/>
                    </a:p>
                  </a:txBody>
                  <a:tcPr marL="45720" marR="45720" marT="45720" marB="45720" anchor="ctr">
                    <a:lnL w="9525" cap="flat" cmpd="sng" algn="ctr">
                      <a:solidFill>
                        <a:srgbClr val="9DB0C6"/>
                      </a:solidFill>
                      <a:prstDash val="solid"/>
                      <a:round/>
                      <a:headEnd type="none" w="med" len="med"/>
                      <a:tailEnd type="none" w="med" len="med"/>
                    </a:lnL>
                    <a:lnR w="9525" cap="flat" cmpd="sng" algn="ctr">
                      <a:solidFill>
                        <a:srgbClr val="9DB0C6"/>
                      </a:solidFill>
                      <a:prstDash val="solid"/>
                      <a:round/>
                      <a:headEnd type="none" w="med" len="med"/>
                      <a:tailEnd type="none" w="med" len="med"/>
                    </a:lnR>
                    <a:lnT w="9525" cap="flat" cmpd="sng" algn="ctr">
                      <a:solidFill>
                        <a:srgbClr val="9DB0C6"/>
                      </a:solidFill>
                      <a:prstDash val="solid"/>
                      <a:round/>
                      <a:headEnd type="none" w="med" len="med"/>
                      <a:tailEnd type="none" w="med" len="med"/>
                    </a:lnT>
                    <a:lnB w="9525" cap="flat" cmpd="sng" algn="ctr">
                      <a:solidFill>
                        <a:srgbClr val="9DB0C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95.8 ± 0.5</a:t>
                      </a:r>
                      <a:endParaRPr lang="en-US" sz="1400" dirty="0"/>
                    </a:p>
                  </a:txBody>
                  <a:tcPr marL="45720" marR="45720" marT="45720" marB="45720" anchor="ctr">
                    <a:lnL w="9525" cap="flat" cmpd="sng" algn="ctr">
                      <a:solidFill>
                        <a:srgbClr val="9DB0C6"/>
                      </a:solidFill>
                      <a:prstDash val="solid"/>
                      <a:round/>
                      <a:headEnd type="none" w="med" len="med"/>
                      <a:tailEnd type="none" w="med" len="med"/>
                    </a:lnL>
                    <a:lnR w="9525" cap="flat" cmpd="sng" algn="ctr">
                      <a:solidFill>
                        <a:srgbClr val="9DB0C6"/>
                      </a:solidFill>
                      <a:prstDash val="solid"/>
                      <a:round/>
                      <a:headEnd type="none" w="med" len="med"/>
                      <a:tailEnd type="none" w="med" len="med"/>
                    </a:lnR>
                    <a:lnT w="9525" cap="flat" cmpd="sng" algn="ctr">
                      <a:solidFill>
                        <a:srgbClr val="9DB0C6"/>
                      </a:solidFill>
                      <a:prstDash val="solid"/>
                      <a:round/>
                      <a:headEnd type="none" w="med" len="med"/>
                      <a:tailEnd type="none" w="med" len="med"/>
                    </a:lnT>
                    <a:lnB w="9525" cap="flat" cmpd="sng" algn="ctr">
                      <a:solidFill>
                        <a:srgbClr val="9DB0C6"/>
                      </a:solidFill>
                      <a:prstDash val="solid"/>
                      <a:round/>
                      <a:headEnd type="none" w="med" len="med"/>
                      <a:tailEnd type="none" w="med" len="med"/>
                    </a:lnB>
                    <a:solidFill>
                      <a:schemeClr val="bg1"/>
                    </a:solidFill>
                  </a:tcPr>
                </a:tc>
              </a:tr>
              <a:tr h="384048">
                <a:tc>
                  <a:txBody>
                    <a:bodyPr/>
                    <a:lstStyle/>
                    <a:p>
                      <a:pPr indent="0" marL="0">
                        <a:buNone/>
                      </a:pPr>
                      <a:r>
                        <a:rPr lang="en-US" sz="1400" b="1" dirty="0">
                          <a:solidFill>
                            <a:schemeClr val="tx1"/>
                          </a:solidFill>
                        </a:rPr>
                        <a:t>MONK 3 (reg.)</a:t>
                      </a:r>
                      <a:endParaRPr lang="en-US" sz="1400" dirty="0"/>
                    </a:p>
                  </a:txBody>
                  <a:tcPr marL="45720" marR="45720" marT="45720" marB="45720" anchor="ctr">
                    <a:lnL w="9525" cap="flat" cmpd="sng" algn="ctr">
                      <a:solidFill>
                        <a:srgbClr val="9DB0C6"/>
                      </a:solidFill>
                      <a:prstDash val="solid"/>
                      <a:round/>
                      <a:headEnd type="none" w="med" len="med"/>
                      <a:tailEnd type="none" w="med" len="med"/>
                    </a:lnL>
                    <a:lnR w="9525" cap="flat" cmpd="sng" algn="ctr">
                      <a:solidFill>
                        <a:srgbClr val="9DB0C6"/>
                      </a:solidFill>
                      <a:prstDash val="solid"/>
                      <a:round/>
                      <a:headEnd type="none" w="med" len="med"/>
                      <a:tailEnd type="none" w="med" len="med"/>
                    </a:lnR>
                    <a:lnT w="9525" cap="flat" cmpd="sng" algn="ctr">
                      <a:solidFill>
                        <a:srgbClr val="9DB0C6"/>
                      </a:solidFill>
                      <a:prstDash val="solid"/>
                      <a:round/>
                      <a:headEnd type="none" w="med" len="med"/>
                      <a:tailEnd type="none" w="med" len="med"/>
                    </a:lnT>
                    <a:lnB w="9525" cap="flat" cmpd="sng" algn="ctr">
                      <a:solidFill>
                        <a:srgbClr val="9DB0C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4, η 0.7, α 0.9, λ 0.01, batch, CV stop</a:t>
                      </a:r>
                      <a:endParaRPr lang="en-US" sz="1400" dirty="0"/>
                    </a:p>
                  </a:txBody>
                  <a:tcPr marL="45720" marR="45720" marT="45720" marB="45720" anchor="ctr">
                    <a:lnL w="9525" cap="flat" cmpd="sng" algn="ctr">
                      <a:solidFill>
                        <a:srgbClr val="9DB0C6"/>
                      </a:solidFill>
                      <a:prstDash val="solid"/>
                      <a:round/>
                      <a:headEnd type="none" w="med" len="med"/>
                      <a:tailEnd type="none" w="med" len="med"/>
                    </a:lnL>
                    <a:lnR w="9525" cap="flat" cmpd="sng" algn="ctr">
                      <a:solidFill>
                        <a:srgbClr val="9DB0C6"/>
                      </a:solidFill>
                      <a:prstDash val="solid"/>
                      <a:round/>
                      <a:headEnd type="none" w="med" len="med"/>
                      <a:tailEnd type="none" w="med" len="med"/>
                    </a:lnR>
                    <a:lnT w="9525" cap="flat" cmpd="sng" algn="ctr">
                      <a:solidFill>
                        <a:srgbClr val="9DB0C6"/>
                      </a:solidFill>
                      <a:prstDash val="solid"/>
                      <a:round/>
                      <a:headEnd type="none" w="med" len="med"/>
                      <a:tailEnd type="none" w="med" len="med"/>
                    </a:lnT>
                    <a:lnB w="9525" cap="flat" cmpd="sng" algn="ctr">
                      <a:solidFill>
                        <a:srgbClr val="9DB0C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0.069 ± 0.006</a:t>
                      </a:r>
                      <a:endParaRPr lang="en-US" sz="1400" dirty="0"/>
                    </a:p>
                  </a:txBody>
                  <a:tcPr marL="45720" marR="45720" marT="45720" marB="45720" anchor="ctr">
                    <a:lnL w="9525" cap="flat" cmpd="sng" algn="ctr">
                      <a:solidFill>
                        <a:srgbClr val="9DB0C6"/>
                      </a:solidFill>
                      <a:prstDash val="solid"/>
                      <a:round/>
                      <a:headEnd type="none" w="med" len="med"/>
                      <a:tailEnd type="none" w="med" len="med"/>
                    </a:lnL>
                    <a:lnR w="9525" cap="flat" cmpd="sng" algn="ctr">
                      <a:solidFill>
                        <a:srgbClr val="9DB0C6"/>
                      </a:solidFill>
                      <a:prstDash val="solid"/>
                      <a:round/>
                      <a:headEnd type="none" w="med" len="med"/>
                      <a:tailEnd type="none" w="med" len="med"/>
                    </a:lnR>
                    <a:lnT w="9525" cap="flat" cmpd="sng" algn="ctr">
                      <a:solidFill>
                        <a:srgbClr val="9DB0C6"/>
                      </a:solidFill>
                      <a:prstDash val="solid"/>
                      <a:round/>
                      <a:headEnd type="none" w="med" len="med"/>
                      <a:tailEnd type="none" w="med" len="med"/>
                    </a:lnT>
                    <a:lnB w="9525" cap="flat" cmpd="sng" algn="ctr">
                      <a:solidFill>
                        <a:srgbClr val="9DB0C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0.055 ± 0.007</a:t>
                      </a:r>
                      <a:endParaRPr lang="en-US" sz="1400" dirty="0"/>
                    </a:p>
                  </a:txBody>
                  <a:tcPr marL="45720" marR="45720" marT="45720" marB="45720" anchor="ctr">
                    <a:lnL w="9525" cap="flat" cmpd="sng" algn="ctr">
                      <a:solidFill>
                        <a:srgbClr val="9DB0C6"/>
                      </a:solidFill>
                      <a:prstDash val="solid"/>
                      <a:round/>
                      <a:headEnd type="none" w="med" len="med"/>
                      <a:tailEnd type="none" w="med" len="med"/>
                    </a:lnL>
                    <a:lnR w="9525" cap="flat" cmpd="sng" algn="ctr">
                      <a:solidFill>
                        <a:srgbClr val="9DB0C6"/>
                      </a:solidFill>
                      <a:prstDash val="solid"/>
                      <a:round/>
                      <a:headEnd type="none" w="med" len="med"/>
                      <a:tailEnd type="none" w="med" len="med"/>
                    </a:lnR>
                    <a:lnT w="9525" cap="flat" cmpd="sng" algn="ctr">
                      <a:solidFill>
                        <a:srgbClr val="9DB0C6"/>
                      </a:solidFill>
                      <a:prstDash val="solid"/>
                      <a:round/>
                      <a:headEnd type="none" w="med" len="med"/>
                      <a:tailEnd type="none" w="med" len="med"/>
                    </a:lnT>
                    <a:lnB w="9525" cap="flat" cmpd="sng" algn="ctr">
                      <a:solidFill>
                        <a:srgbClr val="9DB0C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93.4 ± 0.2</a:t>
                      </a:r>
                      <a:endParaRPr lang="en-US" sz="1400" dirty="0"/>
                    </a:p>
                  </a:txBody>
                  <a:tcPr marL="45720" marR="45720" marT="45720" marB="45720" anchor="ctr">
                    <a:lnL w="9525" cap="flat" cmpd="sng" algn="ctr">
                      <a:solidFill>
                        <a:srgbClr val="9DB0C6"/>
                      </a:solidFill>
                      <a:prstDash val="solid"/>
                      <a:round/>
                      <a:headEnd type="none" w="med" len="med"/>
                      <a:tailEnd type="none" w="med" len="med"/>
                    </a:lnL>
                    <a:lnR w="9525" cap="flat" cmpd="sng" algn="ctr">
                      <a:solidFill>
                        <a:srgbClr val="9DB0C6"/>
                      </a:solidFill>
                      <a:prstDash val="solid"/>
                      <a:round/>
                      <a:headEnd type="none" w="med" len="med"/>
                      <a:tailEnd type="none" w="med" len="med"/>
                    </a:lnR>
                    <a:lnT w="9525" cap="flat" cmpd="sng" algn="ctr">
                      <a:solidFill>
                        <a:srgbClr val="9DB0C6"/>
                      </a:solidFill>
                      <a:prstDash val="solid"/>
                      <a:round/>
                      <a:headEnd type="none" w="med" len="med"/>
                      <a:tailEnd type="none" w="med" len="med"/>
                    </a:lnT>
                    <a:lnB w="9525" cap="flat" cmpd="sng" algn="ctr">
                      <a:solidFill>
                        <a:srgbClr val="9DB0C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97.1 ± 0.3</a:t>
                      </a:r>
                      <a:endParaRPr lang="en-US" sz="1400" dirty="0"/>
                    </a:p>
                  </a:txBody>
                  <a:tcPr marL="45720" marR="45720" marT="45720" marB="45720" anchor="ctr">
                    <a:lnL w="9525" cap="flat" cmpd="sng" algn="ctr">
                      <a:solidFill>
                        <a:srgbClr val="9DB0C6"/>
                      </a:solidFill>
                      <a:prstDash val="solid"/>
                      <a:round/>
                      <a:headEnd type="none" w="med" len="med"/>
                      <a:tailEnd type="none" w="med" len="med"/>
                    </a:lnL>
                    <a:lnR w="9525" cap="flat" cmpd="sng" algn="ctr">
                      <a:solidFill>
                        <a:srgbClr val="9DB0C6"/>
                      </a:solidFill>
                      <a:prstDash val="solid"/>
                      <a:round/>
                      <a:headEnd type="none" w="med" len="med"/>
                      <a:tailEnd type="none" w="med" len="med"/>
                    </a:lnR>
                    <a:lnT w="9525" cap="flat" cmpd="sng" algn="ctr">
                      <a:solidFill>
                        <a:srgbClr val="9DB0C6"/>
                      </a:solidFill>
                      <a:prstDash val="solid"/>
                      <a:round/>
                      <a:headEnd type="none" w="med" len="med"/>
                      <a:tailEnd type="none" w="med" len="med"/>
                    </a:lnT>
                    <a:lnB w="9525" cap="flat" cmpd="sng" algn="ctr">
                      <a:solidFill>
                        <a:srgbClr val="9DB0C6"/>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8138160" y="4736592"/>
            <a:ext cx="548640" cy="274320"/>
          </a:xfrm>
          <a:prstGeom prst="rect">
            <a:avLst/>
          </a:prstGeom>
          <a:extLst>
            <a:ext uri="{C572A759-6A51-4108-AA02-DFA0A04FC94B}">
              <ma14:wrappingTextBoxFlag xmlns:ma14="http://schemas.microsoft.com/office/mac/drawingml/2011/main" val="0"/>
            </a:ext>
          </a:extLst>
        </p:spPr>
        <p:txBody>
          <a:bodyPr/>
          <a:lstStyle>
            <a:lvl1pPr>
              <a:defRPr sz="1400">
                <a:solidFill>
                  <a:srgbClr val="5A6F8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594360"/>
          </a:xfrm>
          <a:prstGeom prst="rect">
            <a:avLst/>
          </a:prstGeom>
          <a:noFill/>
          <a:ln/>
        </p:spPr>
        <p:txBody>
          <a:bodyPr wrap="square" lIns="0" tIns="0" rIns="0" bIns="0" rtlCol="0" anchor="ctr"/>
          <a:lstStyle/>
          <a:p>
            <a:pPr indent="0" marL="0">
              <a:buNone/>
            </a:pPr>
            <a:r>
              <a:rPr lang="en-US" sz="2600" b="1" dirty="0">
                <a:solidFill>
                  <a:schemeClr val="tx2"/>
                </a:solidFill>
              </a:rPr>
              <a:t>MONK learning curves (1/2)</a:t>
            </a:r>
            <a:endParaRPr lang="en-US" sz="2600" dirty="0"/>
          </a:p>
        </p:txBody>
      </p:sp>
      <p:pic>
        <p:nvPicPr>
          <p:cNvPr id="3" name="Image 0" descr="MONK 1 learning curves: MSE and accuracy">    </p:cNvPr>
          <p:cNvPicPr>
            <a:picLocks noChangeAspect="1"/>
          </p:cNvPicPr>
          <p:nvPr/>
        </p:nvPicPr>
        <p:blipFill>
          <a:blip r:embed="rId1"/>
          <a:stretch>
            <a:fillRect/>
          </a:stretch>
        </p:blipFill>
        <p:spPr>
          <a:xfrm>
            <a:off x="457200" y="960120"/>
            <a:ext cx="5120640" cy="1691363"/>
          </a:xfrm>
          <a:prstGeom prst="rect">
            <a:avLst/>
          </a:prstGeom>
        </p:spPr>
      </p:pic>
      <p:sp>
        <p:nvSpPr>
          <p:cNvPr id="4" name="Text 1"/>
          <p:cNvSpPr txBox="1"/>
          <p:nvPr/>
        </p:nvSpPr>
        <p:spPr>
          <a:xfrm>
            <a:off x="5806440" y="960120"/>
            <a:ext cx="2880360" cy="1691363"/>
          </a:xfrm>
          <a:prstGeom prst="rect">
            <a:avLst/>
          </a:prstGeom>
          <a:noFill/>
          <a:ln/>
        </p:spPr>
        <p:txBody>
          <a:bodyPr wrap="square" lIns="635" tIns="635" rIns="635" bIns="635" rtlCol="0" anchor="ctr"/>
          <a:lstStyle/>
          <a:p>
            <a:pPr indent="0" marL="0">
              <a:spcAft>
                <a:spcPts val="400"/>
              </a:spcAft>
              <a:buNone/>
            </a:pPr>
            <a:r>
              <a:rPr lang="en-US" sz="1600" b="1" dirty="0">
                <a:solidFill>
                  <a:schemeClr val="tx2"/>
                </a:solidFill>
              </a:rPr>
              <a:t>MONK 1</a:t>
            </a:r>
            <a:endParaRPr lang="en-US" sz="1400" dirty="0"/>
          </a:p>
          <a:p>
            <a:pPr indent="0" marL="0">
              <a:spcAft>
                <a:spcPts val="600"/>
              </a:spcAft>
              <a:buNone/>
            </a:pPr>
            <a:r>
              <a:rPr lang="en-US" sz="1400" dirty="0">
                <a:solidFill>
                  <a:schemeClr val="tx1"/>
                </a:solidFill>
              </a:rPr>
              <a:t>TS accuracy 99.3 ± 2.0%; 100% in 37 of 50 trials</a:t>
            </a:r>
            <a:endParaRPr lang="en-US" sz="1400" dirty="0"/>
          </a:p>
          <a:p>
            <a:pPr indent="0" marL="0">
              <a:buNone/>
            </a:pPr>
            <a:r>
              <a:rPr lang="en-US" sz="1400" i="1" dirty="0">
                <a:solidFill>
                  <a:schemeClr val="accent3"/>
                </a:solidFill>
              </a:rPr>
              <a:t>Fig. 1. Trial with median TS accuracy.</a:t>
            </a:r>
            <a:endParaRPr lang="en-US" sz="1400" dirty="0"/>
          </a:p>
        </p:txBody>
      </p:sp>
      <p:pic>
        <p:nvPicPr>
          <p:cNvPr id="5" name="Image 1" descr="MONK 2 learning curves: MSE and accuracy">    </p:cNvPr>
          <p:cNvPicPr>
            <a:picLocks noChangeAspect="1"/>
          </p:cNvPicPr>
          <p:nvPr/>
        </p:nvPicPr>
        <p:blipFill>
          <a:blip r:embed="rId2"/>
          <a:stretch>
            <a:fillRect/>
          </a:stretch>
        </p:blipFill>
        <p:spPr>
          <a:xfrm>
            <a:off x="457200" y="2834640"/>
            <a:ext cx="5120640" cy="1691363"/>
          </a:xfrm>
          <a:prstGeom prst="rect">
            <a:avLst/>
          </a:prstGeom>
        </p:spPr>
      </p:pic>
      <p:sp>
        <p:nvSpPr>
          <p:cNvPr id="6" name="Text 2"/>
          <p:cNvSpPr txBox="1"/>
          <p:nvPr/>
        </p:nvSpPr>
        <p:spPr>
          <a:xfrm>
            <a:off x="5806440" y="2834640"/>
            <a:ext cx="2880360" cy="1691363"/>
          </a:xfrm>
          <a:prstGeom prst="rect">
            <a:avLst/>
          </a:prstGeom>
          <a:noFill/>
          <a:ln/>
        </p:spPr>
        <p:txBody>
          <a:bodyPr wrap="square" lIns="635" tIns="635" rIns="635" bIns="635" rtlCol="0" anchor="ctr"/>
          <a:lstStyle/>
          <a:p>
            <a:pPr indent="0" marL="0">
              <a:spcAft>
                <a:spcPts val="400"/>
              </a:spcAft>
              <a:buNone/>
            </a:pPr>
            <a:r>
              <a:rPr lang="en-US" sz="1600" b="1" dirty="0">
                <a:solidFill>
                  <a:schemeClr val="tx2"/>
                </a:solidFill>
              </a:rPr>
              <a:t>MONK 2</a:t>
            </a:r>
            <a:endParaRPr lang="en-US" sz="1400" dirty="0"/>
          </a:p>
          <a:p>
            <a:pPr indent="0" marL="0">
              <a:spcAft>
                <a:spcPts val="600"/>
              </a:spcAft>
              <a:buNone/>
            </a:pPr>
            <a:r>
              <a:rPr lang="en-US" sz="1400" dirty="0">
                <a:solidFill>
                  <a:schemeClr val="tx1"/>
                </a:solidFill>
              </a:rPr>
              <a:t>TS accuracy 99.6 ± 1.5%; 100% in 44 of 50 trials</a:t>
            </a:r>
            <a:endParaRPr lang="en-US" sz="1400" dirty="0"/>
          </a:p>
          <a:p>
            <a:pPr indent="0" marL="0">
              <a:buNone/>
            </a:pPr>
            <a:r>
              <a:rPr lang="en-US" sz="1400" i="1" dirty="0">
                <a:solidFill>
                  <a:schemeClr val="accent3"/>
                </a:solidFill>
              </a:rPr>
              <a:t>Fig. 2. Trial with median TS accuracy.</a:t>
            </a:r>
            <a:endParaRPr lang="en-US" sz="1400" dirty="0"/>
          </a:p>
        </p:txBody>
      </p:sp>
      <p:sp>
        <p:nvSpPr>
          <p:cNvPr id="25" name="Slide Number Placeholder 0"/>
          <p:cNvSpPr>
            <a:spLocks noGrp="1"/>
          </p:cNvSpPr>
          <p:nvPr>
            <p:ph type="sldNum" sz="quarter" idx="4294967295"/>
          </p:nvPr>
        </p:nvSpPr>
        <p:spPr>
          <a:xfrm>
            <a:off x="8138160" y="4736592"/>
            <a:ext cx="548640" cy="274320"/>
          </a:xfrm>
          <a:prstGeom prst="rect">
            <a:avLst/>
          </a:prstGeom>
          <a:extLst>
            <a:ext uri="{C572A759-6A51-4108-AA02-DFA0A04FC94B}">
              <ma14:wrappingTextBoxFlag xmlns:ma14="http://schemas.microsoft.com/office/mac/drawingml/2011/main" val="0"/>
            </a:ext>
          </a:extLst>
        </p:spPr>
        <p:txBody>
          <a:bodyPr/>
          <a:lstStyle>
            <a:lvl1pPr>
              <a:defRPr sz="1400">
                <a:solidFill>
                  <a:srgbClr val="5A6F8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594360"/>
          </a:xfrm>
          <a:prstGeom prst="rect">
            <a:avLst/>
          </a:prstGeom>
          <a:noFill/>
          <a:ln/>
        </p:spPr>
        <p:txBody>
          <a:bodyPr wrap="square" lIns="0" tIns="0" rIns="0" bIns="0" rtlCol="0" anchor="ctr"/>
          <a:lstStyle/>
          <a:p>
            <a:pPr indent="0" marL="0">
              <a:buNone/>
            </a:pPr>
            <a:r>
              <a:rPr lang="en-US" sz="2600" b="1" dirty="0">
                <a:solidFill>
                  <a:schemeClr val="tx2"/>
                </a:solidFill>
              </a:rPr>
              <a:t>MONK learning curves (2/2)</a:t>
            </a:r>
            <a:endParaRPr lang="en-US" sz="2600" dirty="0"/>
          </a:p>
        </p:txBody>
      </p:sp>
      <p:pic>
        <p:nvPicPr>
          <p:cNvPr id="3" name="Image 0" descr="MONK 3 learning curves: MSE and accuracy">    </p:cNvPr>
          <p:cNvPicPr>
            <a:picLocks noChangeAspect="1"/>
          </p:cNvPicPr>
          <p:nvPr/>
        </p:nvPicPr>
        <p:blipFill>
          <a:blip r:embed="rId1"/>
          <a:stretch>
            <a:fillRect/>
          </a:stretch>
        </p:blipFill>
        <p:spPr>
          <a:xfrm>
            <a:off x="457200" y="960120"/>
            <a:ext cx="5120640" cy="1691363"/>
          </a:xfrm>
          <a:prstGeom prst="rect">
            <a:avLst/>
          </a:prstGeom>
        </p:spPr>
      </p:pic>
      <p:sp>
        <p:nvSpPr>
          <p:cNvPr id="4" name="Text 1"/>
          <p:cNvSpPr txBox="1"/>
          <p:nvPr/>
        </p:nvSpPr>
        <p:spPr>
          <a:xfrm>
            <a:off x="5806440" y="960120"/>
            <a:ext cx="2880360" cy="1691363"/>
          </a:xfrm>
          <a:prstGeom prst="rect">
            <a:avLst/>
          </a:prstGeom>
          <a:noFill/>
          <a:ln/>
        </p:spPr>
        <p:txBody>
          <a:bodyPr wrap="square" lIns="635" tIns="635" rIns="635" bIns="635" rtlCol="0" anchor="ctr"/>
          <a:lstStyle/>
          <a:p>
            <a:pPr indent="0" marL="0">
              <a:spcAft>
                <a:spcPts val="400"/>
              </a:spcAft>
              <a:buNone/>
            </a:pPr>
            <a:r>
              <a:rPr lang="en-US" sz="1600" b="1" dirty="0">
                <a:solidFill>
                  <a:schemeClr val="tx2"/>
                </a:solidFill>
              </a:rPr>
              <a:t>MONK 3</a:t>
            </a:r>
            <a:endParaRPr lang="en-US" sz="1400" dirty="0"/>
          </a:p>
          <a:p>
            <a:pPr indent="0" marL="0">
              <a:spcAft>
                <a:spcPts val="600"/>
              </a:spcAft>
              <a:buNone/>
            </a:pPr>
            <a:r>
              <a:rPr lang="en-US" sz="1400" dirty="0">
                <a:solidFill>
                  <a:schemeClr val="tx1"/>
                </a:solidFill>
              </a:rPr>
              <a:t>TS 95.8% above TR 94.9%: 5% of the training labels are noisy [2]</a:t>
            </a:r>
            <a:endParaRPr lang="en-US" sz="1400" dirty="0"/>
          </a:p>
          <a:p>
            <a:pPr indent="0" marL="0">
              <a:buNone/>
            </a:pPr>
            <a:r>
              <a:rPr lang="en-US" sz="1400" i="1" dirty="0">
                <a:solidFill>
                  <a:schemeClr val="accent3"/>
                </a:solidFill>
              </a:rPr>
              <a:t>Fig. 3. Trial with median TS accuracy.</a:t>
            </a:r>
            <a:endParaRPr lang="en-US" sz="1400" dirty="0"/>
          </a:p>
        </p:txBody>
      </p:sp>
      <p:pic>
        <p:nvPicPr>
          <p:cNvPr id="5" name="Image 1" descr="MONK 3 (reg.) learning curves: MSE and accuracy">    </p:cNvPr>
          <p:cNvPicPr>
            <a:picLocks noChangeAspect="1"/>
          </p:cNvPicPr>
          <p:nvPr/>
        </p:nvPicPr>
        <p:blipFill>
          <a:blip r:embed="rId2"/>
          <a:stretch>
            <a:fillRect/>
          </a:stretch>
        </p:blipFill>
        <p:spPr>
          <a:xfrm>
            <a:off x="457200" y="2834640"/>
            <a:ext cx="5120640" cy="1691363"/>
          </a:xfrm>
          <a:prstGeom prst="rect">
            <a:avLst/>
          </a:prstGeom>
        </p:spPr>
      </p:pic>
      <p:sp>
        <p:nvSpPr>
          <p:cNvPr id="6" name="Text 2"/>
          <p:cNvSpPr txBox="1"/>
          <p:nvPr/>
        </p:nvSpPr>
        <p:spPr>
          <a:xfrm>
            <a:off x="5806440" y="2834640"/>
            <a:ext cx="2880360" cy="1691363"/>
          </a:xfrm>
          <a:prstGeom prst="rect">
            <a:avLst/>
          </a:prstGeom>
          <a:noFill/>
          <a:ln/>
        </p:spPr>
        <p:txBody>
          <a:bodyPr wrap="square" lIns="635" tIns="635" rIns="635" bIns="635" rtlCol="0" anchor="ctr"/>
          <a:lstStyle/>
          <a:p>
            <a:pPr indent="0" marL="0">
              <a:spcAft>
                <a:spcPts val="400"/>
              </a:spcAft>
              <a:buNone/>
            </a:pPr>
            <a:r>
              <a:rPr lang="en-US" sz="1600" b="1" dirty="0">
                <a:solidFill>
                  <a:schemeClr val="tx2"/>
                </a:solidFill>
              </a:rPr>
              <a:t>MONK 3 (reg.)</a:t>
            </a:r>
            <a:endParaRPr lang="en-US" sz="1400" dirty="0"/>
          </a:p>
          <a:p>
            <a:pPr indent="0" marL="0">
              <a:spcAft>
                <a:spcPts val="600"/>
              </a:spcAft>
              <a:buNone/>
            </a:pPr>
            <a:r>
              <a:rPr lang="en-US" sz="1400" dirty="0">
                <a:solidFill>
                  <a:schemeClr val="tx1"/>
                </a:solidFill>
              </a:rPr>
              <a:t>TS 97.1 ± 0.3%, TR 93.4%: L2 (λ 0.01) stops the fit of the noisy labels</a:t>
            </a:r>
            <a:endParaRPr lang="en-US" sz="1400" dirty="0"/>
          </a:p>
          <a:p>
            <a:pPr indent="0" marL="0">
              <a:buNone/>
            </a:pPr>
            <a:r>
              <a:rPr lang="en-US" sz="1400" i="1" dirty="0">
                <a:solidFill>
                  <a:schemeClr val="accent3"/>
                </a:solidFill>
              </a:rPr>
              <a:t>Fig. 4. As Fig. 3, with L2; stops at the CV TR-MSE target.</a:t>
            </a:r>
            <a:endParaRPr lang="en-US" sz="1400" dirty="0"/>
          </a:p>
        </p:txBody>
      </p:sp>
      <p:sp>
        <p:nvSpPr>
          <p:cNvPr id="25" name="Slide Number Placeholder 0"/>
          <p:cNvSpPr>
            <a:spLocks noGrp="1"/>
          </p:cNvSpPr>
          <p:nvPr>
            <p:ph type="sldNum" sz="quarter" idx="4294967295"/>
          </p:nvPr>
        </p:nvSpPr>
        <p:spPr>
          <a:xfrm>
            <a:off x="8138160" y="4736592"/>
            <a:ext cx="548640" cy="274320"/>
          </a:xfrm>
          <a:prstGeom prst="rect">
            <a:avLst/>
          </a:prstGeom>
          <a:extLst>
            <a:ext uri="{C572A759-6A51-4108-AA02-DFA0A04FC94B}">
              <ma14:wrappingTextBoxFlag xmlns:ma14="http://schemas.microsoft.com/office/mac/drawingml/2011/main" val="0"/>
            </a:ext>
          </a:extLst>
        </p:spPr>
        <p:txBody>
          <a:bodyPr/>
          <a:lstStyle>
            <a:lvl1pPr>
              <a:defRPr sz="1400">
                <a:solidFill>
                  <a:srgbClr val="5A6F8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594360"/>
          </a:xfrm>
          <a:prstGeom prst="rect">
            <a:avLst/>
          </a:prstGeom>
          <a:noFill/>
          <a:ln/>
        </p:spPr>
        <p:txBody>
          <a:bodyPr wrap="square" lIns="0" tIns="0" rIns="0" bIns="0" rtlCol="0" anchor="ctr"/>
          <a:lstStyle/>
          <a:p>
            <a:pPr indent="0" marL="0">
              <a:buNone/>
            </a:pPr>
            <a:r>
              <a:rPr lang="en-US" sz="2600" b="1" dirty="0">
                <a:solidFill>
                  <a:schemeClr val="tx2"/>
                </a:solidFill>
              </a:rPr>
              <a:t>CUP: data and validation schema</a:t>
            </a:r>
            <a:endParaRPr lang="en-US" sz="2600" dirty="0"/>
          </a:p>
        </p:txBody>
      </p:sp>
      <p:sp>
        <p:nvSpPr>
          <p:cNvPr id="3" name="Text 1"/>
          <p:cNvSpPr txBox="1"/>
          <p:nvPr/>
        </p:nvSpPr>
        <p:spPr>
          <a:xfrm>
            <a:off x="457200" y="896112"/>
            <a:ext cx="8229600" cy="713232"/>
          </a:xfrm>
          <a:prstGeom prst="rect">
            <a:avLst/>
          </a:prstGeom>
          <a:noFill/>
          <a:ln/>
        </p:spPr>
        <p:txBody>
          <a:bodyPr wrap="square" lIns="635" tIns="635" rIns="635" bIns="635" rtlCol="0" anchor="t"/>
          <a:lstStyle/>
          <a:p>
            <a:pPr indent="0" marL="0">
              <a:buNone/>
            </a:pPr>
            <a:r>
              <a:rPr lang="en-US" sz="1400" dirty="0">
                <a:solidFill>
                  <a:schemeClr val="tx1"/>
                </a:solidFill>
              </a:rPr>
              <a:t>ML-CUP25: 500 labelled patterns (12 inputs, 4 targets), blind test of 1000 data-points. Inputs and targets are standardized only for the training procedure, while the MEE is always represented in the original scale.</a:t>
            </a:r>
            <a:endParaRPr lang="en-US" sz="1400" dirty="0"/>
          </a:p>
        </p:txBody>
      </p:sp>
      <p:sp>
        <p:nvSpPr>
          <p:cNvPr id="4" name="Text 2"/>
          <p:cNvSpPr txBox="1"/>
          <p:nvPr/>
        </p:nvSpPr>
        <p:spPr>
          <a:xfrm>
            <a:off x="457200" y="1609344"/>
            <a:ext cx="5486400" cy="292608"/>
          </a:xfrm>
          <a:prstGeom prst="rect">
            <a:avLst/>
          </a:prstGeom>
          <a:noFill/>
          <a:ln/>
        </p:spPr>
        <p:txBody>
          <a:bodyPr wrap="square" lIns="635" tIns="635" rIns="635" bIns="635" rtlCol="0" anchor="t"/>
          <a:lstStyle/>
          <a:p>
            <a:pPr indent="0" marL="0">
              <a:buNone/>
            </a:pPr>
            <a:r>
              <a:rPr lang="en-US" sz="1400" b="1" dirty="0">
                <a:solidFill>
                  <a:schemeClr val="tx2"/>
                </a:solidFill>
              </a:rPr>
              <a:t>ML-CUP25 training file (500 patterns)</a:t>
            </a:r>
            <a:endParaRPr lang="en-US" sz="1400" dirty="0"/>
          </a:p>
        </p:txBody>
      </p:sp>
      <p:sp>
        <p:nvSpPr>
          <p:cNvPr id="5" name="fold 1"/>
          <p:cNvSpPr/>
          <p:nvPr/>
        </p:nvSpPr>
        <p:spPr>
          <a:xfrm>
            <a:off x="457200" y="1901952"/>
            <a:ext cx="2194560" cy="548640"/>
          </a:xfrm>
          <a:prstGeom prst="rect">
            <a:avLst/>
          </a:prstGeom>
          <a:solidFill>
            <a:schemeClr val="bg2"/>
          </a:solidFill>
          <a:ln w="25400">
            <a:solidFill>
              <a:srgbClr val="FFFFFF"/>
            </a:solidFill>
            <a:prstDash val="solid"/>
          </a:ln>
        </p:spPr>
      </p:sp>
      <p:sp>
        <p:nvSpPr>
          <p:cNvPr id="6" name="Text 4"/>
          <p:cNvSpPr txBox="1"/>
          <p:nvPr/>
        </p:nvSpPr>
        <p:spPr>
          <a:xfrm>
            <a:off x="457200" y="1901952"/>
            <a:ext cx="2194560" cy="548640"/>
          </a:xfrm>
          <a:prstGeom prst="rect">
            <a:avLst/>
          </a:prstGeom>
          <a:noFill/>
          <a:ln/>
        </p:spPr>
        <p:txBody>
          <a:bodyPr wrap="square" lIns="635" tIns="635" rIns="635" bIns="635" rtlCol="0" anchor="ctr"/>
          <a:lstStyle/>
          <a:p>
            <a:pPr algn="ctr" indent="0" marL="0">
              <a:buNone/>
            </a:pPr>
            <a:r>
              <a:rPr lang="en-US" sz="1400" dirty="0">
                <a:solidFill>
                  <a:schemeClr val="tx1"/>
                </a:solidFill>
              </a:rPr>
              <a:t>Fold 1</a:t>
            </a:r>
            <a:endParaRPr lang="en-US" sz="1400" dirty="0"/>
          </a:p>
        </p:txBody>
      </p:sp>
      <p:sp>
        <p:nvSpPr>
          <p:cNvPr id="7" name="fold 2"/>
          <p:cNvSpPr/>
          <p:nvPr/>
        </p:nvSpPr>
        <p:spPr>
          <a:xfrm>
            <a:off x="2651760" y="1901952"/>
            <a:ext cx="2194560" cy="548640"/>
          </a:xfrm>
          <a:prstGeom prst="rect">
            <a:avLst/>
          </a:prstGeom>
          <a:solidFill>
            <a:schemeClr val="bg2"/>
          </a:solidFill>
          <a:ln w="25400">
            <a:solidFill>
              <a:srgbClr val="FFFFFF"/>
            </a:solidFill>
            <a:prstDash val="solid"/>
          </a:ln>
        </p:spPr>
      </p:sp>
      <p:sp>
        <p:nvSpPr>
          <p:cNvPr id="8" name="Text 6"/>
          <p:cNvSpPr txBox="1"/>
          <p:nvPr/>
        </p:nvSpPr>
        <p:spPr>
          <a:xfrm>
            <a:off x="2651760" y="1901952"/>
            <a:ext cx="2194560" cy="548640"/>
          </a:xfrm>
          <a:prstGeom prst="rect">
            <a:avLst/>
          </a:prstGeom>
          <a:noFill/>
          <a:ln/>
        </p:spPr>
        <p:txBody>
          <a:bodyPr wrap="square" lIns="635" tIns="635" rIns="635" bIns="635" rtlCol="0" anchor="ctr"/>
          <a:lstStyle/>
          <a:p>
            <a:pPr algn="ctr" indent="0" marL="0">
              <a:buNone/>
            </a:pPr>
            <a:r>
              <a:rPr lang="en-US" sz="1400" dirty="0">
                <a:solidFill>
                  <a:schemeClr val="tx1"/>
                </a:solidFill>
              </a:rPr>
              <a:t>Fold 2</a:t>
            </a:r>
            <a:endParaRPr lang="en-US" sz="1400" dirty="0"/>
          </a:p>
        </p:txBody>
      </p:sp>
      <p:sp>
        <p:nvSpPr>
          <p:cNvPr id="9" name="fold 3"/>
          <p:cNvSpPr/>
          <p:nvPr/>
        </p:nvSpPr>
        <p:spPr>
          <a:xfrm>
            <a:off x="4846320" y="1901952"/>
            <a:ext cx="2194560" cy="548640"/>
          </a:xfrm>
          <a:prstGeom prst="rect">
            <a:avLst/>
          </a:prstGeom>
          <a:solidFill>
            <a:schemeClr val="bg2"/>
          </a:solidFill>
          <a:ln w="25400">
            <a:solidFill>
              <a:srgbClr val="FFFFFF"/>
            </a:solidFill>
            <a:prstDash val="solid"/>
          </a:ln>
        </p:spPr>
      </p:sp>
      <p:sp>
        <p:nvSpPr>
          <p:cNvPr id="10" name="Text 8"/>
          <p:cNvSpPr txBox="1"/>
          <p:nvPr/>
        </p:nvSpPr>
        <p:spPr>
          <a:xfrm>
            <a:off x="4846320" y="1901952"/>
            <a:ext cx="2194560" cy="548640"/>
          </a:xfrm>
          <a:prstGeom prst="rect">
            <a:avLst/>
          </a:prstGeom>
          <a:noFill/>
          <a:ln/>
        </p:spPr>
        <p:txBody>
          <a:bodyPr wrap="square" lIns="635" tIns="635" rIns="635" bIns="635" rtlCol="0" anchor="ctr"/>
          <a:lstStyle/>
          <a:p>
            <a:pPr algn="ctr" indent="0" marL="0">
              <a:buNone/>
            </a:pPr>
            <a:r>
              <a:rPr lang="en-US" sz="1400" dirty="0">
                <a:solidFill>
                  <a:schemeClr val="tx1"/>
                </a:solidFill>
              </a:rPr>
              <a:t>Fold 3</a:t>
            </a:r>
            <a:endParaRPr lang="en-US" sz="1400" dirty="0"/>
          </a:p>
        </p:txBody>
      </p:sp>
      <p:sp>
        <p:nvSpPr>
          <p:cNvPr id="11" name="internal test"/>
          <p:cNvSpPr/>
          <p:nvPr/>
        </p:nvSpPr>
        <p:spPr>
          <a:xfrm>
            <a:off x="7086600" y="1901952"/>
            <a:ext cx="1600200" cy="548640"/>
          </a:xfrm>
          <a:prstGeom prst="rect">
            <a:avLst/>
          </a:prstGeom>
          <a:solidFill>
            <a:schemeClr val="tx2"/>
          </a:solidFill>
          <a:ln w="25400">
            <a:solidFill>
              <a:srgbClr val="FFFFFF"/>
            </a:solidFill>
            <a:prstDash val="solid"/>
          </a:ln>
        </p:spPr>
      </p:sp>
      <p:sp>
        <p:nvSpPr>
          <p:cNvPr id="12" name="Text 10"/>
          <p:cNvSpPr txBox="1"/>
          <p:nvPr/>
        </p:nvSpPr>
        <p:spPr>
          <a:xfrm>
            <a:off x="7086600" y="1901952"/>
            <a:ext cx="1600200" cy="548640"/>
          </a:xfrm>
          <a:prstGeom prst="rect">
            <a:avLst/>
          </a:prstGeom>
          <a:noFill/>
          <a:ln/>
        </p:spPr>
        <p:txBody>
          <a:bodyPr wrap="square" lIns="635" tIns="635" rIns="635" bIns="635" rtlCol="0" anchor="ctr"/>
          <a:lstStyle/>
          <a:p>
            <a:pPr algn="ctr" indent="0" marL="0">
              <a:buNone/>
            </a:pPr>
            <a:r>
              <a:rPr lang="en-US" sz="1400" b="1" dirty="0">
                <a:solidFill>
                  <a:schemeClr val="bg1"/>
                </a:solidFill>
              </a:rPr>
              <a:t>Internal test</a:t>
            </a:r>
            <a:endParaRPr lang="en-US" sz="1400" dirty="0"/>
          </a:p>
        </p:txBody>
      </p:sp>
      <p:sp>
        <p:nvSpPr>
          <p:cNvPr id="13" name="Text 11"/>
          <p:cNvSpPr txBox="1"/>
          <p:nvPr/>
        </p:nvSpPr>
        <p:spPr>
          <a:xfrm>
            <a:off x="457200" y="2514600"/>
            <a:ext cx="6537960" cy="566928"/>
          </a:xfrm>
          <a:prstGeom prst="rect">
            <a:avLst/>
          </a:prstGeom>
          <a:noFill/>
          <a:ln/>
        </p:spPr>
        <p:txBody>
          <a:bodyPr wrap="square" lIns="635" tIns="635" rIns="635" bIns="635" rtlCol="0" anchor="t"/>
          <a:lstStyle/>
          <a:p>
            <a:pPr indent="0" marL="0">
              <a:buNone/>
            </a:pPr>
            <a:r>
              <a:rPr lang="en-US" sz="1400" b="1" dirty="0">
                <a:solidFill>
                  <a:schemeClr val="tx1"/>
                </a:solidFill>
              </a:rPr>
              <a:t>Design set, 80% (400): </a:t>
            </a:r>
            <a:pPr indent="0" marL="0">
              <a:buNone/>
            </a:pPr>
            <a:r>
              <a:rPr lang="en-US" sz="1400" dirty="0">
                <a:solidFill>
                  <a:schemeClr val="tx1"/>
                </a:solidFill>
              </a:rPr>
              <a:t>3-fold CV for model selection, TR ≈ 267 / VL ≈ 133 per fold, 10 inits each</a:t>
            </a:r>
            <a:endParaRPr lang="en-US" sz="1400" dirty="0"/>
          </a:p>
        </p:txBody>
      </p:sp>
      <p:sp>
        <p:nvSpPr>
          <p:cNvPr id="14" name="Text 12"/>
          <p:cNvSpPr txBox="1"/>
          <p:nvPr/>
        </p:nvSpPr>
        <p:spPr>
          <a:xfrm>
            <a:off x="7086600" y="2514600"/>
            <a:ext cx="1600200" cy="566928"/>
          </a:xfrm>
          <a:prstGeom prst="rect">
            <a:avLst/>
          </a:prstGeom>
          <a:noFill/>
          <a:ln/>
        </p:spPr>
        <p:txBody>
          <a:bodyPr wrap="square" lIns="635" tIns="635" rIns="635" bIns="635" rtlCol="0" anchor="t"/>
          <a:lstStyle/>
          <a:p>
            <a:pPr indent="0" marL="0">
              <a:buNone/>
            </a:pPr>
            <a:r>
              <a:rPr lang="en-US" sz="1400" b="1" dirty="0">
                <a:solidFill>
                  <a:schemeClr val="tx1"/>
                </a:solidFill>
              </a:rPr>
              <a:t>20% (100): </a:t>
            </a:r>
            <a:pPr indent="0" marL="0">
              <a:buNone/>
            </a:pPr>
            <a:r>
              <a:rPr lang="en-US" sz="1400" dirty="0">
                <a:solidFill>
                  <a:schemeClr val="tx1"/>
                </a:solidFill>
              </a:rPr>
              <a:t>hold-out, used once</a:t>
            </a:r>
            <a:endParaRPr lang="en-US" sz="1400" dirty="0"/>
          </a:p>
        </p:txBody>
      </p:sp>
      <p:sp>
        <p:nvSpPr>
          <p:cNvPr id="15" name="step 1"/>
          <p:cNvSpPr/>
          <p:nvPr/>
        </p:nvSpPr>
        <p:spPr>
          <a:xfrm>
            <a:off x="457200" y="3429000"/>
            <a:ext cx="2468880" cy="1097280"/>
          </a:xfrm>
          <a:prstGeom prst="roundRect">
            <a:avLst>
              <a:gd name="adj" fmla="val 6667"/>
            </a:avLst>
          </a:prstGeom>
          <a:solidFill>
            <a:schemeClr val="bg2"/>
          </a:solidFill>
          <a:ln/>
        </p:spPr>
      </p:sp>
      <p:sp>
        <p:nvSpPr>
          <p:cNvPr id="16" name="Text 14"/>
          <p:cNvSpPr txBox="1"/>
          <p:nvPr/>
        </p:nvSpPr>
        <p:spPr>
          <a:xfrm>
            <a:off x="548640" y="3429000"/>
            <a:ext cx="2286000" cy="1097280"/>
          </a:xfrm>
          <a:prstGeom prst="rect">
            <a:avLst/>
          </a:prstGeom>
          <a:noFill/>
          <a:ln/>
        </p:spPr>
        <p:txBody>
          <a:bodyPr wrap="square" lIns="635" tIns="635" rIns="635" bIns="635" rtlCol="0" anchor="ctr"/>
          <a:lstStyle/>
          <a:p>
            <a:pPr indent="0" marL="0">
              <a:buNone/>
            </a:pPr>
            <a:r>
              <a:rPr lang="en-US" sz="1400" b="1" dirty="0">
                <a:solidFill>
                  <a:schemeClr val="tx1"/>
                </a:solidFill>
              </a:rPr>
              <a:t>Model selection: </a:t>
            </a:r>
            <a:pPr indent="0" marL="0">
              <a:buNone/>
            </a:pPr>
            <a:r>
              <a:rPr lang="en-US" sz="1400" dirty="0">
                <a:solidFill>
                  <a:schemeClr val="tx1"/>
                </a:solidFill>
              </a:rPr>
              <a:t>best configuration of the fine grid by mean VL MEE</a:t>
            </a:r>
            <a:endParaRPr lang="en-US" sz="1400" dirty="0"/>
          </a:p>
        </p:txBody>
      </p:sp>
      <p:sp>
        <p:nvSpPr>
          <p:cNvPr id="17" name="Shape 15"/>
          <p:cNvSpPr/>
          <p:nvPr/>
        </p:nvSpPr>
        <p:spPr>
          <a:xfrm>
            <a:off x="2971800" y="3977640"/>
            <a:ext cx="320040" cy="0"/>
          </a:xfrm>
          <a:prstGeom prst="line">
            <a:avLst/>
          </a:prstGeom>
          <a:noFill/>
          <a:ln w="19050">
            <a:solidFill>
              <a:srgbClr val="5A6F86"/>
            </a:solidFill>
            <a:prstDash val="solid"/>
            <a:tailEnd type="triangle"/>
          </a:ln>
        </p:spPr>
      </p:sp>
      <p:sp>
        <p:nvSpPr>
          <p:cNvPr id="18" name="step 2"/>
          <p:cNvSpPr/>
          <p:nvPr/>
        </p:nvSpPr>
        <p:spPr>
          <a:xfrm>
            <a:off x="3337560" y="3429000"/>
            <a:ext cx="2468880" cy="1097280"/>
          </a:xfrm>
          <a:prstGeom prst="roundRect">
            <a:avLst>
              <a:gd name="adj" fmla="val 6667"/>
            </a:avLst>
          </a:prstGeom>
          <a:solidFill>
            <a:schemeClr val="bg2"/>
          </a:solidFill>
          <a:ln/>
        </p:spPr>
      </p:sp>
      <p:sp>
        <p:nvSpPr>
          <p:cNvPr id="19" name="Text 17"/>
          <p:cNvSpPr txBox="1"/>
          <p:nvPr/>
        </p:nvSpPr>
        <p:spPr>
          <a:xfrm>
            <a:off x="3429000" y="3429000"/>
            <a:ext cx="2286000" cy="1097280"/>
          </a:xfrm>
          <a:prstGeom prst="rect">
            <a:avLst/>
          </a:prstGeom>
          <a:noFill/>
          <a:ln/>
        </p:spPr>
        <p:txBody>
          <a:bodyPr wrap="square" lIns="635" tIns="635" rIns="635" bIns="635" rtlCol="0" anchor="ctr"/>
          <a:lstStyle/>
          <a:p>
            <a:pPr indent="0" marL="0">
              <a:buNone/>
            </a:pPr>
            <a:r>
              <a:rPr lang="en-US" sz="1400" b="1" dirty="0">
                <a:solidFill>
                  <a:schemeClr val="tx1"/>
                </a:solidFill>
              </a:rPr>
              <a:t>Assessment: </a:t>
            </a:r>
            <a:pPr indent="0" marL="0">
              <a:buNone/>
            </a:pPr>
            <a:r>
              <a:rPr lang="en-US" sz="1400" dirty="0">
                <a:solidFill>
                  <a:schemeClr val="tx1"/>
                </a:solidFill>
              </a:rPr>
              <a:t>30 retrainings on the 400 design patterns up to the CV TR-MEE target; TS used once</a:t>
            </a:r>
            <a:endParaRPr lang="en-US" sz="1400" dirty="0"/>
          </a:p>
        </p:txBody>
      </p:sp>
      <p:sp>
        <p:nvSpPr>
          <p:cNvPr id="20" name="Shape 18"/>
          <p:cNvSpPr/>
          <p:nvPr/>
        </p:nvSpPr>
        <p:spPr>
          <a:xfrm>
            <a:off x="5852160" y="3977640"/>
            <a:ext cx="320040" cy="0"/>
          </a:xfrm>
          <a:prstGeom prst="line">
            <a:avLst/>
          </a:prstGeom>
          <a:noFill/>
          <a:ln w="19050">
            <a:solidFill>
              <a:srgbClr val="5A6F86"/>
            </a:solidFill>
            <a:prstDash val="solid"/>
            <a:tailEnd type="triangle"/>
          </a:ln>
        </p:spPr>
      </p:sp>
      <p:sp>
        <p:nvSpPr>
          <p:cNvPr id="21" name="step 3"/>
          <p:cNvSpPr/>
          <p:nvPr/>
        </p:nvSpPr>
        <p:spPr>
          <a:xfrm>
            <a:off x="6217920" y="3429000"/>
            <a:ext cx="2468880" cy="1097280"/>
          </a:xfrm>
          <a:prstGeom prst="roundRect">
            <a:avLst>
              <a:gd name="adj" fmla="val 6667"/>
            </a:avLst>
          </a:prstGeom>
          <a:solidFill>
            <a:schemeClr val="bg2"/>
          </a:solidFill>
          <a:ln/>
        </p:spPr>
      </p:sp>
      <p:sp>
        <p:nvSpPr>
          <p:cNvPr id="22" name="Text 20"/>
          <p:cNvSpPr txBox="1"/>
          <p:nvPr/>
        </p:nvSpPr>
        <p:spPr>
          <a:xfrm>
            <a:off x="6309360" y="3429000"/>
            <a:ext cx="2286000" cy="1097280"/>
          </a:xfrm>
          <a:prstGeom prst="rect">
            <a:avLst/>
          </a:prstGeom>
          <a:noFill/>
          <a:ln/>
        </p:spPr>
        <p:txBody>
          <a:bodyPr wrap="square" lIns="635" tIns="635" rIns="635" bIns="635" rtlCol="0" anchor="ctr"/>
          <a:lstStyle/>
          <a:p>
            <a:pPr indent="0" marL="0">
              <a:buNone/>
            </a:pPr>
            <a:r>
              <a:rPr lang="en-US" sz="1400" b="1" dirty="0">
                <a:solidFill>
                  <a:schemeClr val="tx1"/>
                </a:solidFill>
              </a:rPr>
              <a:t>Final model: </a:t>
            </a:r>
            <a:pPr indent="0" marL="0">
              <a:buNone/>
            </a:pPr>
            <a:r>
              <a:rPr lang="en-US" sz="1400" dirty="0">
                <a:solidFill>
                  <a:schemeClr val="tx1"/>
                </a:solidFill>
              </a:rPr>
              <a:t>trial-0 seeds, retrained on all 500 patterns up to the same target → blind test</a:t>
            </a:r>
            <a:endParaRPr lang="en-US" sz="1400" dirty="0"/>
          </a:p>
        </p:txBody>
      </p:sp>
      <p:sp>
        <p:nvSpPr>
          <p:cNvPr id="25" name="Slide Number Placeholder 0"/>
          <p:cNvSpPr>
            <a:spLocks noGrp="1"/>
          </p:cNvSpPr>
          <p:nvPr>
            <p:ph type="sldNum" sz="quarter" idx="4294967295"/>
          </p:nvPr>
        </p:nvSpPr>
        <p:spPr>
          <a:xfrm>
            <a:off x="8138160" y="4736592"/>
            <a:ext cx="548640" cy="274320"/>
          </a:xfrm>
          <a:prstGeom prst="rect">
            <a:avLst/>
          </a:prstGeom>
          <a:extLst>
            <a:ext uri="{C572A759-6A51-4108-AA02-DFA0A04FC94B}">
              <ma14:wrappingTextBoxFlag xmlns:ma14="http://schemas.microsoft.com/office/mac/drawingml/2011/main" val="0"/>
            </a:ext>
          </a:extLst>
        </p:spPr>
        <p:txBody>
          <a:bodyPr/>
          <a:lstStyle>
            <a:lvl1pPr>
              <a:defRPr sz="1400">
                <a:solidFill>
                  <a:srgbClr val="5A6F8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594360"/>
          </a:xfrm>
          <a:prstGeom prst="rect">
            <a:avLst/>
          </a:prstGeom>
          <a:noFill/>
          <a:ln/>
        </p:spPr>
        <p:txBody>
          <a:bodyPr wrap="square" lIns="0" tIns="0" rIns="0" bIns="0" rtlCol="0" anchor="ctr"/>
          <a:lstStyle/>
          <a:p>
            <a:pPr indent="0" marL="0">
              <a:buNone/>
            </a:pPr>
            <a:r>
              <a:rPr lang="en-US" sz="2600" b="1" dirty="0">
                <a:solidFill>
                  <a:schemeClr val="tx2"/>
                </a:solidFill>
              </a:rPr>
              <a:t>CUP model selection: grid search</a:t>
            </a:r>
            <a:endParaRPr lang="en-US" sz="2600" dirty="0"/>
          </a:p>
        </p:txBody>
      </p:sp>
      <p:sp>
        <p:nvSpPr>
          <p:cNvPr id="3" name="stage 1"/>
          <p:cNvSpPr/>
          <p:nvPr/>
        </p:nvSpPr>
        <p:spPr>
          <a:xfrm>
            <a:off x="457200" y="914400"/>
            <a:ext cx="2606040" cy="777240"/>
          </a:xfrm>
          <a:prstGeom prst="roundRect">
            <a:avLst>
              <a:gd name="adj" fmla="val 9412"/>
            </a:avLst>
          </a:prstGeom>
          <a:solidFill>
            <a:schemeClr val="bg2"/>
          </a:solidFill>
          <a:ln/>
        </p:spPr>
      </p:sp>
      <p:sp>
        <p:nvSpPr>
          <p:cNvPr id="4" name="Text 2"/>
          <p:cNvSpPr txBox="1"/>
          <p:nvPr/>
        </p:nvSpPr>
        <p:spPr>
          <a:xfrm>
            <a:off x="548640" y="914400"/>
            <a:ext cx="2423160" cy="777240"/>
          </a:xfrm>
          <a:prstGeom prst="rect">
            <a:avLst/>
          </a:prstGeom>
          <a:noFill/>
          <a:ln/>
        </p:spPr>
        <p:txBody>
          <a:bodyPr wrap="square" lIns="635" tIns="635" rIns="635" bIns="635" rtlCol="0" anchor="ctr"/>
          <a:lstStyle/>
          <a:p>
            <a:pPr indent="0" marL="0">
              <a:buNone/>
            </a:pPr>
            <a:r>
              <a:rPr lang="en-US" sz="1400" b="1" dirty="0">
                <a:solidFill>
                  <a:schemeClr val="tx2"/>
                </a:solidFill>
              </a:rPr>
              <a:t>1  Screening</a:t>
            </a:r>
            <a:endParaRPr lang="en-US" sz="1400" dirty="0"/>
          </a:p>
          <a:p>
            <a:pPr indent="0" marL="0">
              <a:buNone/>
            </a:pPr>
            <a:r>
              <a:rPr lang="en-US" sz="1400" dirty="0">
                <a:solidFill>
                  <a:schemeClr val="tx1"/>
                </a:solidFill>
              </a:rPr>
              <a:t>4-config grids, k = 3</a:t>
            </a:r>
            <a:endParaRPr lang="en-US" sz="1400" dirty="0"/>
          </a:p>
        </p:txBody>
      </p:sp>
      <p:sp>
        <p:nvSpPr>
          <p:cNvPr id="5" name="Shape 3"/>
          <p:cNvSpPr/>
          <p:nvPr/>
        </p:nvSpPr>
        <p:spPr>
          <a:xfrm>
            <a:off x="3081528" y="1303020"/>
            <a:ext cx="164592" cy="0"/>
          </a:xfrm>
          <a:prstGeom prst="line">
            <a:avLst/>
          </a:prstGeom>
          <a:noFill/>
          <a:ln w="19050">
            <a:solidFill>
              <a:srgbClr val="5A6F86"/>
            </a:solidFill>
            <a:prstDash val="solid"/>
            <a:tailEnd type="triangle"/>
          </a:ln>
        </p:spPr>
      </p:sp>
      <p:sp>
        <p:nvSpPr>
          <p:cNvPr id="6" name="stage 2"/>
          <p:cNvSpPr/>
          <p:nvPr/>
        </p:nvSpPr>
        <p:spPr>
          <a:xfrm>
            <a:off x="3268980" y="914400"/>
            <a:ext cx="2606040" cy="777240"/>
          </a:xfrm>
          <a:prstGeom prst="roundRect">
            <a:avLst>
              <a:gd name="adj" fmla="val 9412"/>
            </a:avLst>
          </a:prstGeom>
          <a:solidFill>
            <a:schemeClr val="bg2"/>
          </a:solidFill>
          <a:ln/>
        </p:spPr>
      </p:sp>
      <p:sp>
        <p:nvSpPr>
          <p:cNvPr id="7" name="Text 5"/>
          <p:cNvSpPr txBox="1"/>
          <p:nvPr/>
        </p:nvSpPr>
        <p:spPr>
          <a:xfrm>
            <a:off x="3360420" y="914400"/>
            <a:ext cx="2423160" cy="777240"/>
          </a:xfrm>
          <a:prstGeom prst="rect">
            <a:avLst/>
          </a:prstGeom>
          <a:noFill/>
          <a:ln/>
        </p:spPr>
        <p:txBody>
          <a:bodyPr wrap="square" lIns="635" tIns="635" rIns="635" bIns="635" rtlCol="0" anchor="ctr"/>
          <a:lstStyle/>
          <a:p>
            <a:pPr indent="0" marL="0">
              <a:buNone/>
            </a:pPr>
            <a:r>
              <a:rPr lang="en-US" sz="1400" b="1" dirty="0">
                <a:solidFill>
                  <a:schemeClr val="tx2"/>
                </a:solidFill>
              </a:rPr>
              <a:t>2  Coarse grids</a:t>
            </a:r>
            <a:endParaRPr lang="en-US" sz="1400" dirty="0"/>
          </a:p>
          <a:p>
            <a:pPr indent="0" marL="0">
              <a:buNone/>
            </a:pPr>
            <a:r>
              <a:rPr lang="en-US" sz="1400" dirty="0">
                <a:solidFill>
                  <a:schemeClr val="tx1"/>
                </a:solidFill>
              </a:rPr>
              <a:t>147 configs, k = 5, 5 inits</a:t>
            </a:r>
            <a:endParaRPr lang="en-US" sz="1400" dirty="0"/>
          </a:p>
        </p:txBody>
      </p:sp>
      <p:sp>
        <p:nvSpPr>
          <p:cNvPr id="8" name="Shape 6"/>
          <p:cNvSpPr/>
          <p:nvPr/>
        </p:nvSpPr>
        <p:spPr>
          <a:xfrm>
            <a:off x="5893308" y="1303020"/>
            <a:ext cx="164592" cy="0"/>
          </a:xfrm>
          <a:prstGeom prst="line">
            <a:avLst/>
          </a:prstGeom>
          <a:noFill/>
          <a:ln w="19050">
            <a:solidFill>
              <a:srgbClr val="5A6F86"/>
            </a:solidFill>
            <a:prstDash val="solid"/>
            <a:tailEnd type="triangle"/>
          </a:ln>
        </p:spPr>
      </p:sp>
      <p:sp>
        <p:nvSpPr>
          <p:cNvPr id="9" name="stage 3"/>
          <p:cNvSpPr/>
          <p:nvPr/>
        </p:nvSpPr>
        <p:spPr>
          <a:xfrm>
            <a:off x="6080760" y="914400"/>
            <a:ext cx="2606040" cy="777240"/>
          </a:xfrm>
          <a:prstGeom prst="roundRect">
            <a:avLst>
              <a:gd name="adj" fmla="val 9412"/>
            </a:avLst>
          </a:prstGeom>
          <a:solidFill>
            <a:schemeClr val="tx2"/>
          </a:solidFill>
          <a:ln/>
        </p:spPr>
      </p:sp>
      <p:sp>
        <p:nvSpPr>
          <p:cNvPr id="10" name="Text 8"/>
          <p:cNvSpPr txBox="1"/>
          <p:nvPr/>
        </p:nvSpPr>
        <p:spPr>
          <a:xfrm>
            <a:off x="6172200" y="914400"/>
            <a:ext cx="2423160" cy="777240"/>
          </a:xfrm>
          <a:prstGeom prst="rect">
            <a:avLst/>
          </a:prstGeom>
          <a:noFill/>
          <a:ln/>
        </p:spPr>
        <p:txBody>
          <a:bodyPr wrap="square" lIns="635" tIns="635" rIns="635" bIns="635" rtlCol="0" anchor="ctr"/>
          <a:lstStyle/>
          <a:p>
            <a:pPr indent="0" marL="0">
              <a:buNone/>
            </a:pPr>
            <a:r>
              <a:rPr lang="en-US" sz="1400" b="1" dirty="0">
                <a:solidFill>
                  <a:schemeClr val="bg1"/>
                </a:solidFill>
              </a:rPr>
              <a:t>3  Fine grid</a:t>
            </a:r>
            <a:endParaRPr lang="en-US" sz="1400" dirty="0"/>
          </a:p>
          <a:p>
            <a:pPr indent="0" marL="0">
              <a:buNone/>
            </a:pPr>
            <a:r>
              <a:rPr lang="en-US" sz="1400" dirty="0">
                <a:solidFill>
                  <a:schemeClr val="bg1"/>
                </a:solidFill>
              </a:rPr>
              <a:t>60 configs, k = 3, 10 inits</a:t>
            </a:r>
            <a:endParaRPr lang="en-US" sz="1400" dirty="0"/>
          </a:p>
        </p:txBody>
      </p:sp>
      <p:sp>
        <p:nvSpPr>
          <p:cNvPr id="11" name="Text 9"/>
          <p:cNvSpPr txBox="1"/>
          <p:nvPr/>
        </p:nvSpPr>
        <p:spPr>
          <a:xfrm>
            <a:off x="457200" y="1783080"/>
            <a:ext cx="8229600" cy="365760"/>
          </a:xfrm>
          <a:prstGeom prst="rect">
            <a:avLst/>
          </a:prstGeom>
          <a:noFill/>
          <a:ln/>
        </p:spPr>
        <p:txBody>
          <a:bodyPr wrap="square" lIns="635" tIns="635" rIns="635" bIns="635" rtlCol="0" anchor="t"/>
          <a:lstStyle/>
          <a:p>
            <a:pPr indent="0" marL="0">
              <a:buNone/>
            </a:pPr>
            <a:r>
              <a:rPr lang="en-US" sz="1400" i="1" dirty="0">
                <a:solidFill>
                  <a:schemeClr val="accent3"/>
                </a:solidFill>
              </a:rPr>
              <a:t>Table 2. Explored values (full batch everywhere); ranking by mean VL MEE, ties by VL loss.</a:t>
            </a:r>
            <a:endParaRPr lang="en-US" sz="14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2148840"/>
          <a:ext cx="8229600" cy="914400"/>
        </p:xfrm>
        <a:graphic>
          <a:graphicData uri="http://schemas.openxmlformats.org/drawingml/2006/table">
            <a:tbl>
              <a:tblPr/>
              <a:tblGrid>
                <a:gridCol w="2011680"/>
                <a:gridCol w="3657600"/>
                <a:gridCol w="2560320"/>
              </a:tblGrid>
              <a:tr h="329184">
                <a:tc>
                  <a:txBody>
                    <a:bodyPr/>
                    <a:lstStyle/>
                    <a:p>
                      <a:pPr indent="0" marL="0">
                        <a:buNone/>
                      </a:pPr>
                      <a:r>
                        <a:rPr lang="en-US" sz="1400" b="1" dirty="0">
                          <a:solidFill>
                            <a:schemeClr val="bg1"/>
                          </a:solidFill>
                        </a:rPr>
                        <a:t>Hyper-parameter</a:t>
                      </a:r>
                      <a:endParaRPr lang="en-US" sz="1400" dirty="0"/>
                    </a:p>
                  </a:txBody>
                  <a:tcPr marL="45720" marR="45720" marT="45720" marB="45720" anchor="ctr">
                    <a:lnL w="9525" cap="flat" cmpd="sng" algn="ctr">
                      <a:solidFill>
                        <a:srgbClr val="9DB0C6"/>
                      </a:solidFill>
                      <a:prstDash val="solid"/>
                      <a:round/>
                      <a:headEnd type="none" w="med" len="med"/>
                      <a:tailEnd type="none" w="med" len="med"/>
                    </a:lnL>
                    <a:lnR w="9525" cap="flat" cmpd="sng" algn="ctr">
                      <a:solidFill>
                        <a:srgbClr val="9DB0C6"/>
                      </a:solidFill>
                      <a:prstDash val="solid"/>
                      <a:round/>
                      <a:headEnd type="none" w="med" len="med"/>
                      <a:tailEnd type="none" w="med" len="med"/>
                    </a:lnR>
                    <a:lnT w="9525" cap="flat" cmpd="sng" algn="ctr">
                      <a:solidFill>
                        <a:srgbClr val="9DB0C6"/>
                      </a:solidFill>
                      <a:prstDash val="solid"/>
                      <a:round/>
                      <a:headEnd type="none" w="med" len="med"/>
                      <a:tailEnd type="none" w="med" len="med"/>
                    </a:lnT>
                    <a:lnB w="9525" cap="flat" cmpd="sng" algn="ctr">
                      <a:solidFill>
                        <a:srgbClr val="9DB0C6"/>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Coarse grids</a:t>
                      </a:r>
                      <a:endParaRPr lang="en-US" sz="1400" dirty="0"/>
                    </a:p>
                  </a:txBody>
                  <a:tcPr marL="45720" marR="45720" marT="45720" marB="45720" anchor="ctr">
                    <a:lnL w="9525" cap="flat" cmpd="sng" algn="ctr">
                      <a:solidFill>
                        <a:srgbClr val="9DB0C6"/>
                      </a:solidFill>
                      <a:prstDash val="solid"/>
                      <a:round/>
                      <a:headEnd type="none" w="med" len="med"/>
                      <a:tailEnd type="none" w="med" len="med"/>
                    </a:lnL>
                    <a:lnR w="9525" cap="flat" cmpd="sng" algn="ctr">
                      <a:solidFill>
                        <a:srgbClr val="9DB0C6"/>
                      </a:solidFill>
                      <a:prstDash val="solid"/>
                      <a:round/>
                      <a:headEnd type="none" w="med" len="med"/>
                      <a:tailEnd type="none" w="med" len="med"/>
                    </a:lnR>
                    <a:lnT w="9525" cap="flat" cmpd="sng" algn="ctr">
                      <a:solidFill>
                        <a:srgbClr val="9DB0C6"/>
                      </a:solidFill>
                      <a:prstDash val="solid"/>
                      <a:round/>
                      <a:headEnd type="none" w="med" len="med"/>
                      <a:tailEnd type="none" w="med" len="med"/>
                    </a:lnT>
                    <a:lnB w="9525" cap="flat" cmpd="sng" algn="ctr">
                      <a:solidFill>
                        <a:srgbClr val="9DB0C6"/>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Fine grid</a:t>
                      </a:r>
                      <a:endParaRPr lang="en-US" sz="1400" dirty="0"/>
                    </a:p>
                  </a:txBody>
                  <a:tcPr marL="45720" marR="45720" marT="45720" marB="45720" anchor="ctr">
                    <a:lnL w="9525" cap="flat" cmpd="sng" algn="ctr">
                      <a:solidFill>
                        <a:srgbClr val="9DB0C6"/>
                      </a:solidFill>
                      <a:prstDash val="solid"/>
                      <a:round/>
                      <a:headEnd type="none" w="med" len="med"/>
                      <a:tailEnd type="none" w="med" len="med"/>
                    </a:lnL>
                    <a:lnR w="9525" cap="flat" cmpd="sng" algn="ctr">
                      <a:solidFill>
                        <a:srgbClr val="9DB0C6"/>
                      </a:solidFill>
                      <a:prstDash val="solid"/>
                      <a:round/>
                      <a:headEnd type="none" w="med" len="med"/>
                      <a:tailEnd type="none" w="med" len="med"/>
                    </a:lnR>
                    <a:lnT w="9525" cap="flat" cmpd="sng" algn="ctr">
                      <a:solidFill>
                        <a:srgbClr val="9DB0C6"/>
                      </a:solidFill>
                      <a:prstDash val="solid"/>
                      <a:round/>
                      <a:headEnd type="none" w="med" len="med"/>
                      <a:tailEnd type="none" w="med" len="med"/>
                    </a:lnT>
                    <a:lnB w="9525" cap="flat" cmpd="sng" algn="ctr">
                      <a:solidFill>
                        <a:srgbClr val="9DB0C6"/>
                      </a:solidFill>
                      <a:prstDash val="solid"/>
                      <a:round/>
                      <a:headEnd type="none" w="med" len="med"/>
                      <a:tailEnd type="none" w="med" len="med"/>
                    </a:lnB>
                    <a:solidFill>
                      <a:schemeClr val="tx2"/>
                    </a:solidFill>
                  </a:tcPr>
                </a:tc>
              </a:tr>
              <a:tr h="329184">
                <a:tc>
                  <a:txBody>
                    <a:bodyPr/>
                    <a:lstStyle/>
                    <a:p>
                      <a:pPr indent="0" marL="0">
                        <a:buNone/>
                      </a:pPr>
                      <a:r>
                        <a:rPr lang="en-US" sz="1400" dirty="0">
                          <a:solidFill>
                            <a:schemeClr val="tx1"/>
                          </a:solidFill>
                        </a:rPr>
                        <a:t>Hidden units</a:t>
                      </a:r>
                      <a:endParaRPr lang="en-US" sz="1400" dirty="0"/>
                    </a:p>
                  </a:txBody>
                  <a:tcPr marL="45720" marR="45720" marT="45720" marB="45720" anchor="ctr">
                    <a:lnL w="9525" cap="flat" cmpd="sng" algn="ctr">
                      <a:solidFill>
                        <a:srgbClr val="9DB0C6"/>
                      </a:solidFill>
                      <a:prstDash val="solid"/>
                      <a:round/>
                      <a:headEnd type="none" w="med" len="med"/>
                      <a:tailEnd type="none" w="med" len="med"/>
                    </a:lnL>
                    <a:lnR w="9525" cap="flat" cmpd="sng" algn="ctr">
                      <a:solidFill>
                        <a:srgbClr val="9DB0C6"/>
                      </a:solidFill>
                      <a:prstDash val="solid"/>
                      <a:round/>
                      <a:headEnd type="none" w="med" len="med"/>
                      <a:tailEnd type="none" w="med" len="med"/>
                    </a:lnR>
                    <a:lnT w="9525" cap="flat" cmpd="sng" algn="ctr">
                      <a:solidFill>
                        <a:srgbClr val="9DB0C6"/>
                      </a:solidFill>
                      <a:prstDash val="solid"/>
                      <a:round/>
                      <a:headEnd type="none" w="med" len="med"/>
                      <a:tailEnd type="none" w="med" len="med"/>
                    </a:lnT>
                    <a:lnB w="9525" cap="flat" cmpd="sng" algn="ctr">
                      <a:solidFill>
                        <a:srgbClr val="9DB0C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32, 64, 128, 32-32, 64-32, 64-64, 64-64-32</a:t>
                      </a:r>
                      <a:endParaRPr lang="en-US" sz="1400" dirty="0"/>
                    </a:p>
                  </a:txBody>
                  <a:tcPr marL="45720" marR="45720" marT="45720" marB="45720" anchor="ctr">
                    <a:lnL w="9525" cap="flat" cmpd="sng" algn="ctr">
                      <a:solidFill>
                        <a:srgbClr val="9DB0C6"/>
                      </a:solidFill>
                      <a:prstDash val="solid"/>
                      <a:round/>
                      <a:headEnd type="none" w="med" len="med"/>
                      <a:tailEnd type="none" w="med" len="med"/>
                    </a:lnL>
                    <a:lnR w="9525" cap="flat" cmpd="sng" algn="ctr">
                      <a:solidFill>
                        <a:srgbClr val="9DB0C6"/>
                      </a:solidFill>
                      <a:prstDash val="solid"/>
                      <a:round/>
                      <a:headEnd type="none" w="med" len="med"/>
                      <a:tailEnd type="none" w="med" len="med"/>
                    </a:lnR>
                    <a:lnT w="9525" cap="flat" cmpd="sng" algn="ctr">
                      <a:solidFill>
                        <a:srgbClr val="9DB0C6"/>
                      </a:solidFill>
                      <a:prstDash val="solid"/>
                      <a:round/>
                      <a:headEnd type="none" w="med" len="med"/>
                      <a:tailEnd type="none" w="med" len="med"/>
                    </a:lnT>
                    <a:lnB w="9525" cap="flat" cmpd="sng" algn="ctr">
                      <a:solidFill>
                        <a:srgbClr val="9DB0C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64-64</a:t>
                      </a:r>
                      <a:endParaRPr lang="en-US" sz="1400" dirty="0"/>
                    </a:p>
                  </a:txBody>
                  <a:tcPr marL="45720" marR="45720" marT="45720" marB="45720" anchor="ctr">
                    <a:lnL w="9525" cap="flat" cmpd="sng" algn="ctr">
                      <a:solidFill>
                        <a:srgbClr val="9DB0C6"/>
                      </a:solidFill>
                      <a:prstDash val="solid"/>
                      <a:round/>
                      <a:headEnd type="none" w="med" len="med"/>
                      <a:tailEnd type="none" w="med" len="med"/>
                    </a:lnL>
                    <a:lnR w="9525" cap="flat" cmpd="sng" algn="ctr">
                      <a:solidFill>
                        <a:srgbClr val="9DB0C6"/>
                      </a:solidFill>
                      <a:prstDash val="solid"/>
                      <a:round/>
                      <a:headEnd type="none" w="med" len="med"/>
                      <a:tailEnd type="none" w="med" len="med"/>
                    </a:lnR>
                    <a:lnT w="9525" cap="flat" cmpd="sng" algn="ctr">
                      <a:solidFill>
                        <a:srgbClr val="9DB0C6"/>
                      </a:solidFill>
                      <a:prstDash val="solid"/>
                      <a:round/>
                      <a:headEnd type="none" w="med" len="med"/>
                      <a:tailEnd type="none" w="med" len="med"/>
                    </a:lnT>
                    <a:lnB w="9525" cap="flat" cmpd="sng" algn="ctr">
                      <a:solidFill>
                        <a:srgbClr val="9DB0C6"/>
                      </a:solidFill>
                      <a:prstDash val="solid"/>
                      <a:round/>
                      <a:headEnd type="none" w="med" len="med"/>
                      <a:tailEnd type="none" w="med" len="med"/>
                    </a:lnB>
                    <a:solidFill>
                      <a:schemeClr val="bg1"/>
                    </a:solidFill>
                  </a:tcPr>
                </a:tc>
              </a:tr>
              <a:tr h="329184">
                <a:tc>
                  <a:txBody>
                    <a:bodyPr/>
                    <a:lstStyle/>
                    <a:p>
                      <a:pPr indent="0" marL="0">
                        <a:buNone/>
                      </a:pPr>
                      <a:r>
                        <a:rPr lang="en-US" sz="1400" dirty="0">
                          <a:solidFill>
                            <a:schemeClr val="tx1"/>
                          </a:solidFill>
                        </a:rPr>
                        <a:t>Activation / init</a:t>
                      </a:r>
                      <a:endParaRPr lang="en-US" sz="1400" dirty="0"/>
                    </a:p>
                  </a:txBody>
                  <a:tcPr marL="45720" marR="45720" marT="45720" marB="45720" anchor="ctr">
                    <a:lnL w="9525" cap="flat" cmpd="sng" algn="ctr">
                      <a:solidFill>
                        <a:srgbClr val="9DB0C6"/>
                      </a:solidFill>
                      <a:prstDash val="solid"/>
                      <a:round/>
                      <a:headEnd type="none" w="med" len="med"/>
                      <a:tailEnd type="none" w="med" len="med"/>
                    </a:lnL>
                    <a:lnR w="9525" cap="flat" cmpd="sng" algn="ctr">
                      <a:solidFill>
                        <a:srgbClr val="9DB0C6"/>
                      </a:solidFill>
                      <a:prstDash val="solid"/>
                      <a:round/>
                      <a:headEnd type="none" w="med" len="med"/>
                      <a:tailEnd type="none" w="med" len="med"/>
                    </a:lnR>
                    <a:lnT w="9525" cap="flat" cmpd="sng" algn="ctr">
                      <a:solidFill>
                        <a:srgbClr val="9DB0C6"/>
                      </a:solidFill>
                      <a:prstDash val="solid"/>
                      <a:round/>
                      <a:headEnd type="none" w="med" len="med"/>
                      <a:tailEnd type="none" w="med" len="med"/>
                    </a:lnT>
                    <a:lnB w="9525" cap="flat" cmpd="sng" algn="ctr">
                      <a:solidFill>
                        <a:srgbClr val="9DB0C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tanh, sigmoid / Glorot; ReLU / He</a:t>
                      </a:r>
                      <a:endParaRPr lang="en-US" sz="1400" dirty="0"/>
                    </a:p>
                  </a:txBody>
                  <a:tcPr marL="45720" marR="45720" marT="45720" marB="45720" anchor="ctr">
                    <a:lnL w="9525" cap="flat" cmpd="sng" algn="ctr">
                      <a:solidFill>
                        <a:srgbClr val="9DB0C6"/>
                      </a:solidFill>
                      <a:prstDash val="solid"/>
                      <a:round/>
                      <a:headEnd type="none" w="med" len="med"/>
                      <a:tailEnd type="none" w="med" len="med"/>
                    </a:lnL>
                    <a:lnR w="9525" cap="flat" cmpd="sng" algn="ctr">
                      <a:solidFill>
                        <a:srgbClr val="9DB0C6"/>
                      </a:solidFill>
                      <a:prstDash val="solid"/>
                      <a:round/>
                      <a:headEnd type="none" w="med" len="med"/>
                      <a:tailEnd type="none" w="med" len="med"/>
                    </a:lnR>
                    <a:lnT w="9525" cap="flat" cmpd="sng" algn="ctr">
                      <a:solidFill>
                        <a:srgbClr val="9DB0C6"/>
                      </a:solidFill>
                      <a:prstDash val="solid"/>
                      <a:round/>
                      <a:headEnd type="none" w="med" len="med"/>
                      <a:tailEnd type="none" w="med" len="med"/>
                    </a:lnT>
                    <a:lnB w="9525" cap="flat" cmpd="sng" algn="ctr">
                      <a:solidFill>
                        <a:srgbClr val="9DB0C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ReLU / He</a:t>
                      </a:r>
                      <a:endParaRPr lang="en-US" sz="1400" dirty="0"/>
                    </a:p>
                  </a:txBody>
                  <a:tcPr marL="45720" marR="45720" marT="45720" marB="45720" anchor="ctr">
                    <a:lnL w="9525" cap="flat" cmpd="sng" algn="ctr">
                      <a:solidFill>
                        <a:srgbClr val="9DB0C6"/>
                      </a:solidFill>
                      <a:prstDash val="solid"/>
                      <a:round/>
                      <a:headEnd type="none" w="med" len="med"/>
                      <a:tailEnd type="none" w="med" len="med"/>
                    </a:lnL>
                    <a:lnR w="9525" cap="flat" cmpd="sng" algn="ctr">
                      <a:solidFill>
                        <a:srgbClr val="9DB0C6"/>
                      </a:solidFill>
                      <a:prstDash val="solid"/>
                      <a:round/>
                      <a:headEnd type="none" w="med" len="med"/>
                      <a:tailEnd type="none" w="med" len="med"/>
                    </a:lnR>
                    <a:lnT w="9525" cap="flat" cmpd="sng" algn="ctr">
                      <a:solidFill>
                        <a:srgbClr val="9DB0C6"/>
                      </a:solidFill>
                      <a:prstDash val="solid"/>
                      <a:round/>
                      <a:headEnd type="none" w="med" len="med"/>
                      <a:tailEnd type="none" w="med" len="med"/>
                    </a:lnT>
                    <a:lnB w="9525" cap="flat" cmpd="sng" algn="ctr">
                      <a:solidFill>
                        <a:srgbClr val="9DB0C6"/>
                      </a:solidFill>
                      <a:prstDash val="solid"/>
                      <a:round/>
                      <a:headEnd type="none" w="med" len="med"/>
                      <a:tailEnd type="none" w="med" len="med"/>
                    </a:lnB>
                    <a:solidFill>
                      <a:schemeClr val="bg2"/>
                    </a:solidFill>
                  </a:tcPr>
                </a:tc>
              </a:tr>
              <a:tr h="329184">
                <a:tc>
                  <a:txBody>
                    <a:bodyPr/>
                    <a:lstStyle/>
                    <a:p>
                      <a:pPr indent="0" marL="0">
                        <a:buNone/>
                      </a:pPr>
                      <a:r>
                        <a:rPr lang="en-US" sz="1400" dirty="0">
                          <a:solidFill>
                            <a:schemeClr val="tx1"/>
                          </a:solidFill>
                        </a:rPr>
                        <a:t>η (fixed)</a:t>
                      </a:r>
                      <a:endParaRPr lang="en-US" sz="1400" dirty="0"/>
                    </a:p>
                  </a:txBody>
                  <a:tcPr marL="45720" marR="45720" marT="45720" marB="45720" anchor="ctr">
                    <a:lnL w="9525" cap="flat" cmpd="sng" algn="ctr">
                      <a:solidFill>
                        <a:srgbClr val="9DB0C6"/>
                      </a:solidFill>
                      <a:prstDash val="solid"/>
                      <a:round/>
                      <a:headEnd type="none" w="med" len="med"/>
                      <a:tailEnd type="none" w="med" len="med"/>
                    </a:lnL>
                    <a:lnR w="9525" cap="flat" cmpd="sng" algn="ctr">
                      <a:solidFill>
                        <a:srgbClr val="9DB0C6"/>
                      </a:solidFill>
                      <a:prstDash val="solid"/>
                      <a:round/>
                      <a:headEnd type="none" w="med" len="med"/>
                      <a:tailEnd type="none" w="med" len="med"/>
                    </a:lnR>
                    <a:lnT w="9525" cap="flat" cmpd="sng" algn="ctr">
                      <a:solidFill>
                        <a:srgbClr val="9DB0C6"/>
                      </a:solidFill>
                      <a:prstDash val="solid"/>
                      <a:round/>
                      <a:headEnd type="none" w="med" len="med"/>
                      <a:tailEnd type="none" w="med" len="med"/>
                    </a:lnT>
                    <a:lnB w="9525" cap="flat" cmpd="sng" algn="ctr">
                      <a:solidFill>
                        <a:srgbClr val="9DB0C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1e-4 to 0.5, 8 values (ReLU ≤ 0.01)</a:t>
                      </a:r>
                      <a:endParaRPr lang="en-US" sz="1400" dirty="0"/>
                    </a:p>
                  </a:txBody>
                  <a:tcPr marL="45720" marR="45720" marT="45720" marB="45720" anchor="ctr">
                    <a:lnL w="9525" cap="flat" cmpd="sng" algn="ctr">
                      <a:solidFill>
                        <a:srgbClr val="9DB0C6"/>
                      </a:solidFill>
                      <a:prstDash val="solid"/>
                      <a:round/>
                      <a:headEnd type="none" w="med" len="med"/>
                      <a:tailEnd type="none" w="med" len="med"/>
                    </a:lnL>
                    <a:lnR w="9525" cap="flat" cmpd="sng" algn="ctr">
                      <a:solidFill>
                        <a:srgbClr val="9DB0C6"/>
                      </a:solidFill>
                      <a:prstDash val="solid"/>
                      <a:round/>
                      <a:headEnd type="none" w="med" len="med"/>
                      <a:tailEnd type="none" w="med" len="med"/>
                    </a:lnR>
                    <a:lnT w="9525" cap="flat" cmpd="sng" algn="ctr">
                      <a:solidFill>
                        <a:srgbClr val="9DB0C6"/>
                      </a:solidFill>
                      <a:prstDash val="solid"/>
                      <a:round/>
                      <a:headEnd type="none" w="med" len="med"/>
                      <a:tailEnd type="none" w="med" len="med"/>
                    </a:lnT>
                    <a:lnB w="9525" cap="flat" cmpd="sng" algn="ctr">
                      <a:solidFill>
                        <a:srgbClr val="9DB0C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0.009, 0.01, 0.011</a:t>
                      </a:r>
                      <a:endParaRPr lang="en-US" sz="1400" dirty="0"/>
                    </a:p>
                  </a:txBody>
                  <a:tcPr marL="45720" marR="45720" marT="45720" marB="45720" anchor="ctr">
                    <a:lnL w="9525" cap="flat" cmpd="sng" algn="ctr">
                      <a:solidFill>
                        <a:srgbClr val="9DB0C6"/>
                      </a:solidFill>
                      <a:prstDash val="solid"/>
                      <a:round/>
                      <a:headEnd type="none" w="med" len="med"/>
                      <a:tailEnd type="none" w="med" len="med"/>
                    </a:lnL>
                    <a:lnR w="9525" cap="flat" cmpd="sng" algn="ctr">
                      <a:solidFill>
                        <a:srgbClr val="9DB0C6"/>
                      </a:solidFill>
                      <a:prstDash val="solid"/>
                      <a:round/>
                      <a:headEnd type="none" w="med" len="med"/>
                      <a:tailEnd type="none" w="med" len="med"/>
                    </a:lnR>
                    <a:lnT w="9525" cap="flat" cmpd="sng" algn="ctr">
                      <a:solidFill>
                        <a:srgbClr val="9DB0C6"/>
                      </a:solidFill>
                      <a:prstDash val="solid"/>
                      <a:round/>
                      <a:headEnd type="none" w="med" len="med"/>
                      <a:tailEnd type="none" w="med" len="med"/>
                    </a:lnT>
                    <a:lnB w="9525" cap="flat" cmpd="sng" algn="ctr">
                      <a:solidFill>
                        <a:srgbClr val="9DB0C6"/>
                      </a:solidFill>
                      <a:prstDash val="solid"/>
                      <a:round/>
                      <a:headEnd type="none" w="med" len="med"/>
                      <a:tailEnd type="none" w="med" len="med"/>
                    </a:lnB>
                    <a:solidFill>
                      <a:schemeClr val="bg1"/>
                    </a:solidFill>
                  </a:tcPr>
                </a:tc>
              </a:tr>
              <a:tr h="329184">
                <a:tc>
                  <a:txBody>
                    <a:bodyPr/>
                    <a:lstStyle/>
                    <a:p>
                      <a:pPr indent="0" marL="0">
                        <a:buNone/>
                      </a:pPr>
                      <a:r>
                        <a:rPr lang="en-US" sz="1400" dirty="0">
                          <a:solidFill>
                            <a:schemeClr val="tx1"/>
                          </a:solidFill>
                        </a:rPr>
                        <a:t>α (classical momentum)</a:t>
                      </a:r>
                      <a:endParaRPr lang="en-US" sz="1400" dirty="0"/>
                    </a:p>
                  </a:txBody>
                  <a:tcPr marL="45720" marR="45720" marT="45720" marB="45720" anchor="ctr">
                    <a:lnL w="9525" cap="flat" cmpd="sng" algn="ctr">
                      <a:solidFill>
                        <a:srgbClr val="9DB0C6"/>
                      </a:solidFill>
                      <a:prstDash val="solid"/>
                      <a:round/>
                      <a:headEnd type="none" w="med" len="med"/>
                      <a:tailEnd type="none" w="med" len="med"/>
                    </a:lnL>
                    <a:lnR w="9525" cap="flat" cmpd="sng" algn="ctr">
                      <a:solidFill>
                        <a:srgbClr val="9DB0C6"/>
                      </a:solidFill>
                      <a:prstDash val="solid"/>
                      <a:round/>
                      <a:headEnd type="none" w="med" len="med"/>
                      <a:tailEnd type="none" w="med" len="med"/>
                    </a:lnR>
                    <a:lnT w="9525" cap="flat" cmpd="sng" algn="ctr">
                      <a:solidFill>
                        <a:srgbClr val="9DB0C6"/>
                      </a:solidFill>
                      <a:prstDash val="solid"/>
                      <a:round/>
                      <a:headEnd type="none" w="med" len="med"/>
                      <a:tailEnd type="none" w="med" len="med"/>
                    </a:lnT>
                    <a:lnB w="9525" cap="flat" cmpd="sng" algn="ctr">
                      <a:solidFill>
                        <a:srgbClr val="9DB0C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none</a:t>
                      </a:r>
                      <a:endParaRPr lang="en-US" sz="1400" dirty="0"/>
                    </a:p>
                  </a:txBody>
                  <a:tcPr marL="45720" marR="45720" marT="45720" marB="45720" anchor="ctr">
                    <a:lnL w="9525" cap="flat" cmpd="sng" algn="ctr">
                      <a:solidFill>
                        <a:srgbClr val="9DB0C6"/>
                      </a:solidFill>
                      <a:prstDash val="solid"/>
                      <a:round/>
                      <a:headEnd type="none" w="med" len="med"/>
                      <a:tailEnd type="none" w="med" len="med"/>
                    </a:lnL>
                    <a:lnR w="9525" cap="flat" cmpd="sng" algn="ctr">
                      <a:solidFill>
                        <a:srgbClr val="9DB0C6"/>
                      </a:solidFill>
                      <a:prstDash val="solid"/>
                      <a:round/>
                      <a:headEnd type="none" w="med" len="med"/>
                      <a:tailEnd type="none" w="med" len="med"/>
                    </a:lnR>
                    <a:lnT w="9525" cap="flat" cmpd="sng" algn="ctr">
                      <a:solidFill>
                        <a:srgbClr val="9DB0C6"/>
                      </a:solidFill>
                      <a:prstDash val="solid"/>
                      <a:round/>
                      <a:headEnd type="none" w="med" len="med"/>
                      <a:tailEnd type="none" w="med" len="med"/>
                    </a:lnT>
                    <a:lnB w="9525" cap="flat" cmpd="sng" algn="ctr">
                      <a:solidFill>
                        <a:srgbClr val="9DB0C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0, 0.75, 0.85, 0.88, 0.9</a:t>
                      </a:r>
                      <a:endParaRPr lang="en-US" sz="1400" dirty="0"/>
                    </a:p>
                  </a:txBody>
                  <a:tcPr marL="45720" marR="45720" marT="45720" marB="45720" anchor="ctr">
                    <a:lnL w="9525" cap="flat" cmpd="sng" algn="ctr">
                      <a:solidFill>
                        <a:srgbClr val="9DB0C6"/>
                      </a:solidFill>
                      <a:prstDash val="solid"/>
                      <a:round/>
                      <a:headEnd type="none" w="med" len="med"/>
                      <a:tailEnd type="none" w="med" len="med"/>
                    </a:lnL>
                    <a:lnR w="9525" cap="flat" cmpd="sng" algn="ctr">
                      <a:solidFill>
                        <a:srgbClr val="9DB0C6"/>
                      </a:solidFill>
                      <a:prstDash val="solid"/>
                      <a:round/>
                      <a:headEnd type="none" w="med" len="med"/>
                      <a:tailEnd type="none" w="med" len="med"/>
                    </a:lnR>
                    <a:lnT w="9525" cap="flat" cmpd="sng" algn="ctr">
                      <a:solidFill>
                        <a:srgbClr val="9DB0C6"/>
                      </a:solidFill>
                      <a:prstDash val="solid"/>
                      <a:round/>
                      <a:headEnd type="none" w="med" len="med"/>
                      <a:tailEnd type="none" w="med" len="med"/>
                    </a:lnT>
                    <a:lnB w="9525" cap="flat" cmpd="sng" algn="ctr">
                      <a:solidFill>
                        <a:srgbClr val="9DB0C6"/>
                      </a:solidFill>
                      <a:prstDash val="solid"/>
                      <a:round/>
                      <a:headEnd type="none" w="med" len="med"/>
                      <a:tailEnd type="none" w="med" len="med"/>
                    </a:lnB>
                    <a:solidFill>
                      <a:schemeClr val="bg2"/>
                    </a:solidFill>
                  </a:tcPr>
                </a:tc>
              </a:tr>
              <a:tr h="329184">
                <a:tc>
                  <a:txBody>
                    <a:bodyPr/>
                    <a:lstStyle/>
                    <a:p>
                      <a:pPr indent="0" marL="0">
                        <a:buNone/>
                      </a:pPr>
                      <a:r>
                        <a:rPr lang="en-US" sz="1400" dirty="0">
                          <a:solidFill>
                            <a:schemeClr val="tx1"/>
                          </a:solidFill>
                        </a:rPr>
                        <a:t>λ (L2)</a:t>
                      </a:r>
                      <a:endParaRPr lang="en-US" sz="1400" dirty="0"/>
                    </a:p>
                  </a:txBody>
                  <a:tcPr marL="45720" marR="45720" marT="45720" marB="45720" anchor="ctr">
                    <a:lnL w="9525" cap="flat" cmpd="sng" algn="ctr">
                      <a:solidFill>
                        <a:srgbClr val="9DB0C6"/>
                      </a:solidFill>
                      <a:prstDash val="solid"/>
                      <a:round/>
                      <a:headEnd type="none" w="med" len="med"/>
                      <a:tailEnd type="none" w="med" len="med"/>
                    </a:lnL>
                    <a:lnR w="9525" cap="flat" cmpd="sng" algn="ctr">
                      <a:solidFill>
                        <a:srgbClr val="9DB0C6"/>
                      </a:solidFill>
                      <a:prstDash val="solid"/>
                      <a:round/>
                      <a:headEnd type="none" w="med" len="med"/>
                      <a:tailEnd type="none" w="med" len="med"/>
                    </a:lnR>
                    <a:lnT w="9525" cap="flat" cmpd="sng" algn="ctr">
                      <a:solidFill>
                        <a:srgbClr val="9DB0C6"/>
                      </a:solidFill>
                      <a:prstDash val="solid"/>
                      <a:round/>
                      <a:headEnd type="none" w="med" len="med"/>
                      <a:tailEnd type="none" w="med" len="med"/>
                    </a:lnT>
                    <a:lnB w="9525" cap="flat" cmpd="sng" algn="ctr">
                      <a:solidFill>
                        <a:srgbClr val="9DB0C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none</a:t>
                      </a:r>
                      <a:endParaRPr lang="en-US" sz="1400" dirty="0"/>
                    </a:p>
                  </a:txBody>
                  <a:tcPr marL="45720" marR="45720" marT="45720" marB="45720" anchor="ctr">
                    <a:lnL w="9525" cap="flat" cmpd="sng" algn="ctr">
                      <a:solidFill>
                        <a:srgbClr val="9DB0C6"/>
                      </a:solidFill>
                      <a:prstDash val="solid"/>
                      <a:round/>
                      <a:headEnd type="none" w="med" len="med"/>
                      <a:tailEnd type="none" w="med" len="med"/>
                    </a:lnL>
                    <a:lnR w="9525" cap="flat" cmpd="sng" algn="ctr">
                      <a:solidFill>
                        <a:srgbClr val="9DB0C6"/>
                      </a:solidFill>
                      <a:prstDash val="solid"/>
                      <a:round/>
                      <a:headEnd type="none" w="med" len="med"/>
                      <a:tailEnd type="none" w="med" len="med"/>
                    </a:lnR>
                    <a:lnT w="9525" cap="flat" cmpd="sng" algn="ctr">
                      <a:solidFill>
                        <a:srgbClr val="9DB0C6"/>
                      </a:solidFill>
                      <a:prstDash val="solid"/>
                      <a:round/>
                      <a:headEnd type="none" w="med" len="med"/>
                      <a:tailEnd type="none" w="med" len="med"/>
                    </a:lnT>
                    <a:lnB w="9525" cap="flat" cmpd="sng" algn="ctr">
                      <a:solidFill>
                        <a:srgbClr val="9DB0C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none, 0.008, 0.009, 0.01</a:t>
                      </a:r>
                      <a:endParaRPr lang="en-US" sz="1400" dirty="0"/>
                    </a:p>
                  </a:txBody>
                  <a:tcPr marL="45720" marR="45720" marT="45720" marB="45720" anchor="ctr">
                    <a:lnL w="9525" cap="flat" cmpd="sng" algn="ctr">
                      <a:solidFill>
                        <a:srgbClr val="9DB0C6"/>
                      </a:solidFill>
                      <a:prstDash val="solid"/>
                      <a:round/>
                      <a:headEnd type="none" w="med" len="med"/>
                      <a:tailEnd type="none" w="med" len="med"/>
                    </a:lnL>
                    <a:lnR w="9525" cap="flat" cmpd="sng" algn="ctr">
                      <a:solidFill>
                        <a:srgbClr val="9DB0C6"/>
                      </a:solidFill>
                      <a:prstDash val="solid"/>
                      <a:round/>
                      <a:headEnd type="none" w="med" len="med"/>
                      <a:tailEnd type="none" w="med" len="med"/>
                    </a:lnR>
                    <a:lnT w="9525" cap="flat" cmpd="sng" algn="ctr">
                      <a:solidFill>
                        <a:srgbClr val="9DB0C6"/>
                      </a:solidFill>
                      <a:prstDash val="solid"/>
                      <a:round/>
                      <a:headEnd type="none" w="med" len="med"/>
                      <a:tailEnd type="none" w="med" len="med"/>
                    </a:lnT>
                    <a:lnB w="9525" cap="flat" cmpd="sng" algn="ctr">
                      <a:solidFill>
                        <a:srgbClr val="9DB0C6"/>
                      </a:solidFill>
                      <a:prstDash val="solid"/>
                      <a:round/>
                      <a:headEnd type="none" w="med" len="med"/>
                      <a:tailEnd type="none" w="med" len="med"/>
                    </a:lnB>
                    <a:solidFill>
                      <a:schemeClr val="bg1"/>
                    </a:solidFill>
                  </a:tcPr>
                </a:tc>
              </a:tr>
              <a:tr h="329184">
                <a:tc>
                  <a:txBody>
                    <a:bodyPr/>
                    <a:lstStyle/>
                    <a:p>
                      <a:pPr indent="0" marL="0">
                        <a:buNone/>
                      </a:pPr>
                      <a:r>
                        <a:rPr lang="en-US" sz="1400" dirty="0">
                          <a:solidFill>
                            <a:schemeClr val="tx1"/>
                          </a:solidFill>
                        </a:rPr>
                        <a:t>Max epochs / patience</a:t>
                      </a:r>
                      <a:endParaRPr lang="en-US" sz="1400" dirty="0"/>
                    </a:p>
                  </a:txBody>
                  <a:tcPr marL="45720" marR="45720" marT="45720" marB="45720" anchor="ctr">
                    <a:lnL w="9525" cap="flat" cmpd="sng" algn="ctr">
                      <a:solidFill>
                        <a:srgbClr val="9DB0C6"/>
                      </a:solidFill>
                      <a:prstDash val="solid"/>
                      <a:round/>
                      <a:headEnd type="none" w="med" len="med"/>
                      <a:tailEnd type="none" w="med" len="med"/>
                    </a:lnL>
                    <a:lnR w="9525" cap="flat" cmpd="sng" algn="ctr">
                      <a:solidFill>
                        <a:srgbClr val="9DB0C6"/>
                      </a:solidFill>
                      <a:prstDash val="solid"/>
                      <a:round/>
                      <a:headEnd type="none" w="med" len="med"/>
                      <a:tailEnd type="none" w="med" len="med"/>
                    </a:lnR>
                    <a:lnT w="9525" cap="flat" cmpd="sng" algn="ctr">
                      <a:solidFill>
                        <a:srgbClr val="9DB0C6"/>
                      </a:solidFill>
                      <a:prstDash val="solid"/>
                      <a:round/>
                      <a:headEnd type="none" w="med" len="med"/>
                      <a:tailEnd type="none" w="med" len="med"/>
                    </a:lnT>
                    <a:lnB w="9525" cap="flat" cmpd="sng" algn="ctr">
                      <a:solidFill>
                        <a:srgbClr val="9DB0C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2500 / 50</a:t>
                      </a:r>
                      <a:endParaRPr lang="en-US" sz="1400" dirty="0"/>
                    </a:p>
                  </a:txBody>
                  <a:tcPr marL="45720" marR="45720" marT="45720" marB="45720" anchor="ctr">
                    <a:lnL w="9525" cap="flat" cmpd="sng" algn="ctr">
                      <a:solidFill>
                        <a:srgbClr val="9DB0C6"/>
                      </a:solidFill>
                      <a:prstDash val="solid"/>
                      <a:round/>
                      <a:headEnd type="none" w="med" len="med"/>
                      <a:tailEnd type="none" w="med" len="med"/>
                    </a:lnL>
                    <a:lnR w="9525" cap="flat" cmpd="sng" algn="ctr">
                      <a:solidFill>
                        <a:srgbClr val="9DB0C6"/>
                      </a:solidFill>
                      <a:prstDash val="solid"/>
                      <a:round/>
                      <a:headEnd type="none" w="med" len="med"/>
                      <a:tailEnd type="none" w="med" len="med"/>
                    </a:lnR>
                    <a:lnT w="9525" cap="flat" cmpd="sng" algn="ctr">
                      <a:solidFill>
                        <a:srgbClr val="9DB0C6"/>
                      </a:solidFill>
                      <a:prstDash val="solid"/>
                      <a:round/>
                      <a:headEnd type="none" w="med" len="med"/>
                      <a:tailEnd type="none" w="med" len="med"/>
                    </a:lnT>
                    <a:lnB w="9525" cap="flat" cmpd="sng" algn="ctr">
                      <a:solidFill>
                        <a:srgbClr val="9DB0C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2000 / 100</a:t>
                      </a:r>
                      <a:endParaRPr lang="en-US" sz="1400" dirty="0"/>
                    </a:p>
                  </a:txBody>
                  <a:tcPr marL="45720" marR="45720" marT="45720" marB="45720" anchor="ctr">
                    <a:lnL w="9525" cap="flat" cmpd="sng" algn="ctr">
                      <a:solidFill>
                        <a:srgbClr val="9DB0C6"/>
                      </a:solidFill>
                      <a:prstDash val="solid"/>
                      <a:round/>
                      <a:headEnd type="none" w="med" len="med"/>
                      <a:tailEnd type="none" w="med" len="med"/>
                    </a:lnL>
                    <a:lnR w="9525" cap="flat" cmpd="sng" algn="ctr">
                      <a:solidFill>
                        <a:srgbClr val="9DB0C6"/>
                      </a:solidFill>
                      <a:prstDash val="solid"/>
                      <a:round/>
                      <a:headEnd type="none" w="med" len="med"/>
                      <a:tailEnd type="none" w="med" len="med"/>
                    </a:lnR>
                    <a:lnT w="9525" cap="flat" cmpd="sng" algn="ctr">
                      <a:solidFill>
                        <a:srgbClr val="9DB0C6"/>
                      </a:solidFill>
                      <a:prstDash val="solid"/>
                      <a:round/>
                      <a:headEnd type="none" w="med" len="med"/>
                      <a:tailEnd type="none" w="med" len="med"/>
                    </a:lnT>
                    <a:lnB w="9525" cap="flat" cmpd="sng" algn="ctr">
                      <a:solidFill>
                        <a:srgbClr val="9DB0C6"/>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8138160" y="4736592"/>
            <a:ext cx="548640" cy="274320"/>
          </a:xfrm>
          <a:prstGeom prst="rect">
            <a:avLst/>
          </a:prstGeom>
          <a:extLst>
            <a:ext uri="{C572A759-6A51-4108-AA02-DFA0A04FC94B}">
              <ma14:wrappingTextBoxFlag xmlns:ma14="http://schemas.microsoft.com/office/mac/drawingml/2011/main" val="0"/>
            </a:ext>
          </a:extLst>
        </p:spPr>
        <p:txBody>
          <a:bodyPr/>
          <a:lstStyle>
            <a:lvl1pPr>
              <a:defRPr sz="1400">
                <a:solidFill>
                  <a:srgbClr val="5A6F8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594360"/>
          </a:xfrm>
          <a:prstGeom prst="rect">
            <a:avLst/>
          </a:prstGeom>
          <a:noFill/>
          <a:ln/>
        </p:spPr>
        <p:txBody>
          <a:bodyPr wrap="square" lIns="0" tIns="0" rIns="0" bIns="0" rtlCol="0" anchor="ctr"/>
          <a:lstStyle/>
          <a:p>
            <a:pPr indent="0" marL="0">
              <a:buNone/>
            </a:pPr>
            <a:r>
              <a:rPr lang="en-US" sz="2600" b="1" dirty="0">
                <a:solidFill>
                  <a:schemeClr val="tx2"/>
                </a:solidFill>
              </a:rPr>
              <a:t>CUP: what drove the search</a:t>
            </a:r>
            <a:endParaRPr lang="en-US" sz="2600" dirty="0"/>
          </a:p>
        </p:txBody>
      </p:sp>
      <p:sp>
        <p:nvSpPr>
          <p:cNvPr id="3" name="Text 1"/>
          <p:cNvSpPr txBox="1"/>
          <p:nvPr/>
        </p:nvSpPr>
        <p:spPr>
          <a:xfrm>
            <a:off x="457200" y="914400"/>
            <a:ext cx="8229600" cy="365760"/>
          </a:xfrm>
          <a:prstGeom prst="rect">
            <a:avLst/>
          </a:prstGeom>
          <a:noFill/>
          <a:ln/>
        </p:spPr>
        <p:txBody>
          <a:bodyPr wrap="square" lIns="635" tIns="635" rIns="635" bIns="635" rtlCol="0" anchor="t"/>
          <a:lstStyle/>
          <a:p>
            <a:pPr indent="0" marL="0">
              <a:buNone/>
            </a:pPr>
            <a:r>
              <a:rPr lang="en-US" sz="1400" i="1" dirty="0">
                <a:solidFill>
                  <a:schemeClr val="accent3"/>
                </a:solidFill>
              </a:rPr>
              <a:t>Table 3. Best configuration of each attempt: MEE, mean ± std across 5 folds (5 inits each).</a:t>
            </a:r>
            <a:endParaRPr lang="en-US" sz="14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1298448"/>
          <a:ext cx="8229600" cy="914400"/>
        </p:xfrm>
        <a:graphic>
          <a:graphicData uri="http://schemas.openxmlformats.org/drawingml/2006/table">
            <a:tbl>
              <a:tblPr/>
              <a:tblGrid>
                <a:gridCol w="2926080"/>
                <a:gridCol w="2468880"/>
                <a:gridCol w="1188720"/>
                <a:gridCol w="1645920"/>
              </a:tblGrid>
              <a:tr h="329184">
                <a:tc>
                  <a:txBody>
                    <a:bodyPr/>
                    <a:lstStyle/>
                    <a:p>
                      <a:pPr indent="0" marL="0">
                        <a:buNone/>
                      </a:pPr>
                      <a:r>
                        <a:rPr lang="en-US" sz="1400" b="1" dirty="0">
                          <a:solidFill>
                            <a:schemeClr val="bg1"/>
                          </a:solidFill>
                        </a:rPr>
                        <a:t>Grid</a:t>
                      </a:r>
                      <a:endParaRPr lang="en-US" sz="1400" dirty="0"/>
                    </a:p>
                  </a:txBody>
                  <a:tcPr marL="45720" marR="45720" marT="45720" marB="45720" anchor="ctr">
                    <a:lnL w="9525" cap="flat" cmpd="sng" algn="ctr">
                      <a:solidFill>
                        <a:srgbClr val="9DB0C6"/>
                      </a:solidFill>
                      <a:prstDash val="solid"/>
                      <a:round/>
                      <a:headEnd type="none" w="med" len="med"/>
                      <a:tailEnd type="none" w="med" len="med"/>
                    </a:lnL>
                    <a:lnR w="9525" cap="flat" cmpd="sng" algn="ctr">
                      <a:solidFill>
                        <a:srgbClr val="9DB0C6"/>
                      </a:solidFill>
                      <a:prstDash val="solid"/>
                      <a:round/>
                      <a:headEnd type="none" w="med" len="med"/>
                      <a:tailEnd type="none" w="med" len="med"/>
                    </a:lnR>
                    <a:lnT w="9525" cap="flat" cmpd="sng" algn="ctr">
                      <a:solidFill>
                        <a:srgbClr val="9DB0C6"/>
                      </a:solidFill>
                      <a:prstDash val="solid"/>
                      <a:round/>
                      <a:headEnd type="none" w="med" len="med"/>
                      <a:tailEnd type="none" w="med" len="med"/>
                    </a:lnT>
                    <a:lnB w="9525" cap="flat" cmpd="sng" algn="ctr">
                      <a:solidFill>
                        <a:srgbClr val="9DB0C6"/>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Best configuration</a:t>
                      </a:r>
                      <a:endParaRPr lang="en-US" sz="1400" dirty="0"/>
                    </a:p>
                  </a:txBody>
                  <a:tcPr marL="45720" marR="45720" marT="45720" marB="45720" anchor="ctr">
                    <a:lnL w="9525" cap="flat" cmpd="sng" algn="ctr">
                      <a:solidFill>
                        <a:srgbClr val="9DB0C6"/>
                      </a:solidFill>
                      <a:prstDash val="solid"/>
                      <a:round/>
                      <a:headEnd type="none" w="med" len="med"/>
                      <a:tailEnd type="none" w="med" len="med"/>
                    </a:lnL>
                    <a:lnR w="9525" cap="flat" cmpd="sng" algn="ctr">
                      <a:solidFill>
                        <a:srgbClr val="9DB0C6"/>
                      </a:solidFill>
                      <a:prstDash val="solid"/>
                      <a:round/>
                      <a:headEnd type="none" w="med" len="med"/>
                      <a:tailEnd type="none" w="med" len="med"/>
                    </a:lnR>
                    <a:lnT w="9525" cap="flat" cmpd="sng" algn="ctr">
                      <a:solidFill>
                        <a:srgbClr val="9DB0C6"/>
                      </a:solidFill>
                      <a:prstDash val="solid"/>
                      <a:round/>
                      <a:headEnd type="none" w="med" len="med"/>
                      <a:tailEnd type="none" w="med" len="med"/>
                    </a:lnT>
                    <a:lnB w="9525" cap="flat" cmpd="sng" algn="ctr">
                      <a:solidFill>
                        <a:srgbClr val="9DB0C6"/>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TR MEE</a:t>
                      </a:r>
                      <a:endParaRPr lang="en-US" sz="1400" dirty="0"/>
                    </a:p>
                  </a:txBody>
                  <a:tcPr marL="45720" marR="45720" marT="45720" marB="45720" anchor="ctr">
                    <a:lnL w="9525" cap="flat" cmpd="sng" algn="ctr">
                      <a:solidFill>
                        <a:srgbClr val="9DB0C6"/>
                      </a:solidFill>
                      <a:prstDash val="solid"/>
                      <a:round/>
                      <a:headEnd type="none" w="med" len="med"/>
                      <a:tailEnd type="none" w="med" len="med"/>
                    </a:lnL>
                    <a:lnR w="9525" cap="flat" cmpd="sng" algn="ctr">
                      <a:solidFill>
                        <a:srgbClr val="9DB0C6"/>
                      </a:solidFill>
                      <a:prstDash val="solid"/>
                      <a:round/>
                      <a:headEnd type="none" w="med" len="med"/>
                      <a:tailEnd type="none" w="med" len="med"/>
                    </a:lnR>
                    <a:lnT w="9525" cap="flat" cmpd="sng" algn="ctr">
                      <a:solidFill>
                        <a:srgbClr val="9DB0C6"/>
                      </a:solidFill>
                      <a:prstDash val="solid"/>
                      <a:round/>
                      <a:headEnd type="none" w="med" len="med"/>
                      <a:tailEnd type="none" w="med" len="med"/>
                    </a:lnT>
                    <a:lnB w="9525" cap="flat" cmpd="sng" algn="ctr">
                      <a:solidFill>
                        <a:srgbClr val="9DB0C6"/>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VL MEE</a:t>
                      </a:r>
                      <a:endParaRPr lang="en-US" sz="1400" dirty="0"/>
                    </a:p>
                  </a:txBody>
                  <a:tcPr marL="45720" marR="45720" marT="45720" marB="45720" anchor="ctr">
                    <a:lnL w="9525" cap="flat" cmpd="sng" algn="ctr">
                      <a:solidFill>
                        <a:srgbClr val="9DB0C6"/>
                      </a:solidFill>
                      <a:prstDash val="solid"/>
                      <a:round/>
                      <a:headEnd type="none" w="med" len="med"/>
                      <a:tailEnd type="none" w="med" len="med"/>
                    </a:lnL>
                    <a:lnR w="9525" cap="flat" cmpd="sng" algn="ctr">
                      <a:solidFill>
                        <a:srgbClr val="9DB0C6"/>
                      </a:solidFill>
                      <a:prstDash val="solid"/>
                      <a:round/>
                      <a:headEnd type="none" w="med" len="med"/>
                      <a:tailEnd type="none" w="med" len="med"/>
                    </a:lnR>
                    <a:lnT w="9525" cap="flat" cmpd="sng" algn="ctr">
                      <a:solidFill>
                        <a:srgbClr val="9DB0C6"/>
                      </a:solidFill>
                      <a:prstDash val="solid"/>
                      <a:round/>
                      <a:headEnd type="none" w="med" len="med"/>
                      <a:tailEnd type="none" w="med" len="med"/>
                    </a:lnT>
                    <a:lnB w="9525" cap="flat" cmpd="sng" algn="ctr">
                      <a:solidFill>
                        <a:srgbClr val="9DB0C6"/>
                      </a:solidFill>
                      <a:prstDash val="solid"/>
                      <a:round/>
                      <a:headEnd type="none" w="med" len="med"/>
                      <a:tailEnd type="none" w="med" len="med"/>
                    </a:lnB>
                    <a:solidFill>
                      <a:schemeClr val="tx2"/>
                    </a:solidFill>
                  </a:tcPr>
                </a:tc>
              </a:tr>
              <a:tr h="329184">
                <a:tc>
                  <a:txBody>
                    <a:bodyPr/>
                    <a:lstStyle/>
                    <a:p>
                      <a:pPr indent="0" marL="0">
                        <a:buNone/>
                      </a:pPr>
                      <a:r>
                        <a:rPr lang="en-US" sz="1400" dirty="0">
                          <a:solidFill>
                            <a:schemeClr val="tx1"/>
                          </a:solidFill>
                        </a:rPr>
                        <a:t>Coarse, tanh / Glorot (56)</a:t>
                      </a:r>
                      <a:endParaRPr lang="en-US" sz="1400" dirty="0"/>
                    </a:p>
                  </a:txBody>
                  <a:tcPr marL="45720" marR="45720" marT="45720" marB="45720" anchor="ctr">
                    <a:lnL w="9525" cap="flat" cmpd="sng" algn="ctr">
                      <a:solidFill>
                        <a:srgbClr val="9DB0C6"/>
                      </a:solidFill>
                      <a:prstDash val="solid"/>
                      <a:round/>
                      <a:headEnd type="none" w="med" len="med"/>
                      <a:tailEnd type="none" w="med" len="med"/>
                    </a:lnL>
                    <a:lnR w="9525" cap="flat" cmpd="sng" algn="ctr">
                      <a:solidFill>
                        <a:srgbClr val="9DB0C6"/>
                      </a:solidFill>
                      <a:prstDash val="solid"/>
                      <a:round/>
                      <a:headEnd type="none" w="med" len="med"/>
                      <a:tailEnd type="none" w="med" len="med"/>
                    </a:lnR>
                    <a:lnT w="9525" cap="flat" cmpd="sng" algn="ctr">
                      <a:solidFill>
                        <a:srgbClr val="9DB0C6"/>
                      </a:solidFill>
                      <a:prstDash val="solid"/>
                      <a:round/>
                      <a:headEnd type="none" w="med" len="med"/>
                      <a:tailEnd type="none" w="med" len="med"/>
                    </a:lnT>
                    <a:lnB w="9525" cap="flat" cmpd="sng" algn="ctr">
                      <a:solidFill>
                        <a:srgbClr val="9DB0C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64-64-32, η 0.01</a:t>
                      </a:r>
                      <a:endParaRPr lang="en-US" sz="1400" dirty="0"/>
                    </a:p>
                  </a:txBody>
                  <a:tcPr marL="45720" marR="45720" marT="45720" marB="45720" anchor="ctr">
                    <a:lnL w="9525" cap="flat" cmpd="sng" algn="ctr">
                      <a:solidFill>
                        <a:srgbClr val="9DB0C6"/>
                      </a:solidFill>
                      <a:prstDash val="solid"/>
                      <a:round/>
                      <a:headEnd type="none" w="med" len="med"/>
                      <a:tailEnd type="none" w="med" len="med"/>
                    </a:lnL>
                    <a:lnR w="9525" cap="flat" cmpd="sng" algn="ctr">
                      <a:solidFill>
                        <a:srgbClr val="9DB0C6"/>
                      </a:solidFill>
                      <a:prstDash val="solid"/>
                      <a:round/>
                      <a:headEnd type="none" w="med" len="med"/>
                      <a:tailEnd type="none" w="med" len="med"/>
                    </a:lnR>
                    <a:lnT w="9525" cap="flat" cmpd="sng" algn="ctr">
                      <a:solidFill>
                        <a:srgbClr val="9DB0C6"/>
                      </a:solidFill>
                      <a:prstDash val="solid"/>
                      <a:round/>
                      <a:headEnd type="none" w="med" len="med"/>
                      <a:tailEnd type="none" w="med" len="med"/>
                    </a:lnT>
                    <a:lnB w="9525" cap="flat" cmpd="sng" algn="ctr">
                      <a:solidFill>
                        <a:srgbClr val="9DB0C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20.17</a:t>
                      </a:r>
                      <a:endParaRPr lang="en-US" sz="1400" dirty="0"/>
                    </a:p>
                  </a:txBody>
                  <a:tcPr marL="45720" marR="45720" marT="45720" marB="45720" anchor="ctr">
                    <a:lnL w="9525" cap="flat" cmpd="sng" algn="ctr">
                      <a:solidFill>
                        <a:srgbClr val="9DB0C6"/>
                      </a:solidFill>
                      <a:prstDash val="solid"/>
                      <a:round/>
                      <a:headEnd type="none" w="med" len="med"/>
                      <a:tailEnd type="none" w="med" len="med"/>
                    </a:lnL>
                    <a:lnR w="9525" cap="flat" cmpd="sng" algn="ctr">
                      <a:solidFill>
                        <a:srgbClr val="9DB0C6"/>
                      </a:solidFill>
                      <a:prstDash val="solid"/>
                      <a:round/>
                      <a:headEnd type="none" w="med" len="med"/>
                      <a:tailEnd type="none" w="med" len="med"/>
                    </a:lnR>
                    <a:lnT w="9525" cap="flat" cmpd="sng" algn="ctr">
                      <a:solidFill>
                        <a:srgbClr val="9DB0C6"/>
                      </a:solidFill>
                      <a:prstDash val="solid"/>
                      <a:round/>
                      <a:headEnd type="none" w="med" len="med"/>
                      <a:tailEnd type="none" w="med" len="med"/>
                    </a:lnT>
                    <a:lnB w="9525" cap="flat" cmpd="sng" algn="ctr">
                      <a:solidFill>
                        <a:srgbClr val="9DB0C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22.09 ± 1.06</a:t>
                      </a:r>
                      <a:endParaRPr lang="en-US" sz="1400" dirty="0"/>
                    </a:p>
                  </a:txBody>
                  <a:tcPr marL="45720" marR="45720" marT="45720" marB="45720" anchor="ctr">
                    <a:lnL w="9525" cap="flat" cmpd="sng" algn="ctr">
                      <a:solidFill>
                        <a:srgbClr val="9DB0C6"/>
                      </a:solidFill>
                      <a:prstDash val="solid"/>
                      <a:round/>
                      <a:headEnd type="none" w="med" len="med"/>
                      <a:tailEnd type="none" w="med" len="med"/>
                    </a:lnL>
                    <a:lnR w="9525" cap="flat" cmpd="sng" algn="ctr">
                      <a:solidFill>
                        <a:srgbClr val="9DB0C6"/>
                      </a:solidFill>
                      <a:prstDash val="solid"/>
                      <a:round/>
                      <a:headEnd type="none" w="med" len="med"/>
                      <a:tailEnd type="none" w="med" len="med"/>
                    </a:lnR>
                    <a:lnT w="9525" cap="flat" cmpd="sng" algn="ctr">
                      <a:solidFill>
                        <a:srgbClr val="9DB0C6"/>
                      </a:solidFill>
                      <a:prstDash val="solid"/>
                      <a:round/>
                      <a:headEnd type="none" w="med" len="med"/>
                      <a:tailEnd type="none" w="med" len="med"/>
                    </a:lnT>
                    <a:lnB w="9525" cap="flat" cmpd="sng" algn="ctr">
                      <a:solidFill>
                        <a:srgbClr val="9DB0C6"/>
                      </a:solidFill>
                      <a:prstDash val="solid"/>
                      <a:round/>
                      <a:headEnd type="none" w="med" len="med"/>
                      <a:tailEnd type="none" w="med" len="med"/>
                    </a:lnB>
                    <a:solidFill>
                      <a:schemeClr val="bg1"/>
                    </a:solidFill>
                  </a:tcPr>
                </a:tc>
              </a:tr>
              <a:tr h="329184">
                <a:tc>
                  <a:txBody>
                    <a:bodyPr/>
                    <a:lstStyle/>
                    <a:p>
                      <a:pPr indent="0" marL="0">
                        <a:buNone/>
                      </a:pPr>
                      <a:r>
                        <a:rPr lang="en-US" sz="1400" dirty="0">
                          <a:solidFill>
                            <a:schemeClr val="tx1"/>
                          </a:solidFill>
                        </a:rPr>
                        <a:t>Coarse, sigmoid / Glorot (56)</a:t>
                      </a:r>
                      <a:endParaRPr lang="en-US" sz="1400" dirty="0"/>
                    </a:p>
                  </a:txBody>
                  <a:tcPr marL="45720" marR="45720" marT="45720" marB="45720" anchor="ctr">
                    <a:lnL w="9525" cap="flat" cmpd="sng" algn="ctr">
                      <a:solidFill>
                        <a:srgbClr val="9DB0C6"/>
                      </a:solidFill>
                      <a:prstDash val="solid"/>
                      <a:round/>
                      <a:headEnd type="none" w="med" len="med"/>
                      <a:tailEnd type="none" w="med" len="med"/>
                    </a:lnL>
                    <a:lnR w="9525" cap="flat" cmpd="sng" algn="ctr">
                      <a:solidFill>
                        <a:srgbClr val="9DB0C6"/>
                      </a:solidFill>
                      <a:prstDash val="solid"/>
                      <a:round/>
                      <a:headEnd type="none" w="med" len="med"/>
                      <a:tailEnd type="none" w="med" len="med"/>
                    </a:lnR>
                    <a:lnT w="9525" cap="flat" cmpd="sng" algn="ctr">
                      <a:solidFill>
                        <a:srgbClr val="9DB0C6"/>
                      </a:solidFill>
                      <a:prstDash val="solid"/>
                      <a:round/>
                      <a:headEnd type="none" w="med" len="med"/>
                      <a:tailEnd type="none" w="med" len="med"/>
                    </a:lnT>
                    <a:lnB w="9525" cap="flat" cmpd="sng" algn="ctr">
                      <a:solidFill>
                        <a:srgbClr val="9DB0C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64-64, η 0.1</a:t>
                      </a:r>
                      <a:endParaRPr lang="en-US" sz="1400" dirty="0"/>
                    </a:p>
                  </a:txBody>
                  <a:tcPr marL="45720" marR="45720" marT="45720" marB="45720" anchor="ctr">
                    <a:lnL w="9525" cap="flat" cmpd="sng" algn="ctr">
                      <a:solidFill>
                        <a:srgbClr val="9DB0C6"/>
                      </a:solidFill>
                      <a:prstDash val="solid"/>
                      <a:round/>
                      <a:headEnd type="none" w="med" len="med"/>
                      <a:tailEnd type="none" w="med" len="med"/>
                    </a:lnL>
                    <a:lnR w="9525" cap="flat" cmpd="sng" algn="ctr">
                      <a:solidFill>
                        <a:srgbClr val="9DB0C6"/>
                      </a:solidFill>
                      <a:prstDash val="solid"/>
                      <a:round/>
                      <a:headEnd type="none" w="med" len="med"/>
                      <a:tailEnd type="none" w="med" len="med"/>
                    </a:lnR>
                    <a:lnT w="9525" cap="flat" cmpd="sng" algn="ctr">
                      <a:solidFill>
                        <a:srgbClr val="9DB0C6"/>
                      </a:solidFill>
                      <a:prstDash val="solid"/>
                      <a:round/>
                      <a:headEnd type="none" w="med" len="med"/>
                      <a:tailEnd type="none" w="med" len="med"/>
                    </a:lnT>
                    <a:lnB w="9525" cap="flat" cmpd="sng" algn="ctr">
                      <a:solidFill>
                        <a:srgbClr val="9DB0C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23.35</a:t>
                      </a:r>
                      <a:endParaRPr lang="en-US" sz="1400" dirty="0"/>
                    </a:p>
                  </a:txBody>
                  <a:tcPr marL="45720" marR="45720" marT="45720" marB="45720" anchor="ctr">
                    <a:lnL w="9525" cap="flat" cmpd="sng" algn="ctr">
                      <a:solidFill>
                        <a:srgbClr val="9DB0C6"/>
                      </a:solidFill>
                      <a:prstDash val="solid"/>
                      <a:round/>
                      <a:headEnd type="none" w="med" len="med"/>
                      <a:tailEnd type="none" w="med" len="med"/>
                    </a:lnL>
                    <a:lnR w="9525" cap="flat" cmpd="sng" algn="ctr">
                      <a:solidFill>
                        <a:srgbClr val="9DB0C6"/>
                      </a:solidFill>
                      <a:prstDash val="solid"/>
                      <a:round/>
                      <a:headEnd type="none" w="med" len="med"/>
                      <a:tailEnd type="none" w="med" len="med"/>
                    </a:lnR>
                    <a:lnT w="9525" cap="flat" cmpd="sng" algn="ctr">
                      <a:solidFill>
                        <a:srgbClr val="9DB0C6"/>
                      </a:solidFill>
                      <a:prstDash val="solid"/>
                      <a:round/>
                      <a:headEnd type="none" w="med" len="med"/>
                      <a:tailEnd type="none" w="med" len="med"/>
                    </a:lnT>
                    <a:lnB w="9525" cap="flat" cmpd="sng" algn="ctr">
                      <a:solidFill>
                        <a:srgbClr val="9DB0C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23.78 ± 1.63</a:t>
                      </a:r>
                      <a:endParaRPr lang="en-US" sz="1400" dirty="0"/>
                    </a:p>
                  </a:txBody>
                  <a:tcPr marL="45720" marR="45720" marT="45720" marB="45720" anchor="ctr">
                    <a:lnL w="9525" cap="flat" cmpd="sng" algn="ctr">
                      <a:solidFill>
                        <a:srgbClr val="9DB0C6"/>
                      </a:solidFill>
                      <a:prstDash val="solid"/>
                      <a:round/>
                      <a:headEnd type="none" w="med" len="med"/>
                      <a:tailEnd type="none" w="med" len="med"/>
                    </a:lnL>
                    <a:lnR w="9525" cap="flat" cmpd="sng" algn="ctr">
                      <a:solidFill>
                        <a:srgbClr val="9DB0C6"/>
                      </a:solidFill>
                      <a:prstDash val="solid"/>
                      <a:round/>
                      <a:headEnd type="none" w="med" len="med"/>
                      <a:tailEnd type="none" w="med" len="med"/>
                    </a:lnR>
                    <a:lnT w="9525" cap="flat" cmpd="sng" algn="ctr">
                      <a:solidFill>
                        <a:srgbClr val="9DB0C6"/>
                      </a:solidFill>
                      <a:prstDash val="solid"/>
                      <a:round/>
                      <a:headEnd type="none" w="med" len="med"/>
                      <a:tailEnd type="none" w="med" len="med"/>
                    </a:lnT>
                    <a:lnB w="9525" cap="flat" cmpd="sng" algn="ctr">
                      <a:solidFill>
                        <a:srgbClr val="9DB0C6"/>
                      </a:solidFill>
                      <a:prstDash val="solid"/>
                      <a:round/>
                      <a:headEnd type="none" w="med" len="med"/>
                      <a:tailEnd type="none" w="med" len="med"/>
                    </a:lnB>
                    <a:solidFill>
                      <a:schemeClr val="bg2"/>
                    </a:solidFill>
                  </a:tcPr>
                </a:tc>
              </a:tr>
              <a:tr h="329184">
                <a:tc>
                  <a:txBody>
                    <a:bodyPr/>
                    <a:lstStyle/>
                    <a:p>
                      <a:pPr indent="0" marL="0">
                        <a:buNone/>
                      </a:pPr>
                      <a:r>
                        <a:rPr lang="en-US" sz="1400" dirty="0">
                          <a:solidFill>
                            <a:schemeClr val="tx1"/>
                          </a:solidFill>
                        </a:rPr>
                        <a:t>Coarse, ReLU / He (35)</a:t>
                      </a:r>
                      <a:endParaRPr lang="en-US" sz="1400" dirty="0"/>
                    </a:p>
                  </a:txBody>
                  <a:tcPr marL="45720" marR="45720" marT="45720" marB="45720" anchor="ctr">
                    <a:lnL w="9525" cap="flat" cmpd="sng" algn="ctr">
                      <a:solidFill>
                        <a:srgbClr val="9DB0C6"/>
                      </a:solidFill>
                      <a:prstDash val="solid"/>
                      <a:round/>
                      <a:headEnd type="none" w="med" len="med"/>
                      <a:tailEnd type="none" w="med" len="med"/>
                    </a:lnL>
                    <a:lnR w="9525" cap="flat" cmpd="sng" algn="ctr">
                      <a:solidFill>
                        <a:srgbClr val="9DB0C6"/>
                      </a:solidFill>
                      <a:prstDash val="solid"/>
                      <a:round/>
                      <a:headEnd type="none" w="med" len="med"/>
                      <a:tailEnd type="none" w="med" len="med"/>
                    </a:lnR>
                    <a:lnT w="9525" cap="flat" cmpd="sng" algn="ctr">
                      <a:solidFill>
                        <a:srgbClr val="9DB0C6"/>
                      </a:solidFill>
                      <a:prstDash val="solid"/>
                      <a:round/>
                      <a:headEnd type="none" w="med" len="med"/>
                      <a:tailEnd type="none" w="med" len="med"/>
                    </a:lnT>
                    <a:lnB w="9525" cap="flat" cmpd="sng" algn="ctr">
                      <a:solidFill>
                        <a:srgbClr val="9DB0C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32-32, η 0.01</a:t>
                      </a:r>
                      <a:endParaRPr lang="en-US" sz="1400" dirty="0"/>
                    </a:p>
                  </a:txBody>
                  <a:tcPr marL="45720" marR="45720" marT="45720" marB="45720" anchor="ctr">
                    <a:lnL w="9525" cap="flat" cmpd="sng" algn="ctr">
                      <a:solidFill>
                        <a:srgbClr val="9DB0C6"/>
                      </a:solidFill>
                      <a:prstDash val="solid"/>
                      <a:round/>
                      <a:headEnd type="none" w="med" len="med"/>
                      <a:tailEnd type="none" w="med" len="med"/>
                    </a:lnL>
                    <a:lnR w="9525" cap="flat" cmpd="sng" algn="ctr">
                      <a:solidFill>
                        <a:srgbClr val="9DB0C6"/>
                      </a:solidFill>
                      <a:prstDash val="solid"/>
                      <a:round/>
                      <a:headEnd type="none" w="med" len="med"/>
                      <a:tailEnd type="none" w="med" len="med"/>
                    </a:lnR>
                    <a:lnT w="9525" cap="flat" cmpd="sng" algn="ctr">
                      <a:solidFill>
                        <a:srgbClr val="9DB0C6"/>
                      </a:solidFill>
                      <a:prstDash val="solid"/>
                      <a:round/>
                      <a:headEnd type="none" w="med" len="med"/>
                      <a:tailEnd type="none" w="med" len="med"/>
                    </a:lnT>
                    <a:lnB w="9525" cap="flat" cmpd="sng" algn="ctr">
                      <a:solidFill>
                        <a:srgbClr val="9DB0C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20.44</a:t>
                      </a:r>
                      <a:endParaRPr lang="en-US" sz="1400" dirty="0"/>
                    </a:p>
                  </a:txBody>
                  <a:tcPr marL="45720" marR="45720" marT="45720" marB="45720" anchor="ctr">
                    <a:lnL w="9525" cap="flat" cmpd="sng" algn="ctr">
                      <a:solidFill>
                        <a:srgbClr val="9DB0C6"/>
                      </a:solidFill>
                      <a:prstDash val="solid"/>
                      <a:round/>
                      <a:headEnd type="none" w="med" len="med"/>
                      <a:tailEnd type="none" w="med" len="med"/>
                    </a:lnL>
                    <a:lnR w="9525" cap="flat" cmpd="sng" algn="ctr">
                      <a:solidFill>
                        <a:srgbClr val="9DB0C6"/>
                      </a:solidFill>
                      <a:prstDash val="solid"/>
                      <a:round/>
                      <a:headEnd type="none" w="med" len="med"/>
                      <a:tailEnd type="none" w="med" len="med"/>
                    </a:lnR>
                    <a:lnT w="9525" cap="flat" cmpd="sng" algn="ctr">
                      <a:solidFill>
                        <a:srgbClr val="9DB0C6"/>
                      </a:solidFill>
                      <a:prstDash val="solid"/>
                      <a:round/>
                      <a:headEnd type="none" w="med" len="med"/>
                      <a:tailEnd type="none" w="med" len="med"/>
                    </a:lnT>
                    <a:lnB w="9525" cap="flat" cmpd="sng" algn="ctr">
                      <a:solidFill>
                        <a:srgbClr val="9DB0C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22.39 ± 1.20</a:t>
                      </a:r>
                      <a:endParaRPr lang="en-US" sz="1400" dirty="0"/>
                    </a:p>
                  </a:txBody>
                  <a:tcPr marL="45720" marR="45720" marT="45720" marB="45720" anchor="ctr">
                    <a:lnL w="9525" cap="flat" cmpd="sng" algn="ctr">
                      <a:solidFill>
                        <a:srgbClr val="9DB0C6"/>
                      </a:solidFill>
                      <a:prstDash val="solid"/>
                      <a:round/>
                      <a:headEnd type="none" w="med" len="med"/>
                      <a:tailEnd type="none" w="med" len="med"/>
                    </a:lnL>
                    <a:lnR w="9525" cap="flat" cmpd="sng" algn="ctr">
                      <a:solidFill>
                        <a:srgbClr val="9DB0C6"/>
                      </a:solidFill>
                      <a:prstDash val="solid"/>
                      <a:round/>
                      <a:headEnd type="none" w="med" len="med"/>
                      <a:tailEnd type="none" w="med" len="med"/>
                    </a:lnR>
                    <a:lnT w="9525" cap="flat" cmpd="sng" algn="ctr">
                      <a:solidFill>
                        <a:srgbClr val="9DB0C6"/>
                      </a:solidFill>
                      <a:prstDash val="solid"/>
                      <a:round/>
                      <a:headEnd type="none" w="med" len="med"/>
                      <a:tailEnd type="none" w="med" len="med"/>
                    </a:lnT>
                    <a:lnB w="9525" cap="flat" cmpd="sng" algn="ctr">
                      <a:solidFill>
                        <a:srgbClr val="9DB0C6"/>
                      </a:solidFill>
                      <a:prstDash val="solid"/>
                      <a:round/>
                      <a:headEnd type="none" w="med" len="med"/>
                      <a:tailEnd type="none" w="med" len="med"/>
                    </a:lnB>
                    <a:solidFill>
                      <a:schemeClr val="bg1"/>
                    </a:solidFill>
                  </a:tcPr>
                </a:tc>
              </a:tr>
              <a:tr h="329184">
                <a:tc>
                  <a:txBody>
                    <a:bodyPr/>
                    <a:lstStyle/>
                    <a:p>
                      <a:pPr indent="0" marL="0">
                        <a:buNone/>
                      </a:pPr>
                      <a:r>
                        <a:rPr lang="en-US" sz="1400" dirty="0">
                          <a:solidFill>
                            <a:schemeClr val="tx1"/>
                          </a:solidFill>
                        </a:rPr>
                        <a:t>64-64 ReLU, momentum</a:t>
                      </a:r>
                      <a:endParaRPr lang="en-US" sz="1400" dirty="0"/>
                    </a:p>
                  </a:txBody>
                  <a:tcPr marL="45720" marR="45720" marT="45720" marB="45720" anchor="ctr">
                    <a:lnL w="9525" cap="flat" cmpd="sng" algn="ctr">
                      <a:solidFill>
                        <a:srgbClr val="9DB0C6"/>
                      </a:solidFill>
                      <a:prstDash val="solid"/>
                      <a:round/>
                      <a:headEnd type="none" w="med" len="med"/>
                      <a:tailEnd type="none" w="med" len="med"/>
                    </a:lnL>
                    <a:lnR w="9525" cap="flat" cmpd="sng" algn="ctr">
                      <a:solidFill>
                        <a:srgbClr val="9DB0C6"/>
                      </a:solidFill>
                      <a:prstDash val="solid"/>
                      <a:round/>
                      <a:headEnd type="none" w="med" len="med"/>
                      <a:tailEnd type="none" w="med" len="med"/>
                    </a:lnR>
                    <a:lnT w="9525" cap="flat" cmpd="sng" algn="ctr">
                      <a:solidFill>
                        <a:srgbClr val="9DB0C6"/>
                      </a:solidFill>
                      <a:prstDash val="solid"/>
                      <a:round/>
                      <a:headEnd type="none" w="med" len="med"/>
                      <a:tailEnd type="none" w="med" len="med"/>
                    </a:lnT>
                    <a:lnB w="9525" cap="flat" cmpd="sng" algn="ctr">
                      <a:solidFill>
                        <a:srgbClr val="9DB0C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η 0.005, α 0.9</a:t>
                      </a:r>
                      <a:endParaRPr lang="en-US" sz="1400" dirty="0"/>
                    </a:p>
                  </a:txBody>
                  <a:tcPr marL="45720" marR="45720" marT="45720" marB="45720" anchor="ctr">
                    <a:lnL w="9525" cap="flat" cmpd="sng" algn="ctr">
                      <a:solidFill>
                        <a:srgbClr val="9DB0C6"/>
                      </a:solidFill>
                      <a:prstDash val="solid"/>
                      <a:round/>
                      <a:headEnd type="none" w="med" len="med"/>
                      <a:tailEnd type="none" w="med" len="med"/>
                    </a:lnL>
                    <a:lnR w="9525" cap="flat" cmpd="sng" algn="ctr">
                      <a:solidFill>
                        <a:srgbClr val="9DB0C6"/>
                      </a:solidFill>
                      <a:prstDash val="solid"/>
                      <a:round/>
                      <a:headEnd type="none" w="med" len="med"/>
                      <a:tailEnd type="none" w="med" len="med"/>
                    </a:lnR>
                    <a:lnT w="9525" cap="flat" cmpd="sng" algn="ctr">
                      <a:solidFill>
                        <a:srgbClr val="9DB0C6"/>
                      </a:solidFill>
                      <a:prstDash val="solid"/>
                      <a:round/>
                      <a:headEnd type="none" w="med" len="med"/>
                      <a:tailEnd type="none" w="med" len="med"/>
                    </a:lnT>
                    <a:lnB w="9525" cap="flat" cmpd="sng" algn="ctr">
                      <a:solidFill>
                        <a:srgbClr val="9DB0C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17.70</a:t>
                      </a:r>
                      <a:endParaRPr lang="en-US" sz="1400" dirty="0"/>
                    </a:p>
                  </a:txBody>
                  <a:tcPr marL="45720" marR="45720" marT="45720" marB="45720" anchor="ctr">
                    <a:lnL w="9525" cap="flat" cmpd="sng" algn="ctr">
                      <a:solidFill>
                        <a:srgbClr val="9DB0C6"/>
                      </a:solidFill>
                      <a:prstDash val="solid"/>
                      <a:round/>
                      <a:headEnd type="none" w="med" len="med"/>
                      <a:tailEnd type="none" w="med" len="med"/>
                    </a:lnL>
                    <a:lnR w="9525" cap="flat" cmpd="sng" algn="ctr">
                      <a:solidFill>
                        <a:srgbClr val="9DB0C6"/>
                      </a:solidFill>
                      <a:prstDash val="solid"/>
                      <a:round/>
                      <a:headEnd type="none" w="med" len="med"/>
                      <a:tailEnd type="none" w="med" len="med"/>
                    </a:lnR>
                    <a:lnT w="9525" cap="flat" cmpd="sng" algn="ctr">
                      <a:solidFill>
                        <a:srgbClr val="9DB0C6"/>
                      </a:solidFill>
                      <a:prstDash val="solid"/>
                      <a:round/>
                      <a:headEnd type="none" w="med" len="med"/>
                      <a:tailEnd type="none" w="med" len="med"/>
                    </a:lnT>
                    <a:lnB w="9525" cap="flat" cmpd="sng" algn="ctr">
                      <a:solidFill>
                        <a:srgbClr val="9DB0C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21.49 ± 0.75</a:t>
                      </a:r>
                      <a:endParaRPr lang="en-US" sz="1400" dirty="0"/>
                    </a:p>
                  </a:txBody>
                  <a:tcPr marL="45720" marR="45720" marT="45720" marB="45720" anchor="ctr">
                    <a:lnL w="9525" cap="flat" cmpd="sng" algn="ctr">
                      <a:solidFill>
                        <a:srgbClr val="9DB0C6"/>
                      </a:solidFill>
                      <a:prstDash val="solid"/>
                      <a:round/>
                      <a:headEnd type="none" w="med" len="med"/>
                      <a:tailEnd type="none" w="med" len="med"/>
                    </a:lnL>
                    <a:lnR w="9525" cap="flat" cmpd="sng" algn="ctr">
                      <a:solidFill>
                        <a:srgbClr val="9DB0C6"/>
                      </a:solidFill>
                      <a:prstDash val="solid"/>
                      <a:round/>
                      <a:headEnd type="none" w="med" len="med"/>
                      <a:tailEnd type="none" w="med" len="med"/>
                    </a:lnR>
                    <a:lnT w="9525" cap="flat" cmpd="sng" algn="ctr">
                      <a:solidFill>
                        <a:srgbClr val="9DB0C6"/>
                      </a:solidFill>
                      <a:prstDash val="solid"/>
                      <a:round/>
                      <a:headEnd type="none" w="med" len="med"/>
                      <a:tailEnd type="none" w="med" len="med"/>
                    </a:lnT>
                    <a:lnB w="9525" cap="flat" cmpd="sng" algn="ctr">
                      <a:solidFill>
                        <a:srgbClr val="9DB0C6"/>
                      </a:solidFill>
                      <a:prstDash val="solid"/>
                      <a:round/>
                      <a:headEnd type="none" w="med" len="med"/>
                      <a:tailEnd type="none" w="med" len="med"/>
                    </a:lnB>
                    <a:solidFill>
                      <a:schemeClr val="bg2"/>
                    </a:solidFill>
                  </a:tcPr>
                </a:tc>
              </a:tr>
              <a:tr h="329184">
                <a:tc>
                  <a:txBody>
                    <a:bodyPr/>
                    <a:lstStyle/>
                    <a:p>
                      <a:pPr indent="0" marL="0">
                        <a:buNone/>
                      </a:pPr>
                      <a:r>
                        <a:rPr lang="en-US" sz="1400" dirty="0">
                          <a:solidFill>
                            <a:schemeClr val="tx1"/>
                          </a:solidFill>
                        </a:rPr>
                        <a:t>64-64 ReLU, momentum + L2</a:t>
                      </a:r>
                      <a:endParaRPr lang="en-US" sz="1400" dirty="0"/>
                    </a:p>
                  </a:txBody>
                  <a:tcPr marL="45720" marR="45720" marT="45720" marB="45720" anchor="ctr">
                    <a:lnL w="9525" cap="flat" cmpd="sng" algn="ctr">
                      <a:solidFill>
                        <a:srgbClr val="9DB0C6"/>
                      </a:solidFill>
                      <a:prstDash val="solid"/>
                      <a:round/>
                      <a:headEnd type="none" w="med" len="med"/>
                      <a:tailEnd type="none" w="med" len="med"/>
                    </a:lnL>
                    <a:lnR w="9525" cap="flat" cmpd="sng" algn="ctr">
                      <a:solidFill>
                        <a:srgbClr val="9DB0C6"/>
                      </a:solidFill>
                      <a:prstDash val="solid"/>
                      <a:round/>
                      <a:headEnd type="none" w="med" len="med"/>
                      <a:tailEnd type="none" w="med" len="med"/>
                    </a:lnR>
                    <a:lnT w="9525" cap="flat" cmpd="sng" algn="ctr">
                      <a:solidFill>
                        <a:srgbClr val="9DB0C6"/>
                      </a:solidFill>
                      <a:prstDash val="solid"/>
                      <a:round/>
                      <a:headEnd type="none" w="med" len="med"/>
                      <a:tailEnd type="none" w="med" len="med"/>
                    </a:lnT>
                    <a:lnB w="9525" cap="flat" cmpd="sng" algn="ctr">
                      <a:solidFill>
                        <a:srgbClr val="9DB0C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η 0.009, α 0.85, λ 0.01</a:t>
                      </a:r>
                      <a:endParaRPr lang="en-US" sz="1400" dirty="0"/>
                    </a:p>
                  </a:txBody>
                  <a:tcPr marL="45720" marR="45720" marT="45720" marB="45720" anchor="ctr">
                    <a:lnL w="9525" cap="flat" cmpd="sng" algn="ctr">
                      <a:solidFill>
                        <a:srgbClr val="9DB0C6"/>
                      </a:solidFill>
                      <a:prstDash val="solid"/>
                      <a:round/>
                      <a:headEnd type="none" w="med" len="med"/>
                      <a:tailEnd type="none" w="med" len="med"/>
                    </a:lnL>
                    <a:lnR w="9525" cap="flat" cmpd="sng" algn="ctr">
                      <a:solidFill>
                        <a:srgbClr val="9DB0C6"/>
                      </a:solidFill>
                      <a:prstDash val="solid"/>
                      <a:round/>
                      <a:headEnd type="none" w="med" len="med"/>
                      <a:tailEnd type="none" w="med" len="med"/>
                    </a:lnR>
                    <a:lnT w="9525" cap="flat" cmpd="sng" algn="ctr">
                      <a:solidFill>
                        <a:srgbClr val="9DB0C6"/>
                      </a:solidFill>
                      <a:prstDash val="solid"/>
                      <a:round/>
                      <a:headEnd type="none" w="med" len="med"/>
                      <a:tailEnd type="none" w="med" len="med"/>
                    </a:lnT>
                    <a:lnB w="9525" cap="flat" cmpd="sng" algn="ctr">
                      <a:solidFill>
                        <a:srgbClr val="9DB0C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18.20</a:t>
                      </a:r>
                      <a:endParaRPr lang="en-US" sz="1400" dirty="0"/>
                    </a:p>
                  </a:txBody>
                  <a:tcPr marL="45720" marR="45720" marT="45720" marB="45720" anchor="ctr">
                    <a:lnL w="9525" cap="flat" cmpd="sng" algn="ctr">
                      <a:solidFill>
                        <a:srgbClr val="9DB0C6"/>
                      </a:solidFill>
                      <a:prstDash val="solid"/>
                      <a:round/>
                      <a:headEnd type="none" w="med" len="med"/>
                      <a:tailEnd type="none" w="med" len="med"/>
                    </a:lnL>
                    <a:lnR w="9525" cap="flat" cmpd="sng" algn="ctr">
                      <a:solidFill>
                        <a:srgbClr val="9DB0C6"/>
                      </a:solidFill>
                      <a:prstDash val="solid"/>
                      <a:round/>
                      <a:headEnd type="none" w="med" len="med"/>
                      <a:tailEnd type="none" w="med" len="med"/>
                    </a:lnR>
                    <a:lnT w="9525" cap="flat" cmpd="sng" algn="ctr">
                      <a:solidFill>
                        <a:srgbClr val="9DB0C6"/>
                      </a:solidFill>
                      <a:prstDash val="solid"/>
                      <a:round/>
                      <a:headEnd type="none" w="med" len="med"/>
                      <a:tailEnd type="none" w="med" len="med"/>
                    </a:lnT>
                    <a:lnB w="9525" cap="flat" cmpd="sng" algn="ctr">
                      <a:solidFill>
                        <a:srgbClr val="9DB0C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21.22 ± 1.30</a:t>
                      </a:r>
                      <a:endParaRPr lang="en-US" sz="1400" dirty="0"/>
                    </a:p>
                  </a:txBody>
                  <a:tcPr marL="45720" marR="45720" marT="45720" marB="45720" anchor="ctr">
                    <a:lnL w="9525" cap="flat" cmpd="sng" algn="ctr">
                      <a:solidFill>
                        <a:srgbClr val="9DB0C6"/>
                      </a:solidFill>
                      <a:prstDash val="solid"/>
                      <a:round/>
                      <a:headEnd type="none" w="med" len="med"/>
                      <a:tailEnd type="none" w="med" len="med"/>
                    </a:lnL>
                    <a:lnR w="9525" cap="flat" cmpd="sng" algn="ctr">
                      <a:solidFill>
                        <a:srgbClr val="9DB0C6"/>
                      </a:solidFill>
                      <a:prstDash val="solid"/>
                      <a:round/>
                      <a:headEnd type="none" w="med" len="med"/>
                      <a:tailEnd type="none" w="med" len="med"/>
                    </a:lnR>
                    <a:lnT w="9525" cap="flat" cmpd="sng" algn="ctr">
                      <a:solidFill>
                        <a:srgbClr val="9DB0C6"/>
                      </a:solidFill>
                      <a:prstDash val="solid"/>
                      <a:round/>
                      <a:headEnd type="none" w="med" len="med"/>
                      <a:tailEnd type="none" w="med" len="med"/>
                    </a:lnT>
                    <a:lnB w="9525" cap="flat" cmpd="sng" algn="ctr">
                      <a:solidFill>
                        <a:srgbClr val="9DB0C6"/>
                      </a:solidFill>
                      <a:prstDash val="solid"/>
                      <a:round/>
                      <a:headEnd type="none" w="med" len="med"/>
                      <a:tailEnd type="none" w="med" len="med"/>
                    </a:lnB>
                    <a:solidFill>
                      <a:schemeClr val="bg1"/>
                    </a:solidFill>
                  </a:tcPr>
                </a:tc>
              </a:tr>
            </a:tbl>
          </a:graphicData>
        </a:graphic>
      </p:graphicFrame>
      <p:sp>
        <p:nvSpPr>
          <p:cNvPr id="5" name="Shape 2"/>
          <p:cNvSpPr/>
          <p:nvPr/>
        </p:nvSpPr>
        <p:spPr>
          <a:xfrm>
            <a:off x="457200" y="3419856"/>
            <a:ext cx="310896" cy="310896"/>
          </a:xfrm>
          <a:prstGeom prst="ellipse">
            <a:avLst/>
          </a:prstGeom>
          <a:solidFill>
            <a:schemeClr val="tx2"/>
          </a:solidFill>
          <a:ln/>
        </p:spPr>
      </p:sp>
      <p:sp>
        <p:nvSpPr>
          <p:cNvPr id="6" name="Text 3"/>
          <p:cNvSpPr txBox="1"/>
          <p:nvPr/>
        </p:nvSpPr>
        <p:spPr>
          <a:xfrm>
            <a:off x="457200" y="3419856"/>
            <a:ext cx="310896" cy="310896"/>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 4"/>
          <p:cNvSpPr txBox="1"/>
          <p:nvPr/>
        </p:nvSpPr>
        <p:spPr>
          <a:xfrm>
            <a:off x="896112" y="3401568"/>
            <a:ext cx="7790688" cy="384048"/>
          </a:xfrm>
          <a:prstGeom prst="rect">
            <a:avLst/>
          </a:prstGeom>
          <a:noFill/>
          <a:ln/>
        </p:spPr>
        <p:txBody>
          <a:bodyPr wrap="square" lIns="635" tIns="635" rIns="635" bIns="635" rtlCol="0" anchor="ctr"/>
          <a:lstStyle/>
          <a:p>
            <a:pPr indent="0" marL="0">
              <a:buNone/>
            </a:pPr>
            <a:r>
              <a:rPr lang="en-US" sz="1400" b="1" dirty="0">
                <a:solidFill>
                  <a:schemeClr val="tx1"/>
                </a:solidFill>
              </a:rPr>
              <a:t>Activation: </a:t>
            </a:r>
            <a:pPr indent="0" marL="0">
              <a:buNone/>
            </a:pPr>
            <a:r>
              <a:rPr lang="en-US" sz="1400" dirty="0">
                <a:solidFill>
                  <a:schemeClr val="tx1"/>
                </a:solidFill>
              </a:rPr>
              <a:t>tanh and ReLU are within one std, sigmoid is clearly worse</a:t>
            </a:r>
            <a:endParaRPr lang="en-US" sz="1400" dirty="0"/>
          </a:p>
        </p:txBody>
      </p:sp>
      <p:sp>
        <p:nvSpPr>
          <p:cNvPr id="8" name="Shape 5"/>
          <p:cNvSpPr/>
          <p:nvPr/>
        </p:nvSpPr>
        <p:spPr>
          <a:xfrm>
            <a:off x="457200" y="3822192"/>
            <a:ext cx="310896" cy="310896"/>
          </a:xfrm>
          <a:prstGeom prst="ellipse">
            <a:avLst/>
          </a:prstGeom>
          <a:solidFill>
            <a:schemeClr val="tx2"/>
          </a:solidFill>
          <a:ln/>
        </p:spPr>
      </p:sp>
      <p:sp>
        <p:nvSpPr>
          <p:cNvPr id="9" name="Text 6"/>
          <p:cNvSpPr txBox="1"/>
          <p:nvPr/>
        </p:nvSpPr>
        <p:spPr>
          <a:xfrm>
            <a:off x="457200" y="3822192"/>
            <a:ext cx="310896" cy="310896"/>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0" name="Text 7"/>
          <p:cNvSpPr txBox="1"/>
          <p:nvPr/>
        </p:nvSpPr>
        <p:spPr>
          <a:xfrm>
            <a:off x="896112" y="3803904"/>
            <a:ext cx="7790688" cy="384048"/>
          </a:xfrm>
          <a:prstGeom prst="rect">
            <a:avLst/>
          </a:prstGeom>
          <a:noFill/>
          <a:ln/>
        </p:spPr>
        <p:txBody>
          <a:bodyPr wrap="square" lIns="635" tIns="635" rIns="635" bIns="635" rtlCol="0" anchor="ctr"/>
          <a:lstStyle/>
          <a:p>
            <a:pPr indent="0" marL="0">
              <a:buNone/>
            </a:pPr>
            <a:r>
              <a:rPr lang="en-US" sz="1400" b="1" dirty="0">
                <a:solidFill>
                  <a:schemeClr val="tx1"/>
                </a:solidFill>
              </a:rPr>
              <a:t>Momentum and L2 </a:t>
            </a:r>
            <a:pPr indent="0" marL="0">
              <a:buNone/>
            </a:pPr>
            <a:r>
              <a:rPr lang="en-US" sz="1400" dirty="0">
                <a:solidFill>
                  <a:schemeClr val="tx1"/>
                </a:solidFill>
              </a:rPr>
              <a:t>bring the 64-64 ReLU network from 22.4 to about 21.2 VL MEE</a:t>
            </a:r>
            <a:endParaRPr lang="en-US" sz="1400" dirty="0"/>
          </a:p>
        </p:txBody>
      </p:sp>
      <p:sp>
        <p:nvSpPr>
          <p:cNvPr id="11" name="Shape 8"/>
          <p:cNvSpPr/>
          <p:nvPr/>
        </p:nvSpPr>
        <p:spPr>
          <a:xfrm>
            <a:off x="457200" y="4224528"/>
            <a:ext cx="310896" cy="310896"/>
          </a:xfrm>
          <a:prstGeom prst="ellipse">
            <a:avLst/>
          </a:prstGeom>
          <a:solidFill>
            <a:schemeClr val="tx2"/>
          </a:solidFill>
          <a:ln/>
        </p:spPr>
      </p:sp>
      <p:sp>
        <p:nvSpPr>
          <p:cNvPr id="12" name="Text 9"/>
          <p:cNvSpPr txBox="1"/>
          <p:nvPr/>
        </p:nvSpPr>
        <p:spPr>
          <a:xfrm>
            <a:off x="457200" y="4224528"/>
            <a:ext cx="310896" cy="310896"/>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3" name="Text 10"/>
          <p:cNvSpPr txBox="1"/>
          <p:nvPr/>
        </p:nvSpPr>
        <p:spPr>
          <a:xfrm>
            <a:off x="896112" y="4206240"/>
            <a:ext cx="7790688" cy="384048"/>
          </a:xfrm>
          <a:prstGeom prst="rect">
            <a:avLst/>
          </a:prstGeom>
          <a:noFill/>
          <a:ln/>
        </p:spPr>
        <p:txBody>
          <a:bodyPr wrap="square" lIns="635" tIns="635" rIns="635" bIns="635" rtlCol="0" anchor="ctr"/>
          <a:lstStyle/>
          <a:p>
            <a:pPr indent="0" marL="0">
              <a:buNone/>
            </a:pPr>
            <a:r>
              <a:rPr lang="en-US" sz="1400" b="1" dirty="0">
                <a:solidFill>
                  <a:schemeClr val="tx1"/>
                </a:solidFill>
              </a:rPr>
              <a:t>Learning rate: </a:t>
            </a:r>
            <a:pPr indent="0" marL="0">
              <a:buNone/>
            </a:pPr>
            <a:r>
              <a:rPr lang="en-US" sz="1400" dirty="0">
                <a:solidFill>
                  <a:schemeClr val="tx1"/>
                </a:solidFill>
              </a:rPr>
              <a:t>with full batch η ≥ 0.1 is unstable (one tanh / He run: VL MEE 81)</a:t>
            </a:r>
            <a:endParaRPr lang="en-US" sz="1400" dirty="0"/>
          </a:p>
        </p:txBody>
      </p:sp>
      <p:sp>
        <p:nvSpPr>
          <p:cNvPr id="25" name="Slide Number Placeholder 0"/>
          <p:cNvSpPr>
            <a:spLocks noGrp="1"/>
          </p:cNvSpPr>
          <p:nvPr>
            <p:ph type="sldNum" sz="quarter" idx="4294967295"/>
          </p:nvPr>
        </p:nvSpPr>
        <p:spPr>
          <a:xfrm>
            <a:off x="8138160" y="4736592"/>
            <a:ext cx="548640" cy="274320"/>
          </a:xfrm>
          <a:prstGeom prst="rect">
            <a:avLst/>
          </a:prstGeom>
          <a:extLst>
            <a:ext uri="{C572A759-6A51-4108-AA02-DFA0A04FC94B}">
              <ma14:wrappingTextBoxFlag xmlns:ma14="http://schemas.microsoft.com/office/mac/drawingml/2011/main" val="0"/>
            </a:ext>
          </a:extLst>
        </p:spPr>
        <p:txBody>
          <a:bodyPr/>
          <a:lstStyle>
            <a:lvl1pPr>
              <a:defRPr sz="1400">
                <a:solidFill>
                  <a:srgbClr val="5A6F8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594360"/>
          </a:xfrm>
          <a:prstGeom prst="rect">
            <a:avLst/>
          </a:prstGeom>
          <a:noFill/>
          <a:ln/>
        </p:spPr>
        <p:txBody>
          <a:bodyPr wrap="square" lIns="0" tIns="0" rIns="0" bIns="0" rtlCol="0" anchor="ctr"/>
          <a:lstStyle/>
          <a:p>
            <a:pPr indent="0" marL="0">
              <a:buNone/>
            </a:pPr>
            <a:r>
              <a:rPr lang="en-US" sz="2600" b="1" dirty="0">
                <a:solidFill>
                  <a:schemeClr val="tx2"/>
                </a:solidFill>
              </a:rPr>
              <a:t>CUP final model</a:t>
            </a:r>
            <a:endParaRPr lang="en-US" sz="2600" dirty="0"/>
          </a:p>
        </p:txBody>
      </p:sp>
      <p:sp>
        <p:nvSpPr>
          <p:cNvPr id="3" name="selection and hyper-parameters"/>
          <p:cNvSpPr/>
          <p:nvPr/>
        </p:nvSpPr>
        <p:spPr>
          <a:xfrm>
            <a:off x="457200" y="960120"/>
            <a:ext cx="3977640" cy="3611880"/>
          </a:xfrm>
          <a:prstGeom prst="roundRect">
            <a:avLst>
              <a:gd name="adj" fmla="val 2025"/>
            </a:avLst>
          </a:prstGeom>
          <a:solidFill>
            <a:schemeClr val="bg2"/>
          </a:solidFill>
          <a:ln/>
        </p:spPr>
      </p:sp>
      <p:sp>
        <p:nvSpPr>
          <p:cNvPr id="4" name="Text 2"/>
          <p:cNvSpPr txBox="1"/>
          <p:nvPr/>
        </p:nvSpPr>
        <p:spPr>
          <a:xfrm>
            <a:off x="594360" y="1051560"/>
            <a:ext cx="3703320" cy="3474720"/>
          </a:xfrm>
          <a:prstGeom prst="rect">
            <a:avLst/>
          </a:prstGeom>
          <a:noFill/>
          <a:ln/>
        </p:spPr>
        <p:txBody>
          <a:bodyPr wrap="square" lIns="635" tIns="635" rIns="635" bIns="635" rtlCol="0" anchor="t"/>
          <a:lstStyle/>
          <a:p>
            <a:pPr indent="0" marL="0">
              <a:spcAft>
                <a:spcPts val="300"/>
              </a:spcAft>
              <a:buNone/>
            </a:pPr>
            <a:r>
              <a:rPr lang="en-US" sz="1600" b="1" dirty="0">
                <a:solidFill>
                  <a:schemeClr val="tx2"/>
                </a:solidFill>
              </a:rPr>
              <a:t>How it was selected</a:t>
            </a:r>
            <a:endParaRPr lang="en-US" sz="1400" dirty="0"/>
          </a:p>
          <a:p>
            <a:pPr indent="0" marL="0">
              <a:spcAft>
                <a:spcPts val="800"/>
              </a:spcAft>
              <a:buNone/>
            </a:pPr>
            <a:r>
              <a:rPr lang="en-US" sz="1400" dirty="0">
                <a:solidFill>
                  <a:schemeClr val="tx1"/>
                </a:solidFill>
              </a:rPr>
              <a:t>Lowest mean VL MEE in the fine grid (60 configurations, 3-fold CV × 10 inits)</a:t>
            </a:r>
            <a:endParaRPr lang="en-US" sz="1400" dirty="0"/>
          </a:p>
          <a:p>
            <a:pPr indent="0" marL="0">
              <a:spcAft>
                <a:spcPts val="300"/>
              </a:spcAft>
              <a:buNone/>
            </a:pPr>
            <a:r>
              <a:rPr lang="en-US" sz="1600" b="1" dirty="0">
                <a:solidFill>
                  <a:schemeClr val="tx2"/>
                </a:solidFill>
              </a:rPr>
              <a:t>Hyper-parameters</a:t>
            </a:r>
            <a:endParaRPr lang="en-US" sz="1400" dirty="0"/>
          </a:p>
          <a:p>
            <a:pPr marL="177800" indent="-177800">
              <a:spcAft>
                <a:spcPts val="700"/>
              </a:spcAft>
              <a:buSzPct val="100000"/>
              <a:buChar char="•"/>
            </a:pPr>
            <a:r>
              <a:rPr lang="en-US" sz="1400" dirty="0">
                <a:solidFill>
                  <a:schemeClr val="tx1"/>
                </a:solidFill>
              </a:rPr>
              <a:t>12-64-64-4: ReLU hidden, linear outputs, He init</a:t>
            </a:r>
            <a:endParaRPr lang="en-US" sz="1400" dirty="0"/>
          </a:p>
          <a:p>
            <a:pPr marL="177800" indent="-177800">
              <a:spcAft>
                <a:spcPts val="700"/>
              </a:spcAft>
              <a:buSzPct val="100000"/>
              <a:buChar char="•"/>
            </a:pPr>
            <a:r>
              <a:rPr lang="en-US" sz="1400" dirty="0">
                <a:solidFill>
                  <a:schemeClr val="tx1"/>
                </a:solidFill>
              </a:rPr>
              <a:t>SGD η 0.01, α 0.9 (classical), full batch, L2 λ 0.01</a:t>
            </a:r>
            <a:endParaRPr lang="en-US" sz="1400" dirty="0"/>
          </a:p>
          <a:p>
            <a:pPr marL="177800" indent="-177800">
              <a:spcAft>
                <a:spcPts val="700"/>
              </a:spcAft>
              <a:buSzPct val="100000"/>
              <a:buChar char="•"/>
            </a:pPr>
            <a:r>
              <a:rPr lang="en-US" sz="1400" dirty="0">
                <a:solidFill>
                  <a:schemeClr val="tx1"/>
                </a:solidFill>
              </a:rPr>
              <a:t>Stops at TR MEE 16.69 (CV target), 2597-4828 epochs</a:t>
            </a:r>
            <a:endParaRPr lang="en-US" sz="1400" dirty="0"/>
          </a:p>
          <a:p>
            <a:pPr marL="177800" indent="-177800">
              <a:spcAft>
                <a:spcPts val="700"/>
              </a:spcAft>
              <a:buSzPct val="100000"/>
              <a:buChar char="•"/>
            </a:pPr>
            <a:r>
              <a:rPr lang="en-US" sz="1400" dirty="0">
                <a:solidFill>
                  <a:schemeClr val="tx1"/>
                </a:solidFill>
              </a:rPr>
              <a:t>Blind test: trial-0 seeds (fixed in advance), refit on all 500 patterns</a:t>
            </a:r>
            <a:endParaRPr lang="en-US" sz="1400" dirty="0"/>
          </a:p>
        </p:txBody>
      </p:sp>
      <p:sp>
        <p:nvSpPr>
          <p:cNvPr id="5" name="Text 3"/>
          <p:cNvSpPr txBox="1"/>
          <p:nvPr/>
        </p:nvSpPr>
        <p:spPr>
          <a:xfrm>
            <a:off x="4709160" y="914400"/>
            <a:ext cx="3977640" cy="749808"/>
          </a:xfrm>
          <a:prstGeom prst="rect">
            <a:avLst/>
          </a:prstGeom>
          <a:noFill/>
          <a:ln/>
        </p:spPr>
        <p:txBody>
          <a:bodyPr wrap="square" lIns="635" tIns="635" rIns="635" bIns="635" rtlCol="0" anchor="t"/>
          <a:lstStyle/>
          <a:p>
            <a:pPr indent="0" marL="0">
              <a:buNone/>
            </a:pPr>
            <a:r>
              <a:rPr lang="en-US" sz="1400" i="1" dirty="0">
                <a:solidFill>
                  <a:schemeClr val="accent3"/>
                </a:solidFill>
              </a:rPr>
              <a:t>Table 4. MEE, original scale: mean ± std over 30 retrainings; VL from the model selection.</a:t>
            </a:r>
            <a:endParaRPr lang="en-US" sz="14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709160" y="1691640"/>
          <a:ext cx="3977640" cy="914400"/>
        </p:xfrm>
        <a:graphic>
          <a:graphicData uri="http://schemas.openxmlformats.org/drawingml/2006/table">
            <a:tbl>
              <a:tblPr/>
              <a:tblGrid>
                <a:gridCol w="1783080"/>
                <a:gridCol w="914400"/>
                <a:gridCol w="1280160"/>
              </a:tblGrid>
              <a:tr h="365760">
                <a:tc>
                  <a:txBody>
                    <a:bodyPr/>
                    <a:lstStyle/>
                    <a:p>
                      <a:pPr indent="0" marL="0">
                        <a:buNone/>
                      </a:pPr>
                      <a:r>
                        <a:rPr lang="en-US" sz="1400" b="1" dirty="0">
                          <a:solidFill>
                            <a:schemeClr val="bg1"/>
                          </a:solidFill>
                        </a:rPr>
                        <a:t>Set</a:t>
                      </a:r>
                      <a:endParaRPr lang="en-US" sz="1400" dirty="0"/>
                    </a:p>
                  </a:txBody>
                  <a:tcPr marL="45720" marR="45720" marT="45720" marB="45720" anchor="ctr">
                    <a:lnL w="9525" cap="flat" cmpd="sng" algn="ctr">
                      <a:solidFill>
                        <a:srgbClr val="9DB0C6"/>
                      </a:solidFill>
                      <a:prstDash val="solid"/>
                      <a:round/>
                      <a:headEnd type="none" w="med" len="med"/>
                      <a:tailEnd type="none" w="med" len="med"/>
                    </a:lnL>
                    <a:lnR w="9525" cap="flat" cmpd="sng" algn="ctr">
                      <a:solidFill>
                        <a:srgbClr val="9DB0C6"/>
                      </a:solidFill>
                      <a:prstDash val="solid"/>
                      <a:round/>
                      <a:headEnd type="none" w="med" len="med"/>
                      <a:tailEnd type="none" w="med" len="med"/>
                    </a:lnR>
                    <a:lnT w="9525" cap="flat" cmpd="sng" algn="ctr">
                      <a:solidFill>
                        <a:srgbClr val="9DB0C6"/>
                      </a:solidFill>
                      <a:prstDash val="solid"/>
                      <a:round/>
                      <a:headEnd type="none" w="med" len="med"/>
                      <a:tailEnd type="none" w="med" len="med"/>
                    </a:lnT>
                    <a:lnB w="9525" cap="flat" cmpd="sng" algn="ctr">
                      <a:solidFill>
                        <a:srgbClr val="9DB0C6"/>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Patterns</a:t>
                      </a:r>
                      <a:endParaRPr lang="en-US" sz="1400" dirty="0"/>
                    </a:p>
                  </a:txBody>
                  <a:tcPr marL="45720" marR="45720" marT="45720" marB="45720" anchor="ctr">
                    <a:lnL w="9525" cap="flat" cmpd="sng" algn="ctr">
                      <a:solidFill>
                        <a:srgbClr val="9DB0C6"/>
                      </a:solidFill>
                      <a:prstDash val="solid"/>
                      <a:round/>
                      <a:headEnd type="none" w="med" len="med"/>
                      <a:tailEnd type="none" w="med" len="med"/>
                    </a:lnL>
                    <a:lnR w="9525" cap="flat" cmpd="sng" algn="ctr">
                      <a:solidFill>
                        <a:srgbClr val="9DB0C6"/>
                      </a:solidFill>
                      <a:prstDash val="solid"/>
                      <a:round/>
                      <a:headEnd type="none" w="med" len="med"/>
                      <a:tailEnd type="none" w="med" len="med"/>
                    </a:lnR>
                    <a:lnT w="9525" cap="flat" cmpd="sng" algn="ctr">
                      <a:solidFill>
                        <a:srgbClr val="9DB0C6"/>
                      </a:solidFill>
                      <a:prstDash val="solid"/>
                      <a:round/>
                      <a:headEnd type="none" w="med" len="med"/>
                      <a:tailEnd type="none" w="med" len="med"/>
                    </a:lnT>
                    <a:lnB w="9525" cap="flat" cmpd="sng" algn="ctr">
                      <a:solidFill>
                        <a:srgbClr val="9DB0C6"/>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MEE</a:t>
                      </a:r>
                      <a:endParaRPr lang="en-US" sz="1400" dirty="0"/>
                    </a:p>
                  </a:txBody>
                  <a:tcPr marL="45720" marR="45720" marT="45720" marB="45720" anchor="ctr">
                    <a:lnL w="9525" cap="flat" cmpd="sng" algn="ctr">
                      <a:solidFill>
                        <a:srgbClr val="9DB0C6"/>
                      </a:solidFill>
                      <a:prstDash val="solid"/>
                      <a:round/>
                      <a:headEnd type="none" w="med" len="med"/>
                      <a:tailEnd type="none" w="med" len="med"/>
                    </a:lnL>
                    <a:lnR w="9525" cap="flat" cmpd="sng" algn="ctr">
                      <a:solidFill>
                        <a:srgbClr val="9DB0C6"/>
                      </a:solidFill>
                      <a:prstDash val="solid"/>
                      <a:round/>
                      <a:headEnd type="none" w="med" len="med"/>
                      <a:tailEnd type="none" w="med" len="med"/>
                    </a:lnR>
                    <a:lnT w="9525" cap="flat" cmpd="sng" algn="ctr">
                      <a:solidFill>
                        <a:srgbClr val="9DB0C6"/>
                      </a:solidFill>
                      <a:prstDash val="solid"/>
                      <a:round/>
                      <a:headEnd type="none" w="med" len="med"/>
                      <a:tailEnd type="none" w="med" len="med"/>
                    </a:lnT>
                    <a:lnB w="9525" cap="flat" cmpd="sng" algn="ctr">
                      <a:solidFill>
                        <a:srgbClr val="9DB0C6"/>
                      </a:solidFill>
                      <a:prstDash val="solid"/>
                      <a:round/>
                      <a:headEnd type="none" w="med" len="med"/>
                      <a:tailEnd type="none" w="med" len="med"/>
                    </a:lnB>
                    <a:solidFill>
                      <a:schemeClr val="tx2"/>
                    </a:solidFill>
                  </a:tcPr>
                </a:tc>
              </a:tr>
              <a:tr h="365760">
                <a:tc>
                  <a:txBody>
                    <a:bodyPr/>
                    <a:lstStyle/>
                    <a:p>
                      <a:pPr indent="0" marL="0">
                        <a:buNone/>
                      </a:pPr>
                      <a:r>
                        <a:rPr lang="en-US" sz="1400" b="1" dirty="0">
                          <a:solidFill>
                            <a:schemeClr val="tx1"/>
                          </a:solidFill>
                        </a:rPr>
                        <a:t>Training (TR)</a:t>
                      </a:r>
                      <a:endParaRPr lang="en-US" sz="1400" dirty="0"/>
                    </a:p>
                  </a:txBody>
                  <a:tcPr marL="45720" marR="45720" marT="45720" marB="45720" anchor="ctr">
                    <a:lnL w="9525" cap="flat" cmpd="sng" algn="ctr">
                      <a:solidFill>
                        <a:srgbClr val="9DB0C6"/>
                      </a:solidFill>
                      <a:prstDash val="solid"/>
                      <a:round/>
                      <a:headEnd type="none" w="med" len="med"/>
                      <a:tailEnd type="none" w="med" len="med"/>
                    </a:lnL>
                    <a:lnR w="9525" cap="flat" cmpd="sng" algn="ctr">
                      <a:solidFill>
                        <a:srgbClr val="9DB0C6"/>
                      </a:solidFill>
                      <a:prstDash val="solid"/>
                      <a:round/>
                      <a:headEnd type="none" w="med" len="med"/>
                      <a:tailEnd type="none" w="med" len="med"/>
                    </a:lnR>
                    <a:lnT w="9525" cap="flat" cmpd="sng" algn="ctr">
                      <a:solidFill>
                        <a:srgbClr val="9DB0C6"/>
                      </a:solidFill>
                      <a:prstDash val="solid"/>
                      <a:round/>
                      <a:headEnd type="none" w="med" len="med"/>
                      <a:tailEnd type="none" w="med" len="med"/>
                    </a:lnT>
                    <a:lnB w="9525" cap="flat" cmpd="sng" algn="ctr">
                      <a:solidFill>
                        <a:srgbClr val="9DB0C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400</a:t>
                      </a:r>
                      <a:endParaRPr lang="en-US" sz="1400" dirty="0"/>
                    </a:p>
                  </a:txBody>
                  <a:tcPr marL="45720" marR="45720" marT="45720" marB="45720" anchor="ctr">
                    <a:lnL w="9525" cap="flat" cmpd="sng" algn="ctr">
                      <a:solidFill>
                        <a:srgbClr val="9DB0C6"/>
                      </a:solidFill>
                      <a:prstDash val="solid"/>
                      <a:round/>
                      <a:headEnd type="none" w="med" len="med"/>
                      <a:tailEnd type="none" w="med" len="med"/>
                    </a:lnL>
                    <a:lnR w="9525" cap="flat" cmpd="sng" algn="ctr">
                      <a:solidFill>
                        <a:srgbClr val="9DB0C6"/>
                      </a:solidFill>
                      <a:prstDash val="solid"/>
                      <a:round/>
                      <a:headEnd type="none" w="med" len="med"/>
                      <a:tailEnd type="none" w="med" len="med"/>
                    </a:lnR>
                    <a:lnT w="9525" cap="flat" cmpd="sng" algn="ctr">
                      <a:solidFill>
                        <a:srgbClr val="9DB0C6"/>
                      </a:solidFill>
                      <a:prstDash val="solid"/>
                      <a:round/>
                      <a:headEnd type="none" w="med" len="med"/>
                      <a:tailEnd type="none" w="med" len="med"/>
                    </a:lnT>
                    <a:lnB w="9525" cap="flat" cmpd="sng" algn="ctr">
                      <a:solidFill>
                        <a:srgbClr val="9DB0C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16.69 ± 0.00</a:t>
                      </a:r>
                      <a:endParaRPr lang="en-US" sz="1400" dirty="0"/>
                    </a:p>
                  </a:txBody>
                  <a:tcPr marL="45720" marR="45720" marT="45720" marB="45720" anchor="ctr">
                    <a:lnL w="9525" cap="flat" cmpd="sng" algn="ctr">
                      <a:solidFill>
                        <a:srgbClr val="9DB0C6"/>
                      </a:solidFill>
                      <a:prstDash val="solid"/>
                      <a:round/>
                      <a:headEnd type="none" w="med" len="med"/>
                      <a:tailEnd type="none" w="med" len="med"/>
                    </a:lnL>
                    <a:lnR w="9525" cap="flat" cmpd="sng" algn="ctr">
                      <a:solidFill>
                        <a:srgbClr val="9DB0C6"/>
                      </a:solidFill>
                      <a:prstDash val="solid"/>
                      <a:round/>
                      <a:headEnd type="none" w="med" len="med"/>
                      <a:tailEnd type="none" w="med" len="med"/>
                    </a:lnR>
                    <a:lnT w="9525" cap="flat" cmpd="sng" algn="ctr">
                      <a:solidFill>
                        <a:srgbClr val="9DB0C6"/>
                      </a:solidFill>
                      <a:prstDash val="solid"/>
                      <a:round/>
                      <a:headEnd type="none" w="med" len="med"/>
                      <a:tailEnd type="none" w="med" len="med"/>
                    </a:lnT>
                    <a:lnB w="9525" cap="flat" cmpd="sng" algn="ctr">
                      <a:solidFill>
                        <a:srgbClr val="9DB0C6"/>
                      </a:solidFill>
                      <a:prstDash val="solid"/>
                      <a:round/>
                      <a:headEnd type="none" w="med" len="med"/>
                      <a:tailEnd type="none" w="med" len="med"/>
                    </a:lnB>
                    <a:solidFill>
                      <a:schemeClr val="bg1"/>
                    </a:solidFill>
                  </a:tcPr>
                </a:tc>
              </a:tr>
              <a:tr h="365760">
                <a:tc>
                  <a:txBody>
                    <a:bodyPr/>
                    <a:lstStyle/>
                    <a:p>
                      <a:pPr indent="0" marL="0">
                        <a:buNone/>
                      </a:pPr>
                      <a:r>
                        <a:rPr lang="en-US" sz="1400" b="1" dirty="0">
                          <a:solidFill>
                            <a:schemeClr val="tx1"/>
                          </a:solidFill>
                        </a:rPr>
                        <a:t>Validation (VL)</a:t>
                      </a:r>
                      <a:endParaRPr lang="en-US" sz="1400" dirty="0"/>
                    </a:p>
                  </a:txBody>
                  <a:tcPr marL="45720" marR="45720" marT="45720" marB="45720" anchor="ctr">
                    <a:lnL w="9525" cap="flat" cmpd="sng" algn="ctr">
                      <a:solidFill>
                        <a:srgbClr val="9DB0C6"/>
                      </a:solidFill>
                      <a:prstDash val="solid"/>
                      <a:round/>
                      <a:headEnd type="none" w="med" len="med"/>
                      <a:tailEnd type="none" w="med" len="med"/>
                    </a:lnL>
                    <a:lnR w="9525" cap="flat" cmpd="sng" algn="ctr">
                      <a:solidFill>
                        <a:srgbClr val="9DB0C6"/>
                      </a:solidFill>
                      <a:prstDash val="solid"/>
                      <a:round/>
                      <a:headEnd type="none" w="med" len="med"/>
                      <a:tailEnd type="none" w="med" len="med"/>
                    </a:lnR>
                    <a:lnT w="9525" cap="flat" cmpd="sng" algn="ctr">
                      <a:solidFill>
                        <a:srgbClr val="9DB0C6"/>
                      </a:solidFill>
                      <a:prstDash val="solid"/>
                      <a:round/>
                      <a:headEnd type="none" w="med" len="med"/>
                      <a:tailEnd type="none" w="med" len="med"/>
                    </a:lnT>
                    <a:lnB w="9525" cap="flat" cmpd="sng" algn="ctr">
                      <a:solidFill>
                        <a:srgbClr val="9DB0C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3 × 133</a:t>
                      </a:r>
                      <a:endParaRPr lang="en-US" sz="1400" dirty="0"/>
                    </a:p>
                  </a:txBody>
                  <a:tcPr marL="45720" marR="45720" marT="45720" marB="45720" anchor="ctr">
                    <a:lnL w="9525" cap="flat" cmpd="sng" algn="ctr">
                      <a:solidFill>
                        <a:srgbClr val="9DB0C6"/>
                      </a:solidFill>
                      <a:prstDash val="solid"/>
                      <a:round/>
                      <a:headEnd type="none" w="med" len="med"/>
                      <a:tailEnd type="none" w="med" len="med"/>
                    </a:lnL>
                    <a:lnR w="9525" cap="flat" cmpd="sng" algn="ctr">
                      <a:solidFill>
                        <a:srgbClr val="9DB0C6"/>
                      </a:solidFill>
                      <a:prstDash val="solid"/>
                      <a:round/>
                      <a:headEnd type="none" w="med" len="med"/>
                      <a:tailEnd type="none" w="med" len="med"/>
                    </a:lnR>
                    <a:lnT w="9525" cap="flat" cmpd="sng" algn="ctr">
                      <a:solidFill>
                        <a:srgbClr val="9DB0C6"/>
                      </a:solidFill>
                      <a:prstDash val="solid"/>
                      <a:round/>
                      <a:headEnd type="none" w="med" len="med"/>
                      <a:tailEnd type="none" w="med" len="med"/>
                    </a:lnT>
                    <a:lnB w="9525" cap="flat" cmpd="sng" algn="ctr">
                      <a:solidFill>
                        <a:srgbClr val="9DB0C6"/>
                      </a:solidFill>
                      <a:prstDash val="solid"/>
                      <a:round/>
                      <a:headEnd type="none" w="med" len="med"/>
                      <a:tailEnd type="none" w="med" len="med"/>
                    </a:lnB>
                    <a:solidFill>
                      <a:schemeClr val="bg2"/>
                    </a:solidFill>
                  </a:tcPr>
                </a:tc>
                <a:tc>
                  <a:txBody>
                    <a:bodyPr/>
                    <a:lstStyle/>
                    <a:p>
                      <a:pPr indent="0" marL="0">
                        <a:buNone/>
                      </a:pPr>
                      <a:r>
                        <a:rPr lang="en-US" sz="1400" i="1" dirty="0">
                          <a:solidFill>
                            <a:schemeClr val="accent2"/>
                          </a:solidFill>
                        </a:rPr>
                        <a:t>[…] ± […]</a:t>
                      </a:r>
                      <a:endParaRPr lang="en-US" sz="1400" dirty="0"/>
                    </a:p>
                  </a:txBody>
                  <a:tcPr marL="45720" marR="45720" marT="45720" marB="45720" anchor="ctr">
                    <a:lnL w="9525" cap="flat" cmpd="sng" algn="ctr">
                      <a:solidFill>
                        <a:srgbClr val="9DB0C6"/>
                      </a:solidFill>
                      <a:prstDash val="solid"/>
                      <a:round/>
                      <a:headEnd type="none" w="med" len="med"/>
                      <a:tailEnd type="none" w="med" len="med"/>
                    </a:lnL>
                    <a:lnR w="9525" cap="flat" cmpd="sng" algn="ctr">
                      <a:solidFill>
                        <a:srgbClr val="9DB0C6"/>
                      </a:solidFill>
                      <a:prstDash val="solid"/>
                      <a:round/>
                      <a:headEnd type="none" w="med" len="med"/>
                      <a:tailEnd type="none" w="med" len="med"/>
                    </a:lnR>
                    <a:lnT w="9525" cap="flat" cmpd="sng" algn="ctr">
                      <a:solidFill>
                        <a:srgbClr val="9DB0C6"/>
                      </a:solidFill>
                      <a:prstDash val="solid"/>
                      <a:round/>
                      <a:headEnd type="none" w="med" len="med"/>
                      <a:tailEnd type="none" w="med" len="med"/>
                    </a:lnT>
                    <a:lnB w="9525" cap="flat" cmpd="sng" algn="ctr">
                      <a:solidFill>
                        <a:srgbClr val="9DB0C6"/>
                      </a:solidFill>
                      <a:prstDash val="solid"/>
                      <a:round/>
                      <a:headEnd type="none" w="med" len="med"/>
                      <a:tailEnd type="none" w="med" len="med"/>
                    </a:lnB>
                    <a:solidFill>
                      <a:schemeClr val="bg2"/>
                    </a:solidFill>
                  </a:tcPr>
                </a:tc>
              </a:tr>
              <a:tr h="365760">
                <a:tc>
                  <a:txBody>
                    <a:bodyPr/>
                    <a:lstStyle/>
                    <a:p>
                      <a:pPr indent="0" marL="0">
                        <a:buNone/>
                      </a:pPr>
                      <a:r>
                        <a:rPr lang="en-US" sz="1400" b="1" dirty="0">
                          <a:solidFill>
                            <a:schemeClr val="tx1"/>
                          </a:solidFill>
                        </a:rPr>
                        <a:t>Internal test (TS)</a:t>
                      </a:r>
                      <a:endParaRPr lang="en-US" sz="1400" dirty="0"/>
                    </a:p>
                  </a:txBody>
                  <a:tcPr marL="45720" marR="45720" marT="45720" marB="45720" anchor="ctr">
                    <a:lnL w="9525" cap="flat" cmpd="sng" algn="ctr">
                      <a:solidFill>
                        <a:srgbClr val="9DB0C6"/>
                      </a:solidFill>
                      <a:prstDash val="solid"/>
                      <a:round/>
                      <a:headEnd type="none" w="med" len="med"/>
                      <a:tailEnd type="none" w="med" len="med"/>
                    </a:lnL>
                    <a:lnR w="9525" cap="flat" cmpd="sng" algn="ctr">
                      <a:solidFill>
                        <a:srgbClr val="9DB0C6"/>
                      </a:solidFill>
                      <a:prstDash val="solid"/>
                      <a:round/>
                      <a:headEnd type="none" w="med" len="med"/>
                      <a:tailEnd type="none" w="med" len="med"/>
                    </a:lnR>
                    <a:lnT w="9525" cap="flat" cmpd="sng" algn="ctr">
                      <a:solidFill>
                        <a:srgbClr val="9DB0C6"/>
                      </a:solidFill>
                      <a:prstDash val="solid"/>
                      <a:round/>
                      <a:headEnd type="none" w="med" len="med"/>
                      <a:tailEnd type="none" w="med" len="med"/>
                    </a:lnT>
                    <a:lnB w="9525" cap="flat" cmpd="sng" algn="ctr">
                      <a:solidFill>
                        <a:srgbClr val="9DB0C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100</a:t>
                      </a:r>
                      <a:endParaRPr lang="en-US" sz="1400" dirty="0"/>
                    </a:p>
                  </a:txBody>
                  <a:tcPr marL="45720" marR="45720" marT="45720" marB="45720" anchor="ctr">
                    <a:lnL w="9525" cap="flat" cmpd="sng" algn="ctr">
                      <a:solidFill>
                        <a:srgbClr val="9DB0C6"/>
                      </a:solidFill>
                      <a:prstDash val="solid"/>
                      <a:round/>
                      <a:headEnd type="none" w="med" len="med"/>
                      <a:tailEnd type="none" w="med" len="med"/>
                    </a:lnL>
                    <a:lnR w="9525" cap="flat" cmpd="sng" algn="ctr">
                      <a:solidFill>
                        <a:srgbClr val="9DB0C6"/>
                      </a:solidFill>
                      <a:prstDash val="solid"/>
                      <a:round/>
                      <a:headEnd type="none" w="med" len="med"/>
                      <a:tailEnd type="none" w="med" len="med"/>
                    </a:lnR>
                    <a:lnT w="9525" cap="flat" cmpd="sng" algn="ctr">
                      <a:solidFill>
                        <a:srgbClr val="9DB0C6"/>
                      </a:solidFill>
                      <a:prstDash val="solid"/>
                      <a:round/>
                      <a:headEnd type="none" w="med" len="med"/>
                      <a:tailEnd type="none" w="med" len="med"/>
                    </a:lnT>
                    <a:lnB w="9525" cap="flat" cmpd="sng" algn="ctr">
                      <a:solidFill>
                        <a:srgbClr val="9DB0C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20.85 ± 0.29</a:t>
                      </a:r>
                      <a:endParaRPr lang="en-US" sz="1400" dirty="0"/>
                    </a:p>
                  </a:txBody>
                  <a:tcPr marL="45720" marR="45720" marT="45720" marB="45720" anchor="ctr">
                    <a:lnL w="9525" cap="flat" cmpd="sng" algn="ctr">
                      <a:solidFill>
                        <a:srgbClr val="9DB0C6"/>
                      </a:solidFill>
                      <a:prstDash val="solid"/>
                      <a:round/>
                      <a:headEnd type="none" w="med" len="med"/>
                      <a:tailEnd type="none" w="med" len="med"/>
                    </a:lnL>
                    <a:lnR w="9525" cap="flat" cmpd="sng" algn="ctr">
                      <a:solidFill>
                        <a:srgbClr val="9DB0C6"/>
                      </a:solidFill>
                      <a:prstDash val="solid"/>
                      <a:round/>
                      <a:headEnd type="none" w="med" len="med"/>
                      <a:tailEnd type="none" w="med" len="med"/>
                    </a:lnR>
                    <a:lnT w="9525" cap="flat" cmpd="sng" algn="ctr">
                      <a:solidFill>
                        <a:srgbClr val="9DB0C6"/>
                      </a:solidFill>
                      <a:prstDash val="solid"/>
                      <a:round/>
                      <a:headEnd type="none" w="med" len="med"/>
                      <a:tailEnd type="none" w="med" len="med"/>
                    </a:lnT>
                    <a:lnB w="9525" cap="flat" cmpd="sng" algn="ctr">
                      <a:solidFill>
                        <a:srgbClr val="9DB0C6"/>
                      </a:solidFill>
                      <a:prstDash val="solid"/>
                      <a:round/>
                      <a:headEnd type="none" w="med" len="med"/>
                      <a:tailEnd type="none" w="med" len="med"/>
                    </a:lnB>
                    <a:solidFill>
                      <a:schemeClr val="bg1"/>
                    </a:solidFill>
                  </a:tcPr>
                </a:tc>
              </a:tr>
            </a:tbl>
          </a:graphicData>
        </a:graphic>
      </p:graphicFrame>
      <p:sp>
        <p:nvSpPr>
          <p:cNvPr id="7" name="hardware"/>
          <p:cNvSpPr/>
          <p:nvPr/>
        </p:nvSpPr>
        <p:spPr>
          <a:xfrm>
            <a:off x="4709160" y="3429000"/>
            <a:ext cx="3977640" cy="914400"/>
          </a:xfrm>
          <a:prstGeom prst="roundRect">
            <a:avLst>
              <a:gd name="adj" fmla="val 8000"/>
            </a:avLst>
          </a:prstGeom>
          <a:solidFill>
            <a:schemeClr val="bg2"/>
          </a:solidFill>
          <a:ln/>
        </p:spPr>
      </p:sp>
      <p:sp>
        <p:nvSpPr>
          <p:cNvPr id="8" name="Text 5"/>
          <p:cNvSpPr txBox="1"/>
          <p:nvPr/>
        </p:nvSpPr>
        <p:spPr>
          <a:xfrm>
            <a:off x="4818888" y="3474720"/>
            <a:ext cx="3758184" cy="822960"/>
          </a:xfrm>
          <a:prstGeom prst="rect">
            <a:avLst/>
          </a:prstGeom>
          <a:noFill/>
          <a:ln/>
        </p:spPr>
        <p:txBody>
          <a:bodyPr wrap="square" lIns="635" tIns="635" rIns="635" bIns="635" rtlCol="0" anchor="t"/>
          <a:lstStyle/>
          <a:p>
            <a:pPr indent="0" marL="0">
              <a:spcAft>
                <a:spcPts val="300"/>
              </a:spcAft>
              <a:buNone/>
            </a:pPr>
            <a:r>
              <a:rPr lang="en-US" sz="1400" b="1" dirty="0">
                <a:solidFill>
                  <a:schemeClr val="tx2"/>
                </a:solidFill>
              </a:rPr>
              <a:t>Hardware</a:t>
            </a:r>
            <a:endParaRPr lang="en-US" sz="1400" dirty="0"/>
          </a:p>
          <a:p>
            <a:pPr indent="0" marL="0">
              <a:buNone/>
            </a:pPr>
            <a:r>
              <a:rPr lang="en-US" sz="1400" dirty="0">
                <a:solidFill>
                  <a:schemeClr val="tx1"/>
                </a:solidFill>
              </a:rPr>
              <a:t>AMD Ryzen 7 260 (8 cores / 16 threads), 16 GB RAM</a:t>
            </a:r>
            <a:endParaRPr lang="en-US" sz="1400" dirty="0"/>
          </a:p>
        </p:txBody>
      </p:sp>
      <p:sp>
        <p:nvSpPr>
          <p:cNvPr id="25" name="Slide Number Placeholder 0"/>
          <p:cNvSpPr>
            <a:spLocks noGrp="1"/>
          </p:cNvSpPr>
          <p:nvPr>
            <p:ph type="sldNum" sz="quarter" idx="4294967295"/>
          </p:nvPr>
        </p:nvSpPr>
        <p:spPr>
          <a:xfrm>
            <a:off x="8138160" y="4736592"/>
            <a:ext cx="548640" cy="274320"/>
          </a:xfrm>
          <a:prstGeom prst="rect">
            <a:avLst/>
          </a:prstGeom>
          <a:extLst>
            <a:ext uri="{C572A759-6A51-4108-AA02-DFA0A04FC94B}">
              <ma14:wrappingTextBoxFlag xmlns:ma14="http://schemas.microsoft.com/office/mac/drawingml/2011/main" val="0"/>
            </a:ext>
          </a:extLst>
        </p:spPr>
        <p:txBody>
          <a:bodyPr/>
          <a:lstStyle>
            <a:lvl1pPr>
              <a:defRPr sz="1400">
                <a:solidFill>
                  <a:srgbClr val="5A6F8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594360"/>
          </a:xfrm>
          <a:prstGeom prst="rect">
            <a:avLst/>
          </a:prstGeom>
          <a:noFill/>
          <a:ln/>
        </p:spPr>
        <p:txBody>
          <a:bodyPr wrap="square" lIns="0" tIns="0" rIns="0" bIns="0" rtlCol="0" anchor="ctr"/>
          <a:lstStyle/>
          <a:p>
            <a:pPr indent="0" marL="0">
              <a:buNone/>
            </a:pPr>
            <a:r>
              <a:rPr lang="en-US" sz="2600" b="1" dirty="0">
                <a:solidFill>
                  <a:schemeClr val="tx2"/>
                </a:solidFill>
              </a:rPr>
              <a:t>CUP final model: learning curve</a:t>
            </a:r>
            <a:endParaRPr lang="en-US" sz="2600" dirty="0"/>
          </a:p>
        </p:txBody>
      </p:sp>
      <p:pic>
        <p:nvPicPr>
          <p:cNvPr id="3" name="Image 0" descr="CUP final model learning curves: MSE and MEE">    </p:cNvPr>
          <p:cNvPicPr>
            <a:picLocks noChangeAspect="1"/>
          </p:cNvPicPr>
          <p:nvPr/>
        </p:nvPicPr>
        <p:blipFill>
          <a:blip r:embed="rId1"/>
          <a:stretch>
            <a:fillRect/>
          </a:stretch>
        </p:blipFill>
        <p:spPr>
          <a:xfrm>
            <a:off x="457200" y="960120"/>
            <a:ext cx="8229600" cy="2790207"/>
          </a:xfrm>
          <a:prstGeom prst="rect">
            <a:avLst/>
          </a:prstGeom>
        </p:spPr>
      </p:pic>
      <p:sp>
        <p:nvSpPr>
          <p:cNvPr id="4" name="Text 1"/>
          <p:cNvSpPr txBox="1"/>
          <p:nvPr/>
        </p:nvSpPr>
        <p:spPr>
          <a:xfrm>
            <a:off x="457200" y="3841767"/>
            <a:ext cx="8229600" cy="731520"/>
          </a:xfrm>
          <a:prstGeom prst="rect">
            <a:avLst/>
          </a:prstGeom>
          <a:noFill/>
          <a:ln/>
        </p:spPr>
        <p:txBody>
          <a:bodyPr wrap="square" lIns="635" tIns="635" rIns="635" bIns="635" rtlCol="0" anchor="t"/>
          <a:lstStyle/>
          <a:p>
            <a:pPr indent="0" marL="0">
              <a:buNone/>
            </a:pPr>
            <a:r>
              <a:rPr lang="en-US" sz="1400" i="1" dirty="0">
                <a:solidFill>
                  <a:schemeClr val="accent3"/>
                </a:solidFill>
              </a:rPr>
              <a:t>Fig. 5. Assessment retraining on the 400 design patterns (trial with median TS MEE): MSE on standardized targets (left), MEE (right).</a:t>
            </a:r>
            <a:endParaRPr lang="en-US" sz="1400" dirty="0"/>
          </a:p>
        </p:txBody>
      </p:sp>
      <p:sp>
        <p:nvSpPr>
          <p:cNvPr id="25" name="Slide Number Placeholder 0"/>
          <p:cNvSpPr>
            <a:spLocks noGrp="1"/>
          </p:cNvSpPr>
          <p:nvPr>
            <p:ph type="sldNum" sz="quarter" idx="4294967295"/>
          </p:nvPr>
        </p:nvSpPr>
        <p:spPr>
          <a:xfrm>
            <a:off x="8138160" y="4736592"/>
            <a:ext cx="548640" cy="274320"/>
          </a:xfrm>
          <a:prstGeom prst="rect">
            <a:avLst/>
          </a:prstGeom>
          <a:extLst>
            <a:ext uri="{C572A759-6A51-4108-AA02-DFA0A04FC94B}">
              <ma14:wrappingTextBoxFlag xmlns:ma14="http://schemas.microsoft.com/office/mac/drawingml/2011/main" val="0"/>
            </a:ext>
          </a:extLst>
        </p:spPr>
        <p:txBody>
          <a:bodyPr/>
          <a:lstStyle>
            <a:lvl1pPr>
              <a:defRPr sz="1400">
                <a:solidFill>
                  <a:srgbClr val="5A6F8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594360"/>
          </a:xfrm>
          <a:prstGeom prst="rect">
            <a:avLst/>
          </a:prstGeom>
          <a:noFill/>
          <a:ln/>
        </p:spPr>
        <p:txBody>
          <a:bodyPr wrap="square" lIns="0" tIns="0" rIns="0" bIns="0" rtlCol="0" anchor="ctr"/>
          <a:lstStyle/>
          <a:p>
            <a:pPr indent="0" marL="0">
              <a:buNone/>
            </a:pPr>
            <a:r>
              <a:rPr lang="en-US" sz="2600" b="1" dirty="0">
                <a:solidFill>
                  <a:schemeClr val="tx2"/>
                </a:solidFill>
              </a:rPr>
              <a:t>Discussion: what our runs show</a:t>
            </a:r>
            <a:endParaRPr lang="en-US" sz="2600" dirty="0"/>
          </a:p>
        </p:txBody>
      </p:sp>
      <p:sp>
        <p:nvSpPr>
          <p:cNvPr id="3" name="finding 1"/>
          <p:cNvSpPr/>
          <p:nvPr/>
        </p:nvSpPr>
        <p:spPr>
          <a:xfrm>
            <a:off x="457200" y="960120"/>
            <a:ext cx="8229600" cy="822960"/>
          </a:xfrm>
          <a:prstGeom prst="roundRect">
            <a:avLst>
              <a:gd name="adj" fmla="val 8889"/>
            </a:avLst>
          </a:prstGeom>
          <a:solidFill>
            <a:schemeClr val="bg2"/>
          </a:solidFill>
          <a:ln/>
        </p:spPr>
      </p:sp>
      <p:sp>
        <p:nvSpPr>
          <p:cNvPr id="4" name="Shape 2"/>
          <p:cNvSpPr/>
          <p:nvPr/>
        </p:nvSpPr>
        <p:spPr>
          <a:xfrm>
            <a:off x="603504" y="1188720"/>
            <a:ext cx="365760" cy="365760"/>
          </a:xfrm>
          <a:prstGeom prst="ellipse">
            <a:avLst/>
          </a:prstGeom>
          <a:solidFill>
            <a:schemeClr val="tx2"/>
          </a:solidFill>
          <a:ln/>
        </p:spPr>
      </p:sp>
      <p:sp>
        <p:nvSpPr>
          <p:cNvPr id="5" name="Text 3"/>
          <p:cNvSpPr txBox="1"/>
          <p:nvPr/>
        </p:nvSpPr>
        <p:spPr>
          <a:xfrm>
            <a:off x="603504" y="118872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6" name="Text 4"/>
          <p:cNvSpPr txBox="1"/>
          <p:nvPr/>
        </p:nvSpPr>
        <p:spPr>
          <a:xfrm>
            <a:off x="1097280" y="960120"/>
            <a:ext cx="7498080" cy="822960"/>
          </a:xfrm>
          <a:prstGeom prst="rect">
            <a:avLst/>
          </a:prstGeom>
          <a:noFill/>
          <a:ln/>
        </p:spPr>
        <p:txBody>
          <a:bodyPr wrap="square" lIns="635" tIns="635" rIns="635" bIns="635" rtlCol="0" anchor="ctr"/>
          <a:lstStyle/>
          <a:p>
            <a:pPr indent="0" marL="0">
              <a:buNone/>
            </a:pPr>
            <a:r>
              <a:rPr lang="en-US" sz="1400" b="1" dirty="0">
                <a:solidFill>
                  <a:schemeClr val="tx2"/>
                </a:solidFill>
              </a:rPr>
              <a:t>Regularization pays off where the labels are noisy</a:t>
            </a:r>
            <a:endParaRPr lang="en-US" sz="1400" dirty="0"/>
          </a:p>
          <a:p>
            <a:pPr indent="0" marL="0">
              <a:buNone/>
            </a:pPr>
            <a:r>
              <a:rPr lang="en-US" sz="1400" dirty="0">
                <a:solidFill>
                  <a:schemeClr val="tx1"/>
                </a:solidFill>
              </a:rPr>
              <a:t>MONK 3: L2 (λ 0.01) lowers TR accuracy to 93.4% but raises TS to 97.1% (95.8% without). MONK 2 needs none: 99.6% TS (Table 1).</a:t>
            </a:r>
            <a:endParaRPr lang="en-US" sz="1400" dirty="0"/>
          </a:p>
        </p:txBody>
      </p:sp>
      <p:sp>
        <p:nvSpPr>
          <p:cNvPr id="7" name="finding 2"/>
          <p:cNvSpPr/>
          <p:nvPr/>
        </p:nvSpPr>
        <p:spPr>
          <a:xfrm>
            <a:off x="457200" y="1865376"/>
            <a:ext cx="8229600" cy="822960"/>
          </a:xfrm>
          <a:prstGeom prst="roundRect">
            <a:avLst>
              <a:gd name="adj" fmla="val 8889"/>
            </a:avLst>
          </a:prstGeom>
          <a:solidFill>
            <a:schemeClr val="bg2"/>
          </a:solidFill>
          <a:ln/>
        </p:spPr>
      </p:sp>
      <p:sp>
        <p:nvSpPr>
          <p:cNvPr id="8" name="Shape 6"/>
          <p:cNvSpPr/>
          <p:nvPr/>
        </p:nvSpPr>
        <p:spPr>
          <a:xfrm>
            <a:off x="603504" y="2093976"/>
            <a:ext cx="365760" cy="365760"/>
          </a:xfrm>
          <a:prstGeom prst="ellipse">
            <a:avLst/>
          </a:prstGeom>
          <a:solidFill>
            <a:schemeClr val="tx2"/>
          </a:solidFill>
          <a:ln/>
        </p:spPr>
      </p:sp>
      <p:sp>
        <p:nvSpPr>
          <p:cNvPr id="9" name="Text 7"/>
          <p:cNvSpPr txBox="1"/>
          <p:nvPr/>
        </p:nvSpPr>
        <p:spPr>
          <a:xfrm>
            <a:off x="603504" y="2093976"/>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0" name="Text 8"/>
          <p:cNvSpPr txBox="1"/>
          <p:nvPr/>
        </p:nvSpPr>
        <p:spPr>
          <a:xfrm>
            <a:off x="1097280" y="1865376"/>
            <a:ext cx="7498080" cy="822960"/>
          </a:xfrm>
          <a:prstGeom prst="rect">
            <a:avLst/>
          </a:prstGeom>
          <a:noFill/>
          <a:ln/>
        </p:spPr>
        <p:txBody>
          <a:bodyPr wrap="square" lIns="635" tIns="635" rIns="635" bIns="635" rtlCol="0" anchor="ctr"/>
          <a:lstStyle/>
          <a:p>
            <a:pPr indent="0" marL="0">
              <a:buNone/>
            </a:pPr>
            <a:r>
              <a:rPr lang="en-US" sz="1400" b="1" dirty="0">
                <a:solidFill>
                  <a:schemeClr val="tx2"/>
                </a:solidFill>
              </a:rPr>
              <a:t>A small hold-out cannot rank close configurations</a:t>
            </a:r>
            <a:endParaRPr lang="en-US" sz="1400" dirty="0"/>
          </a:p>
          <a:p>
            <a:pPr indent="0" marL="0">
              <a:buNone/>
            </a:pPr>
            <a:r>
              <a:rPr lang="en-US" sz="1400" dirty="0">
                <a:solidFill>
                  <a:schemeClr val="tx1"/>
                </a:solidFill>
              </a:rPr>
              <a:t>MONK 3: on a 25-pattern hold-out the top 9 configurations were within one pattern; 5-fold CV put λ 0.01 first in all top 8.</a:t>
            </a:r>
            <a:endParaRPr lang="en-US" sz="1400" dirty="0"/>
          </a:p>
        </p:txBody>
      </p:sp>
      <p:sp>
        <p:nvSpPr>
          <p:cNvPr id="11" name="finding 3"/>
          <p:cNvSpPr/>
          <p:nvPr/>
        </p:nvSpPr>
        <p:spPr>
          <a:xfrm>
            <a:off x="457200" y="2770632"/>
            <a:ext cx="8229600" cy="822960"/>
          </a:xfrm>
          <a:prstGeom prst="roundRect">
            <a:avLst>
              <a:gd name="adj" fmla="val 8889"/>
            </a:avLst>
          </a:prstGeom>
          <a:solidFill>
            <a:schemeClr val="bg2"/>
          </a:solidFill>
          <a:ln/>
        </p:spPr>
      </p:sp>
      <p:sp>
        <p:nvSpPr>
          <p:cNvPr id="12" name="Shape 10"/>
          <p:cNvSpPr/>
          <p:nvPr/>
        </p:nvSpPr>
        <p:spPr>
          <a:xfrm>
            <a:off x="603504" y="2999232"/>
            <a:ext cx="365760" cy="365760"/>
          </a:xfrm>
          <a:prstGeom prst="ellipse">
            <a:avLst/>
          </a:prstGeom>
          <a:solidFill>
            <a:schemeClr val="tx2"/>
          </a:solidFill>
          <a:ln/>
        </p:spPr>
      </p:sp>
      <p:sp>
        <p:nvSpPr>
          <p:cNvPr id="13" name="Text 11"/>
          <p:cNvSpPr txBox="1"/>
          <p:nvPr/>
        </p:nvSpPr>
        <p:spPr>
          <a:xfrm>
            <a:off x="603504" y="2999232"/>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4" name="Text 12"/>
          <p:cNvSpPr txBox="1"/>
          <p:nvPr/>
        </p:nvSpPr>
        <p:spPr>
          <a:xfrm>
            <a:off x="1097280" y="2770632"/>
            <a:ext cx="7498080" cy="822960"/>
          </a:xfrm>
          <a:prstGeom prst="rect">
            <a:avLst/>
          </a:prstGeom>
          <a:noFill/>
          <a:ln/>
        </p:spPr>
        <p:txBody>
          <a:bodyPr wrap="square" lIns="635" tIns="635" rIns="635" bIns="635" rtlCol="0" anchor="ctr"/>
          <a:lstStyle/>
          <a:p>
            <a:pPr indent="0" marL="0">
              <a:buNone/>
            </a:pPr>
            <a:r>
              <a:rPr lang="en-US" sz="1400" b="1" dirty="0">
                <a:solidFill>
                  <a:schemeClr val="tx2"/>
                </a:solidFill>
              </a:rPr>
              <a:t>The data split matters more than the initialization</a:t>
            </a:r>
            <a:endParaRPr lang="en-US" sz="1400" dirty="0"/>
          </a:p>
          <a:p>
            <a:pPr indent="0" marL="0">
              <a:buNone/>
            </a:pPr>
            <a:r>
              <a:rPr lang="en-US" sz="1400" dirty="0">
                <a:solidFill>
                  <a:schemeClr val="tx1"/>
                </a:solidFill>
              </a:rPr>
              <a:t>CUP grids: VL MEE std across folds 0.75-1.63, across initializations 0.10-0.43 in the same runs (Table 3).</a:t>
            </a:r>
            <a:endParaRPr lang="en-US" sz="1400" dirty="0"/>
          </a:p>
        </p:txBody>
      </p:sp>
      <p:sp>
        <p:nvSpPr>
          <p:cNvPr id="15" name="finding 4"/>
          <p:cNvSpPr/>
          <p:nvPr/>
        </p:nvSpPr>
        <p:spPr>
          <a:xfrm>
            <a:off x="457200" y="3675888"/>
            <a:ext cx="8229600" cy="822960"/>
          </a:xfrm>
          <a:prstGeom prst="roundRect">
            <a:avLst>
              <a:gd name="adj" fmla="val 8889"/>
            </a:avLst>
          </a:prstGeom>
          <a:solidFill>
            <a:schemeClr val="bg2"/>
          </a:solidFill>
          <a:ln/>
        </p:spPr>
      </p:sp>
      <p:sp>
        <p:nvSpPr>
          <p:cNvPr id="16" name="Shape 14"/>
          <p:cNvSpPr/>
          <p:nvPr/>
        </p:nvSpPr>
        <p:spPr>
          <a:xfrm>
            <a:off x="603504" y="3904488"/>
            <a:ext cx="365760" cy="365760"/>
          </a:xfrm>
          <a:prstGeom prst="ellipse">
            <a:avLst/>
          </a:prstGeom>
          <a:solidFill>
            <a:schemeClr val="tx2"/>
          </a:solidFill>
          <a:ln/>
        </p:spPr>
      </p:sp>
      <p:sp>
        <p:nvSpPr>
          <p:cNvPr id="17" name="Text 15"/>
          <p:cNvSpPr txBox="1"/>
          <p:nvPr/>
        </p:nvSpPr>
        <p:spPr>
          <a:xfrm>
            <a:off x="603504" y="3904488"/>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8" name="Text 16"/>
          <p:cNvSpPr txBox="1"/>
          <p:nvPr/>
        </p:nvSpPr>
        <p:spPr>
          <a:xfrm>
            <a:off x="1097280" y="3675888"/>
            <a:ext cx="7498080" cy="822960"/>
          </a:xfrm>
          <a:prstGeom prst="rect">
            <a:avLst/>
          </a:prstGeom>
          <a:noFill/>
          <a:ln/>
        </p:spPr>
        <p:txBody>
          <a:bodyPr wrap="square" lIns="635" tIns="635" rIns="635" bIns="635" rtlCol="0" anchor="ctr"/>
          <a:lstStyle/>
          <a:p>
            <a:pPr indent="0" marL="0">
              <a:buNone/>
            </a:pPr>
            <a:r>
              <a:rPr lang="en-US" sz="1400" b="1" dirty="0">
                <a:solidFill>
                  <a:schemeClr val="tx2"/>
                </a:solidFill>
              </a:rPr>
              <a:t>Stopping at the CV training error adapts to each run</a:t>
            </a:r>
            <a:endParaRPr lang="en-US" sz="1400" dirty="0"/>
          </a:p>
          <a:p>
            <a:pPr indent="0" marL="0">
              <a:buNone/>
            </a:pPr>
            <a:r>
              <a:rPr lang="en-US" sz="1400" dirty="0">
                <a:solidFill>
                  <a:schemeClr val="tx1"/>
                </a:solidFill>
              </a:rPr>
              <a:t>All 30 CUP retrainings reached TR MEE 16.69, after 2597 to 4828 epochs: a fixed epoch count would have left them at different fits.</a:t>
            </a:r>
            <a:endParaRPr lang="en-US" sz="1400" dirty="0"/>
          </a:p>
        </p:txBody>
      </p:sp>
      <p:sp>
        <p:nvSpPr>
          <p:cNvPr id="25" name="Slide Number Placeholder 0"/>
          <p:cNvSpPr>
            <a:spLocks noGrp="1"/>
          </p:cNvSpPr>
          <p:nvPr>
            <p:ph type="sldNum" sz="quarter" idx="4294967295"/>
          </p:nvPr>
        </p:nvSpPr>
        <p:spPr>
          <a:xfrm>
            <a:off x="8138160" y="4736592"/>
            <a:ext cx="548640" cy="274320"/>
          </a:xfrm>
          <a:prstGeom prst="rect">
            <a:avLst/>
          </a:prstGeom>
          <a:extLst>
            <a:ext uri="{C572A759-6A51-4108-AA02-DFA0A04FC94B}">
              <ma14:wrappingTextBoxFlag xmlns:ma14="http://schemas.microsoft.com/office/mac/drawingml/2011/main" val="0"/>
            </a:ext>
          </a:extLst>
        </p:spPr>
        <p:txBody>
          <a:bodyPr/>
          <a:lstStyle>
            <a:lvl1pPr>
              <a:defRPr sz="1400">
                <a:solidFill>
                  <a:srgbClr val="5A6F8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594360"/>
          </a:xfrm>
          <a:prstGeom prst="rect">
            <a:avLst/>
          </a:prstGeom>
          <a:noFill/>
          <a:ln/>
        </p:spPr>
        <p:txBody>
          <a:bodyPr wrap="square" lIns="0" tIns="0" rIns="0" bIns="0" rtlCol="0" anchor="ctr"/>
          <a:lstStyle/>
          <a:p>
            <a:pPr indent="0" marL="0">
              <a:buNone/>
            </a:pPr>
            <a:r>
              <a:rPr lang="en-US" sz="2600" b="1" dirty="0">
                <a:solidFill>
                  <a:schemeClr val="tx2"/>
                </a:solidFill>
              </a:rPr>
              <a:t>Conclusions</a:t>
            </a:r>
            <a:endParaRPr lang="en-US" sz="2600" dirty="0"/>
          </a:p>
        </p:txBody>
      </p:sp>
      <p:sp>
        <p:nvSpPr>
          <p:cNvPr id="3" name="Text 1"/>
          <p:cNvSpPr txBox="1"/>
          <p:nvPr/>
        </p:nvSpPr>
        <p:spPr>
          <a:xfrm>
            <a:off x="457200" y="1005840"/>
            <a:ext cx="4754880" cy="365760"/>
          </a:xfrm>
          <a:prstGeom prst="rect">
            <a:avLst/>
          </a:prstGeom>
          <a:noFill/>
          <a:ln/>
        </p:spPr>
        <p:txBody>
          <a:bodyPr wrap="square" lIns="635" tIns="635" rIns="635" bIns="635" rtlCol="0" anchor="t"/>
          <a:lstStyle/>
          <a:p>
            <a:pPr indent="0" marL="0">
              <a:buNone/>
            </a:pPr>
            <a:r>
              <a:rPr lang="en-US" sz="1600" b="1" dirty="0">
                <a:solidFill>
                  <a:schemeClr val="tx2"/>
                </a:solidFill>
              </a:rPr>
              <a:t>Takeaways</a:t>
            </a:r>
            <a:endParaRPr lang="en-US" sz="1400" dirty="0"/>
          </a:p>
        </p:txBody>
      </p:sp>
      <p:sp>
        <p:nvSpPr>
          <p:cNvPr id="4" name="Shape 2"/>
          <p:cNvSpPr/>
          <p:nvPr/>
        </p:nvSpPr>
        <p:spPr>
          <a:xfrm>
            <a:off x="457200" y="1508760"/>
            <a:ext cx="365760" cy="365760"/>
          </a:xfrm>
          <a:prstGeom prst="ellipse">
            <a:avLst/>
          </a:prstGeom>
          <a:solidFill>
            <a:schemeClr val="tx2"/>
          </a:solidFill>
          <a:ln/>
        </p:spPr>
      </p:sp>
      <p:sp>
        <p:nvSpPr>
          <p:cNvPr id="5" name="Text 3"/>
          <p:cNvSpPr txBox="1"/>
          <p:nvPr/>
        </p:nvSpPr>
        <p:spPr>
          <a:xfrm>
            <a:off x="457200" y="150876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6" name="Text 4"/>
          <p:cNvSpPr txBox="1"/>
          <p:nvPr/>
        </p:nvSpPr>
        <p:spPr>
          <a:xfrm>
            <a:off x="960120" y="1463040"/>
            <a:ext cx="4251960" cy="731520"/>
          </a:xfrm>
          <a:prstGeom prst="rect">
            <a:avLst/>
          </a:prstGeom>
          <a:noFill/>
          <a:ln/>
        </p:spPr>
        <p:txBody>
          <a:bodyPr wrap="square" lIns="635" tIns="635" rIns="635" bIns="635" rtlCol="0" anchor="t"/>
          <a:lstStyle/>
          <a:p>
            <a:pPr indent="0" marL="0">
              <a:buNone/>
            </a:pPr>
            <a:r>
              <a:rPr lang="en-US" sz="1400" dirty="0">
                <a:solidFill>
                  <a:schemeClr val="tx1"/>
                </a:solidFill>
              </a:rPr>
              <a:t>With 4 hidden units the simulator reaches the expected MONK results: ≥ 99.3% TS on MONK 1-2, 97.1% on MONK 3 with L2</a:t>
            </a:r>
            <a:endParaRPr lang="en-US" sz="1400" dirty="0"/>
          </a:p>
        </p:txBody>
      </p:sp>
      <p:sp>
        <p:nvSpPr>
          <p:cNvPr id="7" name="Shape 5"/>
          <p:cNvSpPr/>
          <p:nvPr/>
        </p:nvSpPr>
        <p:spPr>
          <a:xfrm>
            <a:off x="457200" y="2331720"/>
            <a:ext cx="365760" cy="365760"/>
          </a:xfrm>
          <a:prstGeom prst="ellipse">
            <a:avLst/>
          </a:prstGeom>
          <a:solidFill>
            <a:schemeClr val="tx2"/>
          </a:solidFill>
          <a:ln/>
        </p:spPr>
      </p:sp>
      <p:sp>
        <p:nvSpPr>
          <p:cNvPr id="8" name="Text 6"/>
          <p:cNvSpPr txBox="1"/>
          <p:nvPr/>
        </p:nvSpPr>
        <p:spPr>
          <a:xfrm>
            <a:off x="457200" y="233172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9" name="Text 7"/>
          <p:cNvSpPr txBox="1"/>
          <p:nvPr/>
        </p:nvSpPr>
        <p:spPr>
          <a:xfrm>
            <a:off x="960120" y="2286000"/>
            <a:ext cx="4251960" cy="731520"/>
          </a:xfrm>
          <a:prstGeom prst="rect">
            <a:avLst/>
          </a:prstGeom>
          <a:noFill/>
          <a:ln/>
        </p:spPr>
        <p:txBody>
          <a:bodyPr wrap="square" lIns="635" tIns="635" rIns="635" bIns="635" rtlCol="0" anchor="t"/>
          <a:lstStyle/>
          <a:p>
            <a:pPr indent="0" marL="0">
              <a:buNone/>
            </a:pPr>
            <a:r>
              <a:rPr lang="en-US" sz="1400" dirty="0">
                <a:solidFill>
                  <a:schemeClr val="tx1"/>
                </a:solidFill>
              </a:rPr>
              <a:t>On the CUP, ReLU + He with momentum and L2 gave the best validation; internal test MEE 20.85 ± 0.29</a:t>
            </a:r>
            <a:endParaRPr lang="en-US" sz="1400" dirty="0"/>
          </a:p>
        </p:txBody>
      </p:sp>
      <p:sp>
        <p:nvSpPr>
          <p:cNvPr id="10" name="Shape 8"/>
          <p:cNvSpPr/>
          <p:nvPr/>
        </p:nvSpPr>
        <p:spPr>
          <a:xfrm>
            <a:off x="457200" y="3154680"/>
            <a:ext cx="365760" cy="365760"/>
          </a:xfrm>
          <a:prstGeom prst="ellipse">
            <a:avLst/>
          </a:prstGeom>
          <a:solidFill>
            <a:schemeClr val="tx2"/>
          </a:solidFill>
          <a:ln/>
        </p:spPr>
      </p:sp>
      <p:sp>
        <p:nvSpPr>
          <p:cNvPr id="11" name="Text 9"/>
          <p:cNvSpPr txBox="1"/>
          <p:nvPr/>
        </p:nvSpPr>
        <p:spPr>
          <a:xfrm>
            <a:off x="457200" y="315468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2" name="Text 10"/>
          <p:cNvSpPr txBox="1"/>
          <p:nvPr/>
        </p:nvSpPr>
        <p:spPr>
          <a:xfrm>
            <a:off x="960120" y="3108960"/>
            <a:ext cx="4251960" cy="731520"/>
          </a:xfrm>
          <a:prstGeom prst="rect">
            <a:avLst/>
          </a:prstGeom>
          <a:noFill/>
          <a:ln/>
        </p:spPr>
        <p:txBody>
          <a:bodyPr wrap="square" lIns="635" tIns="635" rIns="635" bIns="635" rtlCol="0" anchor="t"/>
          <a:lstStyle/>
          <a:p>
            <a:pPr indent="0" marL="0">
              <a:buNone/>
            </a:pPr>
            <a:r>
              <a:rPr lang="en-US" sz="1400" dirty="0">
                <a:solidFill>
                  <a:schemeClr val="tx1"/>
                </a:solidFill>
              </a:rPr>
              <a:t>Reliable selection needs enough validation data: k-fold CV separates configurations that a small hold-out cannot</a:t>
            </a:r>
            <a:endParaRPr lang="en-US" sz="1400" dirty="0"/>
          </a:p>
        </p:txBody>
      </p:sp>
      <p:sp>
        <p:nvSpPr>
          <p:cNvPr id="13" name="blind test"/>
          <p:cNvSpPr/>
          <p:nvPr/>
        </p:nvSpPr>
        <p:spPr>
          <a:xfrm>
            <a:off x="5486400" y="1005840"/>
            <a:ext cx="3200400" cy="2377440"/>
          </a:xfrm>
          <a:prstGeom prst="roundRect">
            <a:avLst>
              <a:gd name="adj" fmla="val 3077"/>
            </a:avLst>
          </a:prstGeom>
          <a:solidFill>
            <a:schemeClr val="tx2"/>
          </a:solidFill>
          <a:ln/>
        </p:spPr>
      </p:sp>
      <p:sp>
        <p:nvSpPr>
          <p:cNvPr id="14" name="Text 12"/>
          <p:cNvSpPr txBox="1"/>
          <p:nvPr/>
        </p:nvSpPr>
        <p:spPr>
          <a:xfrm>
            <a:off x="5623560" y="1097280"/>
            <a:ext cx="2926080" cy="2194560"/>
          </a:xfrm>
          <a:prstGeom prst="rect">
            <a:avLst/>
          </a:prstGeom>
          <a:noFill/>
          <a:ln/>
        </p:spPr>
        <p:txBody>
          <a:bodyPr wrap="square" lIns="635" tIns="635" rIns="635" bIns="635" rtlCol="0" anchor="t"/>
          <a:lstStyle/>
          <a:p>
            <a:pPr indent="0" marL="0">
              <a:spcAft>
                <a:spcPts val="600"/>
              </a:spcAft>
              <a:buNone/>
            </a:pPr>
            <a:r>
              <a:rPr lang="en-US" sz="1600" b="1" dirty="0">
                <a:solidFill>
                  <a:schemeClr val="bg1"/>
                </a:solidFill>
              </a:rPr>
              <a:t>Blind test results</a:t>
            </a:r>
            <a:endParaRPr lang="en-US" sz="1400" dirty="0"/>
          </a:p>
          <a:p>
            <a:pPr indent="0" marL="0">
              <a:spcAft>
                <a:spcPts val="400"/>
              </a:spcAft>
              <a:buNone/>
            </a:pPr>
            <a:r>
              <a:rPr lang="en-US" sz="1400" dirty="0">
                <a:solidFill>
                  <a:schemeClr val="bg1"/>
                </a:solidFill>
              </a:rPr>
              <a:t>Nickname: </a:t>
            </a:r>
            <a:pPr indent="0" marL="0">
              <a:buNone/>
            </a:pPr>
            <a:r>
              <a:rPr lang="en-US" sz="1400" b="1" dirty="0">
                <a:solidFill>
                  <a:schemeClr val="bg1"/>
                </a:solidFill>
              </a:rPr>
              <a:t>Netfix</a:t>
            </a:r>
            <a:endParaRPr lang="en-US" sz="1400" dirty="0"/>
          </a:p>
          <a:p>
            <a:pPr indent="0" marL="0">
              <a:spcAft>
                <a:spcPts val="400"/>
              </a:spcAft>
              <a:buNone/>
            </a:pPr>
            <a:r>
              <a:rPr lang="en-US" sz="1400" dirty="0">
                <a:solidFill>
                  <a:schemeClr val="bg1"/>
                </a:solidFill>
              </a:rPr>
              <a:t>Results: </a:t>
            </a:r>
            <a:pPr indent="0" marL="0">
              <a:buNone/>
            </a:pPr>
            <a:r>
              <a:rPr lang="en-US" sz="1400" dirty="0">
                <a:solidFill>
                  <a:schemeClr val="bg2"/>
                </a:solidFill>
              </a:rPr>
              <a:t>Netfix_ML-CUP25-TS.csv</a:t>
            </a:r>
            <a:endParaRPr lang="en-US" sz="1400" dirty="0"/>
          </a:p>
          <a:p>
            <a:pPr indent="0" marL="0">
              <a:buNone/>
            </a:pPr>
            <a:r>
              <a:rPr lang="en-US" sz="1400" dirty="0">
                <a:solidFill>
                  <a:schemeClr val="bg1"/>
                </a:solidFill>
              </a:rPr>
              <a:t>Abstract: </a:t>
            </a:r>
            <a:pPr indent="0" marL="0">
              <a:buNone/>
            </a:pPr>
            <a:r>
              <a:rPr lang="en-US" sz="1400" dirty="0">
                <a:solidFill>
                  <a:schemeClr val="bg2"/>
                </a:solidFill>
              </a:rPr>
              <a:t>Netfix_abstract.txt</a:t>
            </a:r>
            <a:endParaRPr lang="en-US" sz="1400" dirty="0"/>
          </a:p>
        </p:txBody>
      </p:sp>
      <p:sp>
        <p:nvSpPr>
          <p:cNvPr id="25" name="Slide Number Placeholder 0"/>
          <p:cNvSpPr>
            <a:spLocks noGrp="1"/>
          </p:cNvSpPr>
          <p:nvPr>
            <p:ph type="sldNum" sz="quarter" idx="4294967295"/>
          </p:nvPr>
        </p:nvSpPr>
        <p:spPr>
          <a:xfrm>
            <a:off x="8138160" y="4736592"/>
            <a:ext cx="548640" cy="274320"/>
          </a:xfrm>
          <a:prstGeom prst="rect">
            <a:avLst/>
          </a:prstGeom>
          <a:extLst>
            <a:ext uri="{C572A759-6A51-4108-AA02-DFA0A04FC94B}">
              <ma14:wrappingTextBoxFlag xmlns:ma14="http://schemas.microsoft.com/office/mac/drawingml/2011/main" val="0"/>
            </a:ext>
          </a:extLst>
        </p:spPr>
        <p:txBody>
          <a:bodyPr/>
          <a:lstStyle>
            <a:lvl1pPr>
              <a:defRPr sz="1400">
                <a:solidFill>
                  <a:srgbClr val="5A6F8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594360"/>
          </a:xfrm>
          <a:prstGeom prst="rect">
            <a:avLst/>
          </a:prstGeom>
          <a:noFill/>
          <a:ln/>
        </p:spPr>
        <p:txBody>
          <a:bodyPr wrap="square" lIns="0" tIns="0" rIns="0" bIns="0" rtlCol="0" anchor="ctr"/>
          <a:lstStyle/>
          <a:p>
            <a:pPr indent="0" marL="0">
              <a:buNone/>
            </a:pPr>
            <a:r>
              <a:rPr lang="en-US" sz="2600" b="1" dirty="0">
                <a:solidFill>
                  <a:schemeClr val="tx2"/>
                </a:solidFill>
              </a:rPr>
              <a:t>References</a:t>
            </a:r>
            <a:endParaRPr lang="en-US" sz="2600" dirty="0"/>
          </a:p>
        </p:txBody>
      </p:sp>
      <p:sp>
        <p:nvSpPr>
          <p:cNvPr id="3" name="Text 1"/>
          <p:cNvSpPr txBox="1"/>
          <p:nvPr/>
        </p:nvSpPr>
        <p:spPr>
          <a:xfrm>
            <a:off x="457200" y="960120"/>
            <a:ext cx="8229600" cy="3611880"/>
          </a:xfrm>
          <a:prstGeom prst="rect">
            <a:avLst/>
          </a:prstGeom>
          <a:noFill/>
          <a:ln/>
        </p:spPr>
        <p:txBody>
          <a:bodyPr wrap="square" lIns="635" tIns="635" rIns="635" bIns="635" rtlCol="0" anchor="t"/>
          <a:lstStyle/>
          <a:p>
            <a:pPr indent="0" marL="0">
              <a:spcAft>
                <a:spcPts val="500"/>
              </a:spcAft>
              <a:buNone/>
            </a:pPr>
            <a:r>
              <a:rPr lang="en-US" sz="1400" b="1" dirty="0">
                <a:solidFill>
                  <a:schemeClr val="tx1"/>
                </a:solidFill>
              </a:rPr>
              <a:t>[1] </a:t>
            </a:r>
            <a:pPr indent="0" marL="0">
              <a:buNone/>
            </a:pPr>
            <a:r>
              <a:rPr lang="en-US" sz="1400" dirty="0">
                <a:solidFill>
                  <a:schemeClr val="tx1"/>
                </a:solidFill>
              </a:rPr>
              <a:t>A. Micheli: Machine Learning, course slides, Università di Pisa, 2025.</a:t>
            </a:r>
            <a:endParaRPr lang="en-US" sz="1400" dirty="0"/>
          </a:p>
          <a:p>
            <a:pPr indent="0" marL="0">
              <a:spcAft>
                <a:spcPts val="500"/>
              </a:spcAft>
              <a:buNone/>
            </a:pPr>
            <a:r>
              <a:rPr lang="en-US" sz="1400" b="1" dirty="0">
                <a:solidFill>
                  <a:schemeClr val="tx1"/>
                </a:solidFill>
              </a:rPr>
              <a:t>[2] </a:t>
            </a:r>
            <a:pPr indent="0" marL="0">
              <a:buNone/>
            </a:pPr>
            <a:r>
              <a:rPr lang="en-US" sz="1400" dirty="0">
                <a:solidFill>
                  <a:schemeClr val="tx1"/>
                </a:solidFill>
              </a:rPr>
              <a:t>S. Thrun et al.: The MONK's Problems: A Performance Comparison of Different Learning Algorithms, Tech. Rep. CMU-CS-91-197, Carnegie Mellon University, 1991.</a:t>
            </a:r>
            <a:endParaRPr lang="en-US" sz="1400" dirty="0"/>
          </a:p>
          <a:p>
            <a:pPr indent="0" marL="0">
              <a:spcAft>
                <a:spcPts val="500"/>
              </a:spcAft>
              <a:buNone/>
            </a:pPr>
            <a:r>
              <a:rPr lang="en-US" sz="1400" b="1" dirty="0">
                <a:solidFill>
                  <a:schemeClr val="tx1"/>
                </a:solidFill>
              </a:rPr>
              <a:t>[3] </a:t>
            </a:r>
            <a:pPr indent="0" marL="0">
              <a:buNone/>
            </a:pPr>
            <a:r>
              <a:rPr lang="en-US" sz="1400" dirty="0">
                <a:solidFill>
                  <a:schemeClr val="tx1"/>
                </a:solidFill>
              </a:rPr>
              <a:t>X. Glorot, Y. Bengio: Understanding the difficulty of training deep feedforward neural networks, Proc. AISTATS, JMLR W&amp;CP 9, 249–256, 2010.</a:t>
            </a:r>
            <a:endParaRPr lang="en-US" sz="1400" dirty="0"/>
          </a:p>
          <a:p>
            <a:pPr indent="0" marL="0">
              <a:spcAft>
                <a:spcPts val="500"/>
              </a:spcAft>
              <a:buNone/>
            </a:pPr>
            <a:r>
              <a:rPr lang="en-US" sz="1400" b="1" dirty="0">
                <a:solidFill>
                  <a:schemeClr val="tx1"/>
                </a:solidFill>
              </a:rPr>
              <a:t>[4] </a:t>
            </a:r>
            <a:pPr indent="0" marL="0">
              <a:buNone/>
            </a:pPr>
            <a:r>
              <a:rPr lang="en-US" sz="1400" dirty="0">
                <a:solidFill>
                  <a:schemeClr val="tx1"/>
                </a:solidFill>
              </a:rPr>
              <a:t>K. He, X. Zhang, S. Ren, J. Sun: Delving Deep into Rectifiers, Proc. IEEE ICCV, 1026–1034, 2015.</a:t>
            </a:r>
            <a:endParaRPr lang="en-US" sz="1400" dirty="0"/>
          </a:p>
          <a:p>
            <a:pPr indent="0" marL="0">
              <a:spcAft>
                <a:spcPts val="500"/>
              </a:spcAft>
              <a:buNone/>
            </a:pPr>
            <a:r>
              <a:rPr lang="en-US" sz="1400" b="1" dirty="0">
                <a:solidFill>
                  <a:schemeClr val="tx1"/>
                </a:solidFill>
              </a:rPr>
              <a:t>[5] </a:t>
            </a:r>
            <a:pPr indent="0" marL="0">
              <a:buNone/>
            </a:pPr>
            <a:r>
              <a:rPr lang="en-US" sz="1400" dirty="0">
                <a:solidFill>
                  <a:schemeClr val="tx1"/>
                </a:solidFill>
              </a:rPr>
              <a:t>I. Sutskever, J. Martens, G. Dahl, G. Hinton: On the importance of initialization and momentum in deep learning, Proc. ICML, PMLR 28, 1139–1147, 2013.</a:t>
            </a:r>
            <a:endParaRPr lang="en-US" sz="1400" dirty="0"/>
          </a:p>
          <a:p>
            <a:pPr indent="0" marL="0">
              <a:spcAft>
                <a:spcPts val="500"/>
              </a:spcAft>
              <a:buNone/>
            </a:pPr>
            <a:r>
              <a:rPr lang="en-US" sz="1400" b="1" dirty="0">
                <a:solidFill>
                  <a:schemeClr val="tx1"/>
                </a:solidFill>
              </a:rPr>
              <a:t>[6] </a:t>
            </a:r>
            <a:pPr indent="0" marL="0">
              <a:buNone/>
            </a:pPr>
            <a:r>
              <a:rPr lang="en-US" sz="1400" dirty="0">
                <a:solidFill>
                  <a:schemeClr val="tx1"/>
                </a:solidFill>
              </a:rPr>
              <a:t>L. Prechelt: Early Stopping — But When?, in Neural Networks: Tricks of the Trade, LNCS 1524, Springer, 55–69, 1998.</a:t>
            </a:r>
            <a:endParaRPr lang="en-US" sz="1400" dirty="0"/>
          </a:p>
          <a:p>
            <a:pPr indent="0" marL="0">
              <a:spcAft>
                <a:spcPts val="500"/>
              </a:spcAft>
              <a:buNone/>
            </a:pPr>
            <a:r>
              <a:rPr lang="en-US" sz="1400" b="1" dirty="0">
                <a:solidFill>
                  <a:schemeClr val="tx1"/>
                </a:solidFill>
              </a:rPr>
              <a:t>[7] </a:t>
            </a:r>
            <a:pPr indent="0" marL="0">
              <a:buNone/>
            </a:pPr>
            <a:r>
              <a:rPr lang="en-US" sz="1400" dirty="0">
                <a:solidFill>
                  <a:schemeClr val="tx1"/>
                </a:solidFill>
              </a:rPr>
              <a:t>C. R. Harris et al.: Array programming with NumPy, Nature, 585, 357–362, 2020.</a:t>
            </a:r>
            <a:endParaRPr lang="en-US" sz="1400" dirty="0"/>
          </a:p>
        </p:txBody>
      </p:sp>
      <p:sp>
        <p:nvSpPr>
          <p:cNvPr id="25" name="Slide Number Placeholder 0"/>
          <p:cNvSpPr>
            <a:spLocks noGrp="1"/>
          </p:cNvSpPr>
          <p:nvPr>
            <p:ph type="sldNum" sz="quarter" idx="4294967295"/>
          </p:nvPr>
        </p:nvSpPr>
        <p:spPr>
          <a:xfrm>
            <a:off x="8138160" y="4736592"/>
            <a:ext cx="548640" cy="274320"/>
          </a:xfrm>
          <a:prstGeom prst="rect">
            <a:avLst/>
          </a:prstGeom>
          <a:extLst>
            <a:ext uri="{C572A759-6A51-4108-AA02-DFA0A04FC94B}">
              <ma14:wrappingTextBoxFlag xmlns:ma14="http://schemas.microsoft.com/office/mac/drawingml/2011/main" val="0"/>
            </a:ext>
          </a:extLst>
        </p:spPr>
        <p:txBody>
          <a:bodyPr/>
          <a:lstStyle>
            <a:lvl1pPr>
              <a:defRPr sz="1400">
                <a:solidFill>
                  <a:srgbClr val="5A6F86"/>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1645920"/>
            <a:ext cx="8046720" cy="822960"/>
          </a:xfrm>
          <a:prstGeom prst="rect">
            <a:avLst/>
          </a:prstGeom>
          <a:noFill/>
          <a:ln/>
        </p:spPr>
        <p:txBody>
          <a:bodyPr wrap="square" lIns="0" tIns="0" rIns="0" bIns="0" rtlCol="0" anchor="b"/>
          <a:lstStyle/>
          <a:p>
            <a:pPr indent="0" marL="0">
              <a:buNone/>
            </a:pPr>
            <a:r>
              <a:rPr lang="en-US" sz="3400" b="1" dirty="0">
                <a:solidFill>
                  <a:schemeClr val="bg1"/>
                </a:solidFill>
              </a:rPr>
              <a:t>Appendix</a:t>
            </a:r>
            <a:endParaRPr lang="en-US" sz="3400" dirty="0"/>
          </a:p>
        </p:txBody>
      </p:sp>
      <p:sp>
        <p:nvSpPr>
          <p:cNvPr id="3" name="Text 0"/>
          <p:cNvSpPr/>
          <p:nvPr>
            <p:ph idx="101" type="body" hasCustomPrompt="1"/>
          </p:nvPr>
        </p:nvSpPr>
        <p:spPr>
          <a:xfrm>
            <a:off x="548640" y="2606040"/>
            <a:ext cx="8046720" cy="914400"/>
          </a:xfrm>
          <a:prstGeom prst="rect">
            <a:avLst/>
          </a:prstGeom>
          <a:noFill/>
          <a:ln/>
        </p:spPr>
        <p:txBody>
          <a:bodyPr wrap="square" lIns="0" tIns="0" rIns="0" bIns="0" rtlCol="0" anchor="t"/>
          <a:lstStyle/>
          <a:p>
            <a:pPr indent="0" marL="0">
              <a:buNone/>
            </a:pPr>
            <a:endParaRPr lang="en-US" sz="1800" dirty="0"/>
          </a:p>
        </p:txBody>
      </p:sp>
      <p:sp>
        <p:nvSpPr>
          <p:cNvPr id="25" name="Slide Number Placeholder 0"/>
          <p:cNvSpPr>
            <a:spLocks noGrp="1"/>
          </p:cNvSpPr>
          <p:nvPr>
            <p:ph type="sldNum" sz="quarter" idx="4294967295"/>
          </p:nvPr>
        </p:nvSpPr>
        <p:spPr>
          <a:xfrm>
            <a:off x="8138160" y="4736592"/>
            <a:ext cx="548640" cy="274320"/>
          </a:xfrm>
          <a:prstGeom prst="rect">
            <a:avLst/>
          </a:prstGeom>
          <a:extLst>
            <a:ext uri="{C572A759-6A51-4108-AA02-DFA0A04FC94B}">
              <ma14:wrappingTextBoxFlag xmlns:ma14="http://schemas.microsoft.com/office/mac/drawingml/2011/main" val="0"/>
            </a:ext>
          </a:extLst>
        </p:spPr>
        <p:txBody>
          <a:bodyPr/>
          <a:lstStyle>
            <a:lvl1pPr>
              <a:defRPr sz="1400">
                <a:solidFill>
                  <a:srgbClr val="EDF1F6"/>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594360"/>
          </a:xfrm>
          <a:prstGeom prst="rect">
            <a:avLst/>
          </a:prstGeom>
          <a:noFill/>
          <a:ln/>
        </p:spPr>
        <p:txBody>
          <a:bodyPr wrap="square" lIns="0" tIns="0" rIns="0" bIns="0" rtlCol="0" anchor="ctr"/>
          <a:lstStyle/>
          <a:p>
            <a:pPr indent="0" marL="0">
              <a:buNone/>
            </a:pPr>
            <a:r>
              <a:rPr lang="en-US" sz="2600" b="1" dirty="0">
                <a:solidFill>
                  <a:schemeClr val="tx2"/>
                </a:solidFill>
              </a:rPr>
              <a:t>Reproducibility</a:t>
            </a:r>
            <a:endParaRPr lang="en-US" sz="2600" dirty="0"/>
          </a:p>
        </p:txBody>
      </p:sp>
      <p:sp>
        <p:nvSpPr>
          <p:cNvPr id="3" name="Text 1"/>
          <p:cNvSpPr txBox="1"/>
          <p:nvPr/>
        </p:nvSpPr>
        <p:spPr>
          <a:xfrm>
            <a:off x="457200" y="1005840"/>
            <a:ext cx="8229600" cy="3566160"/>
          </a:xfrm>
          <a:prstGeom prst="rect">
            <a:avLst/>
          </a:prstGeom>
          <a:noFill/>
          <a:ln/>
        </p:spPr>
        <p:txBody>
          <a:bodyPr wrap="square" lIns="635" tIns="635" rIns="635" bIns="635" rtlCol="0" anchor="t"/>
          <a:lstStyle/>
          <a:p>
            <a:pPr indent="0" marL="0">
              <a:spcAft>
                <a:spcPts val="1000"/>
              </a:spcAft>
              <a:buNone/>
            </a:pPr>
            <a:r>
              <a:rPr lang="en-US" sz="1400" dirty="0">
                <a:solidFill>
                  <a:schemeClr val="tx1"/>
                </a:solidFill>
              </a:rPr>
              <a:t>Every run is a JSON config; results, seeds and plots are saved in results/&lt;task&gt;/&lt;run_id&gt;/. The configurations of the reported runs, with their seeds, are in configs/final/.</a:t>
            </a:r>
            <a:endParaRPr lang="en-US" sz="1400" dirty="0"/>
          </a:p>
          <a:p>
            <a:pPr indent="0" marL="0">
              <a:spcAft>
                <a:spcPts val="400"/>
              </a:spcAft>
              <a:buNone/>
            </a:pPr>
            <a:r>
              <a:rPr lang="en-US" sz="1400" dirty="0">
                <a:solidFill>
                  <a:schemeClr val="tx1"/>
                </a:solidFill>
                <a:latin typeface="Courier New" pitchFamily="34" charset="0"/>
                <a:ea typeface="Courier New" pitchFamily="34" charset="-122"/>
                <a:cs typeface="Courier New" pitchFamily="34" charset="-120"/>
              </a:rPr>
              <a:t>python -m runner --config configs/monk3/monk3_assess_l2.json</a:t>
            </a:r>
            <a:endParaRPr lang="en-US" sz="1400" dirty="0"/>
          </a:p>
          <a:p>
            <a:pPr indent="0" marL="0">
              <a:spcAft>
                <a:spcPts val="400"/>
              </a:spcAft>
              <a:buNone/>
            </a:pPr>
            <a:r>
              <a:rPr lang="en-US" sz="1400" dirty="0">
                <a:solidFill>
                  <a:schemeClr val="tx1"/>
                </a:solidFill>
                <a:latin typeface="Courier New" pitchFamily="34" charset="0"/>
                <a:ea typeface="Courier New" pitchFamily="34" charset="-122"/>
                <a:cs typeface="Courier New" pitchFamily="34" charset="-120"/>
              </a:rPr>
              <a:t>python -m runner --config configs/cup/cup_grid_fine.json</a:t>
            </a:r>
            <a:endParaRPr lang="en-US" sz="1400" dirty="0"/>
          </a:p>
          <a:p>
            <a:pPr indent="0" marL="0">
              <a:spcAft>
                <a:spcPts val="400"/>
              </a:spcAft>
              <a:buNone/>
            </a:pPr>
            <a:r>
              <a:rPr lang="en-US" sz="1400" dirty="0">
                <a:solidFill>
                  <a:schemeClr val="tx1"/>
                </a:solidFill>
                <a:latin typeface="Courier New" pitchFamily="34" charset="0"/>
                <a:ea typeface="Courier New" pitchFamily="34" charset="-122"/>
                <a:cs typeface="Courier New" pitchFamily="34" charset="-120"/>
              </a:rPr>
              <a:t>python -m runner --config configs/cup/cup_assessment_top1.json</a:t>
            </a:r>
            <a:endParaRPr lang="en-US" sz="1400" dirty="0"/>
          </a:p>
          <a:p>
            <a:pPr indent="0" marL="0">
              <a:spcAft>
                <a:spcPts val="400"/>
              </a:spcAft>
              <a:buNone/>
            </a:pPr>
            <a:r>
              <a:rPr lang="en-US" sz="1400" dirty="0">
                <a:solidFill>
                  <a:schemeClr val="tx1"/>
                </a:solidFill>
                <a:latin typeface="Courier New" pitchFamily="34" charset="0"/>
                <a:ea typeface="Courier New" pitchFamily="34" charset="-122"/>
                <a:cs typeface="Courier New" pitchFamily="34" charset="-120"/>
              </a:rPr>
              <a:t>python -m experiments.cup_final --assessment-run results/cup/RUN_ID</a:t>
            </a:r>
            <a:endParaRPr lang="en-US" sz="1400" dirty="0"/>
          </a:p>
          <a:p>
            <a:pPr indent="0" marL="0">
              <a:spcAft>
                <a:spcPts val="400"/>
              </a:spcAft>
              <a:buNone/>
            </a:pPr>
            <a:r>
              <a:rPr lang="en-US" sz="1400" dirty="0">
                <a:solidFill>
                  <a:schemeClr val="tx1"/>
                </a:solidFill>
                <a:latin typeface="Courier New" pitchFamily="34" charset="0"/>
                <a:ea typeface="Courier New" pitchFamily="34" charset="-122"/>
                <a:cs typeface="Courier New" pitchFamily="34" charset="-120"/>
              </a:rPr>
              <a:t>python -m experiments.cup_predict --model results/cup/RUN_ID/model.npz</a:t>
            </a:r>
            <a:endParaRPr lang="en-US" sz="1400" dirty="0"/>
          </a:p>
        </p:txBody>
      </p:sp>
      <p:sp>
        <p:nvSpPr>
          <p:cNvPr id="25" name="Slide Number Placeholder 0"/>
          <p:cNvSpPr>
            <a:spLocks noGrp="1"/>
          </p:cNvSpPr>
          <p:nvPr>
            <p:ph type="sldNum" sz="quarter" idx="4294967295"/>
          </p:nvPr>
        </p:nvSpPr>
        <p:spPr>
          <a:xfrm>
            <a:off x="8138160" y="4736592"/>
            <a:ext cx="548640" cy="274320"/>
          </a:xfrm>
          <a:prstGeom prst="rect">
            <a:avLst/>
          </a:prstGeom>
          <a:extLst>
            <a:ext uri="{C572A759-6A51-4108-AA02-DFA0A04FC94B}">
              <ma14:wrappingTextBoxFlag xmlns:ma14="http://schemas.microsoft.com/office/mac/drawingml/2011/main" val="0"/>
            </a:ext>
          </a:extLst>
        </p:spPr>
        <p:txBody>
          <a:bodyPr/>
          <a:lstStyle>
            <a:lvl1pPr>
              <a:defRPr sz="1400">
                <a:solidFill>
                  <a:srgbClr val="5A6F86"/>
                </a:solidFill>
              </a:defRPr>
            </a:lvl1pPr>
          </a:lstStyle>
          <a:p>
            <a:pPr algn="r"/>
            <a:fld id="{F7021451-1387-4CA6-816F-3879F97B5CBC}" type="slidenum">
              <a:rPr b="0" lang="en-US"/>
              <a:t>18</a:t>
            </a:fld>
            <a:endParaRPr lang="en-US"/>
          </a:p>
        </p:txBody>
      </p:sp>
    </p:spTree>
  </p:cSld>
  <p:clrMapOvr>
    <a:masterClrMapping/>
  </p:clrMapOvr>
</p:sld>
</file>

<file path=ppt/theme/theme1.xml><?xml version="1.0" encoding="utf-8"?>
<a:theme xmlns:a="http://schemas.openxmlformats.org/drawingml/2006/main" name="ML 2025 Report">
  <a:themeElements>
    <a:clrScheme name="ML 2025 Report">
      <a:dk1>
        <a:srgbClr val="1B1F24"/>
      </a:dk1>
      <a:lt1>
        <a:srgbClr val="FFFFFF"/>
      </a:lt1>
      <a:dk2>
        <a:srgbClr val="16365C"/>
      </a:dk2>
      <a:lt2>
        <a:srgbClr val="EDF1F6"/>
      </a:lt2>
      <a:accent1>
        <a:srgbClr val="16365C"/>
      </a:accent1>
      <a:accent2>
        <a:srgbClr val="B5482F"/>
      </a:accent2>
      <a:accent3>
        <a:srgbClr val="5A6F86"/>
      </a:accent3>
      <a:accent4>
        <a:srgbClr val="9DB0C6"/>
      </a:accent4>
      <a:accent5>
        <a:srgbClr val="2F6E4F"/>
      </a:accent5>
      <a:accent6>
        <a:srgbClr val="8A6D1D"/>
      </a:accent6>
      <a:hlink>
        <a:srgbClr val="1F5FA8"/>
      </a:hlink>
      <a:folHlink>
        <a:srgbClr val="6B4C9A"/>
      </a:folHlink>
    </a:clrScheme>
    <a:fontScheme name="ML 2025 Repor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ML 2025 Project</dc:title>
  <dc:subject>MONK and ML-CUP25 with a neural network written from scratch</dc:subject>
  <dc:creator>PptxGenJS</dc:creator>
  <cp:lastModifiedBy>PptxGenJS</cp:lastModifiedBy>
  <cp:revision>1</cp:revision>
  <dcterms:created xsi:type="dcterms:W3CDTF">2026-10-26T10:24:57Z</dcterms:created>
  <dcterms:modified xsi:type="dcterms:W3CDTF">2026-10-26T10:24:57Z</dcterms:modified>
</cp:coreProperties>
</file>