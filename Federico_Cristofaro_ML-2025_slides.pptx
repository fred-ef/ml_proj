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0f5c6cc-b3b5-64f2-73ff-67a632b6ddd4}">
          <p14:sldIdLst>
            <p14:sldId id="256"/>
            <p14:sldId id="257"/>
          </p14:sldIdLst>
        </p14:section>
        <p14:section name="Method" id="{6d54a8f6-da7c-4e2b-ad06-540a5ec008d3}">
          <p14:sldIdLst>
            <p14:sldId id="258"/>
            <p14:sldId id="259"/>
            <p14:sldId id="260"/>
          </p14:sldIdLst>
        </p14:section>
        <p14:section name="MONK" id="{fa4e4aa2-a0c2-5a8a-f634-6638723d4565}">
          <p14:sldIdLst>
            <p14:sldId id="261"/>
            <p14:sldId id="262"/>
            <p14:sldId id="263"/>
          </p14:sldIdLst>
        </p14:section>
        <p14:section name="CUP" id="{a05e2619-5ada-cd9e-3bee-a14c560f48ff}">
          <p14:sldIdLst>
            <p14:sldId id="264"/>
            <p14:sldId id="265"/>
            <p14:sldId id="266"/>
            <p14:sldId id="267"/>
            <p14:sldId id="268"/>
            <p14:sldId id="269"/>
          </p14:sldIdLst>
        </p14:section>
        <p14:section name="Discussion" id="{9b19a13a-d0d2-8fde-d192-27d0b3c9dd18}">
          <p14:sldIdLst>
            <p14:sldId id="270"/>
            <p14:sldId id="271"/>
            <p14:sldId id="272"/>
          </p14:sldIdLst>
        </p14:section>
        <p14:section name="References" id="{8ab5f447-4525-0af0-14c5-fcfc46fb3864}">
          <p14:sldIdLst>
            <p14:sldId id="273"/>
          </p14:sldIdLst>
        </p14:section>
        <p14:section name="Appendix" id="{4910d943-bd35-17a8-365e-3e48922bcb7e}">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Mandatory: surnames (also in the PDF and zip file names), team nickname, degree, emails, date, project type A with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of the Report-info: aims, models and algorithms (just defined), significant assumptions.
The abstract (max 5 rows) must name the CUP model, the validation technique and the novelties, if any. The same text, shortened, goes into team-name_abstract.txt.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of the Report-info: code description in short, tools/libraries, software design choices if interesting.
Do not insert a picture of the network. Do not describe algorithms already seen in the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list of the Report-info (Your contributions): architectures and number of layers, activations, training algorithm, batch / on-line / mini-batch, initialization (multiple trials with different random weights? std reported?), regularization (L2 is a must), stop conditions.
Be schematic: technique names and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Novelties: only what goes beyond the standard techniques of the course, each one backed by evidence in the experiments. Repeated initializations alone are required by the course (slide 4); Nesterov and LR decay are on slide 4, the VL-loss tie-break on slide 10.
Evidence still to produce: card 1, retraining for the median best epoch vs. the CV target, compared on the CV folds (the internal test may only report it, never choose); card 3, time of a small grid with n_core 1 vs.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Lack of results here invalidates the report. Report the MEAN over the initializations, not the best one; MSE without penalty.
Values are read at build time from results/final/*_summary.json and configs/final/*_config.json.
MONK 2 without L2: the fine grid (configs/monk2/monk2_grid_fine_s2026.json) ranks no-penalty configurations first; the earlier λ 5e-4 run (99.6 ± 1.2% TS) is kept as results/final/MONK2_l2_*.
MONK 3 (reg.): a hold-out grid could not separate the configurations (top 9 within one validation pattern) and its pick, λ 1e-3, gave 95.1% TS; 5-fold CV ranks λ 0.01 first in all top 8 configurations.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MSE and accuracy plots for each MONK. Readable in black and white (different line styles), large fonts for legend and axes, one point per epoch (mean over the epoch for mini-batch).
Source: results/final/MONK*_learning_curve.png.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MONK 3: the training set has 5% misclassified examples [2], so TR accuracy stays below 100%.
Without L2 the TS accuracy of the representative trial peaks near 97% around epoch 70 and ends at 95.6%. With λ 0.01 the network keeps TR at 93.4% and TS at 97.1% (97.2% in 42 of 50 trials). 8 trials never reach the TR-MSE target (they settle at 0.082 because of the penalty) and stop at 1000 epochs, still at 97.2% 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Validation schema: splitting TR / VL / internal TS with percentages and K. Answer the template question: is there a final retraining?
Split and seeds from the code: internal test 20% with seed 0, the same in every run (src/data/cup.py).
k = 3 and 10 inits come from configs/cup/cup_grid_fine.json: confirm with the select run.
Final model (experiments/cup_final.py): seeds of assessment trial 0, fixed before looking at the test; fitted on all 500 labelled rows and stopped at the same cv_stop_target.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Schema and range of the explored hyper-parameters. Single or multi-stage / nested grid? How many configurations in total?
Fine grid from configs/cup/cup_grid_fine.json (tag cup-grid-fine-final, seed 42). The earlier stages are still to be listed.
The complete setting goes in the Appendix (A.1) and in a 'hyperparameters-setting' file in the code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Screening phase: type of preliminary trials (often summarized by text). One plot that shows a trend, three short findings with numbers.
Candidate findings measured on our runs (re-check on the final runs): η ≥ 0.1 always diverges with full-batch SGD, ReLU + He (collinear inputs, largest Hessian eigenvalue ~23 → η &lt; 0.087); patience 100 stops too early (selected epochs 73-1499), 500 gave 19.3 → 17.8 MEE; L2 0.02 underfits (21.6); mini-batch 64/128 worse than 32 at equal epochs.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TABLES of grid search results TR / VL with MEE, at least the best configurations.
Source: summary.json of the final select run (python -m runner.show_grid_search results/cup/RUN_ID).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the FINAL model was selected, which candidate and why, its hyper-parameters, and how the initialization for the blind test was chosen.
[*][*] Table with MEE for TR, VL and internal TS in the original scale. VL comes from the model selection (CV mean).
The course asks the criterion that sets up the final network among the possible initializations: e.g. a seed fixed in advance. Never pick it by internal test MEE.
Training time and machine are mandatory: the runs are on Gabriele's machine (env in configs/final/CUP_config.json: Python 3.14.6, NumPy 2.5.0, Intel family 6 model 186), he fills in the exact CPU, RAM and times.
TR is the CV target by construction (every retraining stops there). VL: mean ± std of the chosen row of the fine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Learning curve TR / (VL) / TS of the FINAL model (it is unique). The VL curve may be missing if the retraining uses all the design data.
The test curve is only recorded: it never decides when to stop (say it explicitly if asked).
The blind-test network is fitted on all 500 rows and has no test curve: this is one of the 30 assessment retrainings, with the same hyper-parameters and stopping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is a relevant part: did each choice or novelty improve the results (efficacy, efficiency)? Concrete measured evidence for every claim.
Candidates (verify on the final runs): longer patience (100 → 500); L2 strength (0.0075 best, 0.02 underfits); mini-batch 32; the selected epoch is optimistic by ~0.7-1.0 MEE (minimum of a noisy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'what did you learn?' on models, hyper-parameters, results, efficacy and efficiency. Negative results are welcome if measured.
Candidates: variance across inits vs across folds; divergence limit of η; input collinearity of the CUP (PC1 95.6% of the variance). The input-collapse and mean + residual experiments can only be shown if their code is in the delivered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have drawn and what you learned (in short). Blind test: name of the result file and nickname.
The agreement sentence comes from the Acknowledgements section of the Report-info.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Uniform style: authors, title, journal / proceedings, volume, pages, year. Numbered, and each number cited in the slides (e.g. Glorot [3] and He [4] on the features slide). Keep only the references actually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on the slides, complete description in the 'hyperparameters-setting' document of the code package and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2" name="Image 0" descr="/home/nedbear/Coding/ml_proj/context/slides/assets/unipi_logo.png">    </p:cNvPr>
          <p:cNvPicPr>
            <a:picLocks noChangeAspect="1"/>
          </p:cNvPicPr>
          <p:nvPr/>
        </p:nvPicPr>
        <p:blipFill>
          <a:blip r:embed="rId1"/>
          <a:stretch>
            <a:fillRect/>
          </a:stretch>
        </p:blipFill>
        <p:spPr>
          <a:xfrm>
            <a:off x="7818120" y="320040"/>
            <a:ext cx="868680" cy="890626"/>
          </a:xfrm>
          <a:prstGeom prst="rect">
            <a:avLst/>
          </a:prstGeom>
        </p:spPr>
      </p:pic>
      <p:sp>
        <p:nvSpPr>
          <p:cNvPr id="3" name="Text 0"/>
          <p:cNvSpPr/>
          <p:nvPr>
            <p:ph idx="101" type="title" hasCustomPrompt="1"/>
          </p:nvPr>
        </p:nvSpPr>
        <p:spPr>
          <a:xfrm>
            <a:off x="548640" y="1097280"/>
            <a:ext cx="7040880" cy="118872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4" name="Text 0"/>
          <p:cNvSpPr/>
          <p:nvPr>
            <p:ph idx="102" type="body" hasCustomPrompt="1"/>
          </p:nvPr>
        </p:nvSpPr>
        <p:spPr>
          <a:xfrm>
            <a:off x="548640" y="2377440"/>
            <a:ext cx="8046720" cy="41148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6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097280"/>
            <a:ext cx="7040880" cy="1188720"/>
          </a:xfrm>
          <a:prstGeom prst="rect">
            <a:avLst/>
          </a:prstGeom>
          <a:noFill/>
          <a:ln/>
        </p:spPr>
        <p:txBody>
          <a:bodyPr wrap="square" lIns="0" tIns="0" rIns="0" bIns="0" rtlCol="0" anchor="b"/>
          <a:lstStyle/>
          <a:p>
            <a:pPr indent="0" marL="0">
              <a:buNone/>
            </a:pPr>
            <a:r>
              <a:rPr lang="en-US" sz="3400" b="1" dirty="0">
                <a:solidFill>
                  <a:schemeClr val="tx2"/>
                </a:solidFill>
              </a:rPr>
              <a:t>A neural network from scratch for MONK and ML-CUP25</a:t>
            </a:r>
            <a:endParaRPr lang="en-US" sz="3400" dirty="0"/>
          </a:p>
        </p:txBody>
      </p:sp>
      <p:sp>
        <p:nvSpPr>
          <p:cNvPr id="3" name="Text 0"/>
          <p:cNvSpPr/>
          <p:nvPr>
            <p:ph idx="102" type="body" hasCustomPrompt="1"/>
          </p:nvPr>
        </p:nvSpPr>
        <p:spPr>
          <a:xfrm>
            <a:off x="548640" y="2377440"/>
            <a:ext cx="8046720" cy="411480"/>
          </a:xfrm>
          <a:prstGeom prst="rect">
            <a:avLst/>
          </a:prstGeom>
          <a:noFill/>
          <a:ln/>
        </p:spPr>
        <p:txBody>
          <a:bodyPr wrap="square" lIns="0" tIns="0" rIns="0" bIns="0" rtlCol="0" anchor="t"/>
          <a:lstStyle/>
          <a:p>
            <a:pPr indent="0" marL="0">
              <a:buNone/>
            </a:pPr>
            <a:r>
              <a:rPr lang="en-US" sz="1800" dirty="0">
                <a:solidFill>
                  <a:schemeClr val="accent3"/>
                </a:solidFill>
              </a:rPr>
              <a:t>Machine Learning 2025 Project, University of Pisa</a:t>
            </a:r>
            <a:endParaRPr lang="en-US" sz="1800" dirty="0"/>
          </a:p>
        </p:txBody>
      </p:sp>
      <p:sp>
        <p:nvSpPr>
          <p:cNvPr id="4" name="Text 2"/>
          <p:cNvSpPr txBox="1"/>
          <p:nvPr/>
        </p:nvSpPr>
        <p:spPr>
          <a:xfrm>
            <a:off x="54864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Fabio Federico</a:t>
            </a:r>
            <a:endParaRPr lang="en-US" sz="1400" dirty="0"/>
          </a:p>
          <a:p>
            <a:pPr indent="0" marL="0">
              <a:buNone/>
            </a:pPr>
            <a:r>
              <a:rPr lang="en-US" sz="1400" dirty="0">
                <a:solidFill>
                  <a:schemeClr val="tx1"/>
                </a:solidFill>
              </a:rPr>
              <a:t>MSc Computer Science, Software curriculum</a:t>
            </a:r>
            <a:endParaRPr lang="en-US" sz="1400" dirty="0"/>
          </a:p>
          <a:p>
            <a:pPr indent="0" marL="0">
              <a:buNone/>
            </a:pPr>
            <a:r>
              <a:rPr lang="en-US" sz="1400" dirty="0">
                <a:solidFill>
                  <a:schemeClr val="accent3"/>
                </a:solidFill>
              </a:rPr>
              <a:t>f.federico4@studenti.unipi.it</a:t>
            </a:r>
            <a:endParaRPr lang="en-US" sz="1400" dirty="0"/>
          </a:p>
        </p:txBody>
      </p:sp>
      <p:sp>
        <p:nvSpPr>
          <p:cNvPr id="5" name="Text 3"/>
          <p:cNvSpPr txBox="1"/>
          <p:nvPr/>
        </p:nvSpPr>
        <p:spPr>
          <a:xfrm>
            <a:off x="457200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Gabriele Cristofaro</a:t>
            </a:r>
            <a:endParaRPr lang="en-US" sz="1400" dirty="0"/>
          </a:p>
          <a:p>
            <a:pPr indent="0" marL="0">
              <a:buNone/>
            </a:pPr>
            <a:r>
              <a:rPr lang="en-US" sz="1400" dirty="0">
                <a:solidFill>
                  <a:schemeClr val="tx1"/>
                </a:solidFill>
              </a:rPr>
              <a:t>MSc Computer Science, AI curriculum</a:t>
            </a:r>
            <a:endParaRPr lang="en-US" sz="1400" dirty="0"/>
          </a:p>
          <a:p>
            <a:pPr indent="0" marL="0">
              <a:buNone/>
            </a:pPr>
            <a:r>
              <a:rPr lang="en-US" sz="1400" dirty="0">
                <a:solidFill>
                  <a:schemeClr val="accent3"/>
                </a:solidFill>
              </a:rPr>
              <a:t>g.cristofaro3@studenti.unipi.it</a:t>
            </a:r>
            <a:endParaRPr lang="en-US" sz="1400" dirty="0"/>
          </a:p>
        </p:txBody>
      </p:sp>
      <p:sp>
        <p:nvSpPr>
          <p:cNvPr id="6" name="Text 4"/>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600" b="1" dirty="0">
                <a:solidFill>
                  <a:schemeClr val="tx1"/>
                </a:solidFill>
              </a:rPr>
              <a:t>Team Netfix</a:t>
            </a:r>
            <a:pPr indent="0" marL="0">
              <a:buNone/>
            </a:pPr>
            <a:r>
              <a:rPr lang="en-US" sz="1600" dirty="0">
                <a:solidFill>
                  <a:schemeClr val="tx1"/>
                </a:solidFill>
              </a:rPr>
              <a:t>  ·  26/10/2026  ·  </a:t>
            </a:r>
            <a:pPr indent="0" marL="0">
              <a:buNone/>
            </a:pPr>
            <a:r>
              <a:rPr lang="en-US" sz="1600" b="1" dirty="0">
                <a:solidFill>
                  <a:schemeClr val="tx1"/>
                </a:solidFill>
              </a:rPr>
              <a:t>Type of project: A</a:t>
            </a:r>
            <a:pPr indent="0" marL="0">
              <a:buNone/>
            </a:pPr>
            <a:r>
              <a:rPr lang="en-US" sz="1600" dirty="0">
                <a:solidFill>
                  <a:schemeClr val="tx1"/>
                </a:solidFill>
              </a:rPr>
              <a:t> (Python 3.12 + NumPy)</a:t>
            </a:r>
            <a:endParaRPr lang="en-US" sz="1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Abstract and objectives</a:t>
            </a:r>
            <a:endParaRPr lang="en-US" sz="2600" dirty="0"/>
          </a:p>
        </p:txBody>
      </p:sp>
      <p:sp>
        <p:nvSpPr>
          <p:cNvPr id="3" name="Shape 1"/>
          <p:cNvSpPr/>
          <p:nvPr/>
        </p:nvSpPr>
        <p:spPr>
          <a:xfrm>
            <a:off x="457200" y="1005840"/>
            <a:ext cx="3977640" cy="3566160"/>
          </a:xfrm>
          <a:prstGeom prst="roundRect">
            <a:avLst>
              <a:gd name="adj" fmla="val 2051"/>
            </a:avLst>
          </a:prstGeom>
          <a:solidFill>
            <a:schemeClr val="bg2"/>
          </a:solidFill>
          <a:ln/>
        </p:spPr>
      </p:sp>
      <p:sp>
        <p:nvSpPr>
          <p:cNvPr id="4" name="Text 2"/>
          <p:cNvSpPr txBox="1"/>
          <p:nvPr/>
        </p:nvSpPr>
        <p:spPr>
          <a:xfrm>
            <a:off x="640080" y="1143000"/>
            <a:ext cx="3611880" cy="329184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Abstract</a:t>
            </a:r>
            <a:endParaRPr lang="en-US" sz="1400" dirty="0"/>
          </a:p>
          <a:p>
            <a:pPr indent="0" marL="0">
              <a:buNone/>
            </a:pPr>
            <a:r>
              <a:rPr lang="en-US" sz="1400" dirty="0">
                <a:solidFill>
                  <a:schemeClr val="tx1"/>
                </a:solidFill>
              </a:rPr>
              <a:t>A multilayer perceptron trained by back-propagation (SGD with momentum, L2) written from scratch with NumPy. ML-CUP25: grid search with </a:t>
            </a:r>
            <a:pPr indent="0" marL="0">
              <a:buNone/>
            </a:pPr>
            <a:r>
              <a:rPr lang="en-US" sz="1400" i="1" dirty="0">
                <a:solidFill>
                  <a:schemeClr val="accent2"/>
                </a:solidFill>
              </a:rPr>
              <a:t>3</a:t>
            </a:r>
            <a:pPr indent="0" marL="0">
              <a:buNone/>
            </a:pPr>
            <a:r>
              <a:rPr lang="en-US" sz="1400" dirty="0">
                <a:solidFill>
                  <a:schemeClr val="tx1"/>
                </a:solidFill>
              </a:rPr>
              <a:t>-fold CV on 80% of the data and </a:t>
            </a:r>
            <a:pPr indent="0" marL="0">
              <a:buNone/>
            </a:pPr>
            <a:r>
              <a:rPr lang="en-US" sz="1400" i="1" dirty="0">
                <a:solidFill>
                  <a:schemeClr val="accent2"/>
                </a:solidFill>
              </a:rPr>
              <a:t>10</a:t>
            </a:r>
            <a:pPr indent="0" marL="0">
              <a:buNone/>
            </a:pPr>
            <a:r>
              <a:rPr lang="en-US" sz="1400" dirty="0">
                <a:solidFill>
                  <a:schemeClr val="tx1"/>
                </a:solidFill>
              </a:rPr>
              <a:t> random initializations per configuration, internal test on the other 20%. Final model: one 12-64-64-4 ReLU network (η 0.01, α 0.9, λ 0.01), internal test MEE 20.85 ± 0.29.</a:t>
            </a:r>
            <a:endParaRPr lang="en-US" sz="1400" dirty="0"/>
          </a:p>
        </p:txBody>
      </p:sp>
      <p:sp>
        <p:nvSpPr>
          <p:cNvPr id="5" name="Text 3"/>
          <p:cNvSpPr txBox="1"/>
          <p:nvPr/>
        </p:nvSpPr>
        <p:spPr>
          <a:xfrm>
            <a:off x="4709160" y="1005840"/>
            <a:ext cx="3977640" cy="365760"/>
          </a:xfrm>
          <a:prstGeom prst="rect">
            <a:avLst/>
          </a:prstGeom>
          <a:noFill/>
          <a:ln/>
        </p:spPr>
        <p:txBody>
          <a:bodyPr wrap="square" lIns="635" tIns="635" rIns="635" bIns="635" rtlCol="0" anchor="t"/>
          <a:lstStyle/>
          <a:p>
            <a:pPr indent="0" marL="0">
              <a:buNone/>
            </a:pPr>
            <a:r>
              <a:rPr lang="en-US" sz="1600" b="1" dirty="0">
                <a:solidFill>
                  <a:schemeClr val="tx2"/>
                </a:solidFill>
              </a:rPr>
              <a:t>Objectives</a:t>
            </a:r>
            <a:endParaRPr lang="en-US" sz="1400" dirty="0"/>
          </a:p>
        </p:txBody>
      </p:sp>
      <p:sp>
        <p:nvSpPr>
          <p:cNvPr id="6" name="Shape 4"/>
          <p:cNvSpPr/>
          <p:nvPr/>
        </p:nvSpPr>
        <p:spPr>
          <a:xfrm>
            <a:off x="4709160" y="1508760"/>
            <a:ext cx="365760" cy="365760"/>
          </a:xfrm>
          <a:prstGeom prst="ellipse">
            <a:avLst/>
          </a:prstGeom>
          <a:solidFill>
            <a:schemeClr val="tx2"/>
          </a:solidFill>
          <a:ln/>
        </p:spPr>
      </p:sp>
      <p:sp>
        <p:nvSpPr>
          <p:cNvPr id="7" name="Text 5"/>
          <p:cNvSpPr txBox="1"/>
          <p:nvPr/>
        </p:nvSpPr>
        <p:spPr>
          <a:xfrm>
            <a:off x="470916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212080" y="1463040"/>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Build a correct MLP simulator and validate it on the three MONK tasks with small networks</a:t>
            </a:r>
            <a:endParaRPr lang="en-US" sz="1400" dirty="0"/>
          </a:p>
        </p:txBody>
      </p:sp>
      <p:sp>
        <p:nvSpPr>
          <p:cNvPr id="9" name="Shape 7"/>
          <p:cNvSpPr/>
          <p:nvPr/>
        </p:nvSpPr>
        <p:spPr>
          <a:xfrm>
            <a:off x="4709160" y="2532888"/>
            <a:ext cx="365760" cy="365760"/>
          </a:xfrm>
          <a:prstGeom prst="ellipse">
            <a:avLst/>
          </a:prstGeom>
          <a:solidFill>
            <a:schemeClr val="tx2"/>
          </a:solidFill>
          <a:ln/>
        </p:spPr>
      </p:sp>
      <p:sp>
        <p:nvSpPr>
          <p:cNvPr id="10" name="Text 8"/>
          <p:cNvSpPr txBox="1"/>
          <p:nvPr/>
        </p:nvSpPr>
        <p:spPr>
          <a:xfrm>
            <a:off x="4709160" y="2532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212080" y="2487168"/>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Select and assess a model for ML-CUP25 with a rigorous procedure, reporting mean ± std over random initializations</a:t>
            </a:r>
            <a:endParaRPr lang="en-US" sz="1400" dirty="0"/>
          </a:p>
        </p:txBody>
      </p:sp>
      <p:sp>
        <p:nvSpPr>
          <p:cNvPr id="12" name="Shape 10"/>
          <p:cNvSpPr/>
          <p:nvPr/>
        </p:nvSpPr>
        <p:spPr>
          <a:xfrm>
            <a:off x="4709160" y="3557016"/>
            <a:ext cx="365760" cy="365760"/>
          </a:xfrm>
          <a:prstGeom prst="ellipse">
            <a:avLst/>
          </a:prstGeom>
          <a:solidFill>
            <a:schemeClr val="tx2"/>
          </a:solidFill>
          <a:ln/>
        </p:spPr>
      </p:sp>
      <p:sp>
        <p:nvSpPr>
          <p:cNvPr id="13" name="Text 11"/>
          <p:cNvSpPr txBox="1"/>
          <p:nvPr/>
        </p:nvSpPr>
        <p:spPr>
          <a:xfrm>
            <a:off x="4709160" y="35570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212080" y="3511296"/>
            <a:ext cx="3474720" cy="868680"/>
          </a:xfrm>
          <a:prstGeom prst="rect">
            <a:avLst/>
          </a:prstGeom>
          <a:noFill/>
          <a:ln/>
        </p:spPr>
        <p:txBody>
          <a:bodyPr wrap="square" lIns="635" tIns="635" rIns="635" bIns="635" rtlCol="0" anchor="t"/>
          <a:lstStyle/>
          <a:p>
            <a:pPr indent="0" marL="0">
              <a:buNone/>
            </a:pPr>
            <a:r>
              <a:rPr lang="en-US" sz="1400" i="1" dirty="0">
                <a:solidFill>
                  <a:schemeClr val="accent2"/>
                </a:solidFill>
              </a:rPr>
              <a:t>[What else we wanted to explore, e.g. effect of momentum, L2, early stopping, …]</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Implementation overview</a:t>
            </a:r>
            <a:endParaRPr lang="en-US" sz="2600" dirty="0"/>
          </a:p>
        </p:txBody>
      </p:sp>
      <p:sp>
        <p:nvSpPr>
          <p:cNvPr id="3" name="Text 1"/>
          <p:cNvSpPr txBox="1"/>
          <p:nvPr/>
        </p:nvSpPr>
        <p:spPr>
          <a:xfrm>
            <a:off x="457200" y="1005840"/>
            <a:ext cx="3794760" cy="3566160"/>
          </a:xfrm>
          <a:prstGeom prst="rect">
            <a:avLst/>
          </a:prstGeom>
          <a:noFill/>
          <a:ln/>
        </p:spPr>
        <p:txBody>
          <a:bodyPr wrap="square" lIns="635" tIns="635" rIns="635" bIns="635" rtlCol="0" anchor="t"/>
          <a:lstStyle/>
          <a:p>
            <a:pPr marL="177800" indent="-177800">
              <a:spcAft>
                <a:spcPts val="700"/>
              </a:spcAft>
              <a:buSzPct val="100000"/>
              <a:buChar char="•"/>
            </a:pPr>
            <a:r>
              <a:rPr lang="en-US" sz="1400" b="1" dirty="0">
                <a:solidFill>
                  <a:schemeClr val="tx1"/>
                </a:solidFill>
              </a:rPr>
              <a:t>Language: </a:t>
            </a:r>
            <a:pPr indent="0" marL="0">
              <a:buNone/>
            </a:pPr>
            <a:r>
              <a:rPr lang="en-US" sz="1400" dirty="0">
                <a:solidFill>
                  <a:schemeClr val="tx1"/>
                </a:solidFill>
              </a:rPr>
              <a:t>Python 3.12 + NumPy only; Matplotlib for plots, no ML frameworks</a:t>
            </a:r>
            <a:endParaRPr lang="en-US" sz="1400" dirty="0"/>
          </a:p>
          <a:p>
            <a:pPr marL="177800" indent="-177800">
              <a:spcAft>
                <a:spcPts val="700"/>
              </a:spcAft>
              <a:buSzPct val="100000"/>
              <a:buChar char="•"/>
            </a:pPr>
            <a:r>
              <a:rPr lang="en-US" sz="1400" b="1" dirty="0">
                <a:solidFill>
                  <a:schemeClr val="tx1"/>
                </a:solidFill>
              </a:rPr>
              <a:t>Network: </a:t>
            </a:r>
            <a:pPr indent="0" marL="0">
              <a:buNone/>
            </a:pPr>
            <a:r>
              <a:rPr lang="en-US" sz="1400" dirty="0">
                <a:solidFill>
                  <a:schemeClr val="tx1"/>
                </a:solidFill>
              </a:rPr>
              <a:t>stack of blocks (Dense, activation), each with its own forward and hand-written backward pass</a:t>
            </a:r>
            <a:endParaRPr lang="en-US" sz="1400" dirty="0"/>
          </a:p>
          <a:p>
            <a:pPr marL="177800" indent="-177800">
              <a:spcAft>
                <a:spcPts val="700"/>
              </a:spcAft>
              <a:buSzPct val="100000"/>
              <a:buChar char="•"/>
            </a:pPr>
            <a:r>
              <a:rPr lang="en-US" sz="1400" b="1" dirty="0">
                <a:solidFill>
                  <a:schemeClr val="tx1"/>
                </a:solidFill>
              </a:rPr>
              <a:t>Experiments: </a:t>
            </a:r>
            <a:pPr indent="0" marL="0">
              <a:buNone/>
            </a:pPr>
            <a:r>
              <a:rPr lang="en-US" sz="1400" dirty="0">
                <a:solidFill>
                  <a:schemeClr val="tx1"/>
                </a:solidFill>
              </a:rPr>
              <a:t>driven by JSON configs (grid search, k-fold CV, final assessment)</a:t>
            </a:r>
            <a:endParaRPr lang="en-US" sz="1400" dirty="0"/>
          </a:p>
          <a:p>
            <a:pPr marL="177800" indent="-177800">
              <a:spcAft>
                <a:spcPts val="700"/>
              </a:spcAft>
              <a:buSzPct val="100000"/>
              <a:buChar char="•"/>
            </a:pPr>
            <a:r>
              <a:rPr lang="en-US" sz="1400" b="1" dirty="0">
                <a:solidFill>
                  <a:schemeClr val="tx1"/>
                </a:solidFill>
              </a:rPr>
              <a:t>Parallel and reproducible: </a:t>
            </a:r>
            <a:pPr indent="0" marL="0">
              <a:buNone/>
            </a:pPr>
            <a:r>
              <a:rPr lang="en-US" sz="1400" dirty="0">
                <a:solidFill>
                  <a:schemeClr val="tx1"/>
                </a:solidFill>
              </a:rPr>
              <a:t>configs × folds × inits run in parallel; seed streams derived from one master seed</a:t>
            </a:r>
            <a:endParaRPr lang="en-US" sz="1400" dirty="0"/>
          </a:p>
          <a:p>
            <a:pPr marL="177800" indent="-177800">
              <a:spcAft>
                <a:spcPts val="700"/>
              </a:spcAft>
              <a:buSzPct val="100000"/>
              <a:buChar char="•"/>
            </a:pPr>
            <a:r>
              <a:rPr lang="en-US" sz="1400" b="1" dirty="0">
                <a:solidFill>
                  <a:schemeClr val="tx1"/>
                </a:solidFill>
              </a:rPr>
              <a:t>Tests: </a:t>
            </a:r>
            <a:pPr indent="0" marL="0">
              <a:buNone/>
            </a:pPr>
            <a:r>
              <a:rPr lang="en-US" sz="1400" dirty="0">
                <a:solidFill>
                  <a:schemeClr val="tx1"/>
                </a:solidFill>
              </a:rPr>
              <a:t>273 pytest tests, including a numerical gradient check</a:t>
            </a:r>
            <a:endParaRPr lang="en-US" sz="1400" dirty="0"/>
          </a:p>
        </p:txBody>
      </p:sp>
      <p:sp>
        <p:nvSpPr>
          <p:cNvPr id="4" name="module runner"/>
          <p:cNvSpPr/>
          <p:nvPr/>
        </p:nvSpPr>
        <p:spPr>
          <a:xfrm>
            <a:off x="4526280" y="1005840"/>
            <a:ext cx="4160520" cy="502920"/>
          </a:xfrm>
          <a:prstGeom prst="roundRect">
            <a:avLst>
              <a:gd name="adj" fmla="val 14545"/>
            </a:avLst>
          </a:prstGeom>
          <a:solidFill>
            <a:schemeClr val="bg2"/>
          </a:solidFill>
          <a:ln/>
        </p:spPr>
      </p:sp>
      <p:sp>
        <p:nvSpPr>
          <p:cNvPr id="5" name="Text 3"/>
          <p:cNvSpPr txBox="1"/>
          <p:nvPr/>
        </p:nvSpPr>
        <p:spPr>
          <a:xfrm>
            <a:off x="4636008" y="1005840"/>
            <a:ext cx="3941064" cy="502920"/>
          </a:xfrm>
          <a:prstGeom prst="rect">
            <a:avLst/>
          </a:prstGeom>
          <a:noFill/>
          <a:ln/>
        </p:spPr>
        <p:txBody>
          <a:bodyPr wrap="square" lIns="635" tIns="635" rIns="635" bIns="635" rtlCol="0" anchor="ctr"/>
          <a:lstStyle/>
          <a:p>
            <a:pPr indent="0" marL="0">
              <a:buNone/>
            </a:pPr>
            <a:r>
              <a:rPr lang="en-US" sz="1400" b="1" dirty="0">
                <a:solidFill>
                  <a:schemeClr val="tx2"/>
                </a:solidFill>
              </a:rPr>
              <a:t>runner  </a:t>
            </a:r>
            <a:pPr indent="0" marL="0">
              <a:buNone/>
            </a:pPr>
            <a:r>
              <a:rPr lang="en-US" sz="1400" dirty="0">
                <a:solidFill>
                  <a:schemeClr val="tx1"/>
                </a:solidFill>
              </a:rPr>
              <a:t>JSON config → select / assess</a:t>
            </a:r>
            <a:endParaRPr lang="en-US" sz="1400" dirty="0"/>
          </a:p>
        </p:txBody>
      </p:sp>
      <p:sp>
        <p:nvSpPr>
          <p:cNvPr id="6" name="Shape 4"/>
          <p:cNvSpPr/>
          <p:nvPr/>
        </p:nvSpPr>
        <p:spPr>
          <a:xfrm>
            <a:off x="6606540" y="1508760"/>
            <a:ext cx="0" cy="182880"/>
          </a:xfrm>
          <a:prstGeom prst="line">
            <a:avLst/>
          </a:prstGeom>
          <a:noFill/>
          <a:ln w="19050">
            <a:solidFill>
              <a:srgbClr val="5A6F86"/>
            </a:solidFill>
            <a:prstDash val="solid"/>
            <a:tailEnd type="triangle"/>
          </a:ln>
        </p:spPr>
      </p:sp>
      <p:sp>
        <p:nvSpPr>
          <p:cNvPr id="7" name="module model_selection"/>
          <p:cNvSpPr/>
          <p:nvPr/>
        </p:nvSpPr>
        <p:spPr>
          <a:xfrm>
            <a:off x="4526280" y="1691640"/>
            <a:ext cx="4160520" cy="777240"/>
          </a:xfrm>
          <a:prstGeom prst="roundRect">
            <a:avLst>
              <a:gd name="adj" fmla="val 9412"/>
            </a:avLst>
          </a:prstGeom>
          <a:solidFill>
            <a:schemeClr val="bg2"/>
          </a:solidFill>
          <a:ln/>
        </p:spPr>
      </p:sp>
      <p:sp>
        <p:nvSpPr>
          <p:cNvPr id="8" name="Text 6"/>
          <p:cNvSpPr txBox="1"/>
          <p:nvPr/>
        </p:nvSpPr>
        <p:spPr>
          <a:xfrm>
            <a:off x="4636008" y="1691640"/>
            <a:ext cx="3941064" cy="777240"/>
          </a:xfrm>
          <a:prstGeom prst="rect">
            <a:avLst/>
          </a:prstGeom>
          <a:noFill/>
          <a:ln/>
        </p:spPr>
        <p:txBody>
          <a:bodyPr wrap="square" lIns="635" tIns="635" rIns="635" bIns="635" rtlCol="0" anchor="ctr"/>
          <a:lstStyle/>
          <a:p>
            <a:pPr indent="0" marL="0">
              <a:buNone/>
            </a:pPr>
            <a:r>
              <a:rPr lang="en-US" sz="1400" b="1" dirty="0">
                <a:solidFill>
                  <a:schemeClr val="tx2"/>
                </a:solidFill>
              </a:rPr>
              <a:t>model_selection  </a:t>
            </a:r>
            <a:pPr indent="0" marL="0">
              <a:buNone/>
            </a:pPr>
            <a:r>
              <a:rPr lang="en-US" sz="1400" dirty="0">
                <a:solidFill>
                  <a:schemeClr val="tx1"/>
                </a:solidFill>
              </a:rPr>
              <a:t>grid search, k-fold CV, stratified hold-out, early stopping, repeated trials</a:t>
            </a:r>
            <a:endParaRPr lang="en-US" sz="1400" dirty="0"/>
          </a:p>
        </p:txBody>
      </p:sp>
      <p:sp>
        <p:nvSpPr>
          <p:cNvPr id="9" name="Shape 7"/>
          <p:cNvSpPr/>
          <p:nvPr/>
        </p:nvSpPr>
        <p:spPr>
          <a:xfrm>
            <a:off x="6606540" y="2468880"/>
            <a:ext cx="0" cy="182880"/>
          </a:xfrm>
          <a:prstGeom prst="line">
            <a:avLst/>
          </a:prstGeom>
          <a:noFill/>
          <a:ln w="19050">
            <a:solidFill>
              <a:srgbClr val="5A6F86"/>
            </a:solidFill>
            <a:prstDash val="solid"/>
            <a:tailEnd type="triangle"/>
          </a:ln>
        </p:spPr>
      </p:sp>
      <p:sp>
        <p:nvSpPr>
          <p:cNvPr id="10" name="module nn"/>
          <p:cNvSpPr/>
          <p:nvPr/>
        </p:nvSpPr>
        <p:spPr>
          <a:xfrm>
            <a:off x="4526280" y="2651760"/>
            <a:ext cx="4160520" cy="1051560"/>
          </a:xfrm>
          <a:prstGeom prst="roundRect">
            <a:avLst>
              <a:gd name="adj" fmla="val 6957"/>
            </a:avLst>
          </a:prstGeom>
          <a:solidFill>
            <a:schemeClr val="tx2"/>
          </a:solidFill>
          <a:ln/>
        </p:spPr>
      </p:sp>
      <p:sp>
        <p:nvSpPr>
          <p:cNvPr id="11" name="Text 9"/>
          <p:cNvSpPr txBox="1"/>
          <p:nvPr/>
        </p:nvSpPr>
        <p:spPr>
          <a:xfrm>
            <a:off x="4636008" y="2651760"/>
            <a:ext cx="3941064" cy="1051560"/>
          </a:xfrm>
          <a:prstGeom prst="rect">
            <a:avLst/>
          </a:prstGeom>
          <a:noFill/>
          <a:ln/>
        </p:spPr>
        <p:txBody>
          <a:bodyPr wrap="square" lIns="635" tIns="635" rIns="635" bIns="635" rtlCol="0" anchor="ctr"/>
          <a:lstStyle/>
          <a:p>
            <a:pPr indent="0" marL="0">
              <a:buNone/>
            </a:pPr>
            <a:r>
              <a:rPr lang="en-US" sz="1400" b="1" dirty="0">
                <a:solidFill>
                  <a:schemeClr val="bg1"/>
                </a:solidFill>
              </a:rPr>
              <a:t>nn  </a:t>
            </a:r>
            <a:pPr indent="0" marL="0">
              <a:buNone/>
            </a:pPr>
            <a:r>
              <a:rPr lang="en-US" sz="1400" dirty="0">
                <a:solidFill>
                  <a:schemeClr val="bg1"/>
                </a:solidFill>
              </a:rPr>
              <a:t>dense layers; sigmoid, tanh, ReLU, identity; MSE; SGD with classical / Nesterov momentum; linear LR decay; L2, L1; uniform, Glorot, He init</a:t>
            </a:r>
            <a:endParaRPr lang="en-US" sz="1400" dirty="0"/>
          </a:p>
        </p:txBody>
      </p:sp>
      <p:sp>
        <p:nvSpPr>
          <p:cNvPr id="12" name="module data"/>
          <p:cNvSpPr/>
          <p:nvPr/>
        </p:nvSpPr>
        <p:spPr>
          <a:xfrm>
            <a:off x="4526280" y="3840480"/>
            <a:ext cx="2011680" cy="731520"/>
          </a:xfrm>
          <a:prstGeom prst="roundRect">
            <a:avLst>
              <a:gd name="adj" fmla="val 10000"/>
            </a:avLst>
          </a:prstGeom>
          <a:solidFill>
            <a:schemeClr val="bg2"/>
          </a:solidFill>
          <a:ln/>
        </p:spPr>
      </p:sp>
      <p:sp>
        <p:nvSpPr>
          <p:cNvPr id="13" name="Text 11"/>
          <p:cNvSpPr txBox="1"/>
          <p:nvPr/>
        </p:nvSpPr>
        <p:spPr>
          <a:xfrm>
            <a:off x="461772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data  </a:t>
            </a:r>
            <a:pPr indent="0" marL="0">
              <a:buNone/>
            </a:pPr>
            <a:r>
              <a:rPr lang="en-US" sz="1400" dirty="0">
                <a:solidFill>
                  <a:schemeClr val="tx1"/>
                </a:solidFill>
              </a:rPr>
              <a:t>MONK 1-of-k, CUP split, scaling</a:t>
            </a:r>
            <a:endParaRPr lang="en-US" sz="1400" dirty="0"/>
          </a:p>
        </p:txBody>
      </p:sp>
      <p:sp>
        <p:nvSpPr>
          <p:cNvPr id="14" name="module utils"/>
          <p:cNvSpPr/>
          <p:nvPr/>
        </p:nvSpPr>
        <p:spPr>
          <a:xfrm>
            <a:off x="6675120" y="3840480"/>
            <a:ext cx="2011680" cy="731520"/>
          </a:xfrm>
          <a:prstGeom prst="roundRect">
            <a:avLst>
              <a:gd name="adj" fmla="val 10000"/>
            </a:avLst>
          </a:prstGeom>
          <a:solidFill>
            <a:schemeClr val="bg2"/>
          </a:solidFill>
          <a:ln/>
        </p:spPr>
      </p:sp>
      <p:sp>
        <p:nvSpPr>
          <p:cNvPr id="15" name="Text 13"/>
          <p:cNvSpPr txBox="1"/>
          <p:nvPr/>
        </p:nvSpPr>
        <p:spPr>
          <a:xfrm>
            <a:off x="676656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utils  </a:t>
            </a:r>
            <a:pPr indent="0" marL="0">
              <a:buNone/>
            </a:pPr>
            <a:r>
              <a:rPr lang="en-US" sz="1400" dirty="0">
                <a:solidFill>
                  <a:schemeClr val="tx1"/>
                </a:solidFill>
              </a:rPr>
              <a:t>metrics, plots, seeds, saving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Implemented features and CUP choices</a:t>
            </a:r>
            <a:endParaRPr lang="en-US" sz="2600" dirty="0"/>
          </a:p>
        </p:txBody>
      </p:sp>
      <p:sp>
        <p:nvSpPr>
          <p:cNvPr id="3" name="feature Architecture"/>
          <p:cNvSpPr/>
          <p:nvPr/>
        </p:nvSpPr>
        <p:spPr>
          <a:xfrm>
            <a:off x="457200" y="1005840"/>
            <a:ext cx="2615184" cy="1097280"/>
          </a:xfrm>
          <a:prstGeom prst="roundRect">
            <a:avLst>
              <a:gd name="adj" fmla="val 6667"/>
            </a:avLst>
          </a:prstGeom>
          <a:solidFill>
            <a:schemeClr val="bg2"/>
          </a:solidFill>
          <a:ln/>
        </p:spPr>
      </p:sp>
      <p:sp>
        <p:nvSpPr>
          <p:cNvPr id="4" name="Text 2"/>
          <p:cNvSpPr txBox="1"/>
          <p:nvPr/>
        </p:nvSpPr>
        <p:spPr>
          <a:xfrm>
            <a:off x="548640"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Architecture</a:t>
            </a:r>
            <a:endParaRPr lang="en-US" sz="1400" dirty="0"/>
          </a:p>
          <a:p>
            <a:pPr indent="0" marL="0">
              <a:buNone/>
            </a:pPr>
            <a:r>
              <a:rPr lang="en-US" sz="1400" dirty="0">
                <a:solidFill>
                  <a:schemeClr val="tx1"/>
                </a:solidFill>
              </a:rPr>
              <a:t>MLP of any depth; CUP: 2 hidden layers of 64 units, 4 linear outputs</a:t>
            </a:r>
            <a:endParaRPr lang="en-US" sz="1400" dirty="0"/>
          </a:p>
        </p:txBody>
      </p:sp>
      <p:sp>
        <p:nvSpPr>
          <p:cNvPr id="5" name="feature Activation functions"/>
          <p:cNvSpPr/>
          <p:nvPr/>
        </p:nvSpPr>
        <p:spPr>
          <a:xfrm>
            <a:off x="3264408" y="1005840"/>
            <a:ext cx="2615184" cy="1097280"/>
          </a:xfrm>
          <a:prstGeom prst="roundRect">
            <a:avLst>
              <a:gd name="adj" fmla="val 6667"/>
            </a:avLst>
          </a:prstGeom>
          <a:solidFill>
            <a:schemeClr val="bg2"/>
          </a:solidFill>
          <a:ln/>
        </p:spPr>
      </p:sp>
      <p:sp>
        <p:nvSpPr>
          <p:cNvPr id="6" name="Text 4"/>
          <p:cNvSpPr txBox="1"/>
          <p:nvPr/>
        </p:nvSpPr>
        <p:spPr>
          <a:xfrm>
            <a:off x="3355848"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Activation functions</a:t>
            </a:r>
            <a:endParaRPr lang="en-US" sz="1400" dirty="0"/>
          </a:p>
          <a:p>
            <a:pPr indent="0" marL="0">
              <a:buNone/>
            </a:pPr>
            <a:r>
              <a:rPr lang="en-US" sz="1400" dirty="0">
                <a:solidFill>
                  <a:schemeClr val="tx1"/>
                </a:solidFill>
              </a:rPr>
              <a:t>Sigmoid, tanh, ReLU, identity; CUP: ReLU hidden, identity output</a:t>
            </a:r>
            <a:endParaRPr lang="en-US" sz="1400" dirty="0"/>
          </a:p>
        </p:txBody>
      </p:sp>
      <p:sp>
        <p:nvSpPr>
          <p:cNvPr id="7" name="feature Training algorithm"/>
          <p:cNvSpPr/>
          <p:nvPr/>
        </p:nvSpPr>
        <p:spPr>
          <a:xfrm>
            <a:off x="6071616" y="1005840"/>
            <a:ext cx="2615184" cy="1097280"/>
          </a:xfrm>
          <a:prstGeom prst="roundRect">
            <a:avLst>
              <a:gd name="adj" fmla="val 6667"/>
            </a:avLst>
          </a:prstGeom>
          <a:solidFill>
            <a:schemeClr val="bg2"/>
          </a:solidFill>
          <a:ln/>
        </p:spPr>
      </p:sp>
      <p:sp>
        <p:nvSpPr>
          <p:cNvPr id="8" name="Text 6"/>
          <p:cNvSpPr txBox="1"/>
          <p:nvPr/>
        </p:nvSpPr>
        <p:spPr>
          <a:xfrm>
            <a:off x="6163056"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Training algorithm</a:t>
            </a:r>
            <a:endParaRPr lang="en-US" sz="1400" dirty="0"/>
          </a:p>
          <a:p>
            <a:pPr indent="0" marL="0">
              <a:buNone/>
            </a:pPr>
            <a:r>
              <a:rPr lang="en-US" sz="1400" dirty="0">
                <a:solidFill>
                  <a:schemeClr val="tx1"/>
                </a:solidFill>
              </a:rPr>
              <a:t>Backprop + SGD, classical or Nesterov momentum; CUP: classical, α 0.9</a:t>
            </a:r>
            <a:endParaRPr lang="en-US" sz="1400" dirty="0"/>
          </a:p>
        </p:txBody>
      </p:sp>
      <p:sp>
        <p:nvSpPr>
          <p:cNvPr id="9" name="feature Learning rate"/>
          <p:cNvSpPr/>
          <p:nvPr/>
        </p:nvSpPr>
        <p:spPr>
          <a:xfrm>
            <a:off x="457200" y="2212848"/>
            <a:ext cx="2615184" cy="1097280"/>
          </a:xfrm>
          <a:prstGeom prst="roundRect">
            <a:avLst>
              <a:gd name="adj" fmla="val 6667"/>
            </a:avLst>
          </a:prstGeom>
          <a:solidFill>
            <a:schemeClr val="bg2"/>
          </a:solidFill>
          <a:ln/>
        </p:spPr>
      </p:sp>
      <p:sp>
        <p:nvSpPr>
          <p:cNvPr id="10" name="Text 8"/>
          <p:cNvSpPr txBox="1"/>
          <p:nvPr/>
        </p:nvSpPr>
        <p:spPr>
          <a:xfrm>
            <a:off x="548640"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Learning rate</a:t>
            </a:r>
            <a:endParaRPr lang="en-US" sz="1400" dirty="0"/>
          </a:p>
          <a:p>
            <a:pPr indent="0" marL="0">
              <a:buNone/>
            </a:pPr>
            <a:r>
              <a:rPr lang="en-US" sz="1400" dirty="0">
                <a:solidFill>
                  <a:schemeClr val="tx1"/>
                </a:solidFill>
              </a:rPr>
              <a:t>Fixed, or linear decay from η</a:t>
            </a:r>
            <a:pPr indent="0" marL="0">
              <a:buNone/>
            </a:pPr>
            <a:r>
              <a:rPr lang="en-US" sz="1400" baseline="-40000" dirty="0">
                <a:solidFill>
                  <a:schemeClr val="tx1"/>
                </a:solidFill>
              </a:rPr>
              <a:t>0</a:t>
            </a:r>
            <a:pPr indent="0" marL="0">
              <a:buNone/>
            </a:pPr>
            <a:r>
              <a:rPr lang="en-US" sz="1400" dirty="0">
                <a:solidFill>
                  <a:schemeClr val="tx1"/>
                </a:solidFill>
              </a:rPr>
              <a:t> to η</a:t>
            </a:r>
            <a:pPr indent="0" marL="0">
              <a:buNone/>
            </a:pPr>
            <a:r>
              <a:rPr lang="en-US" sz="1400" baseline="-40000" dirty="0">
                <a:solidFill>
                  <a:schemeClr val="tx1"/>
                </a:solidFill>
              </a:rPr>
              <a:t>τ</a:t>
            </a:r>
            <a:pPr indent="0" marL="0">
              <a:buNone/>
            </a:pPr>
            <a:r>
              <a:rPr lang="en-US" sz="1400" dirty="0">
                <a:solidFill>
                  <a:schemeClr val="tx1"/>
                </a:solidFill>
              </a:rPr>
              <a:t> in τ epochs; CUP: fixed, η 0.01</a:t>
            </a:r>
            <a:endParaRPr lang="en-US" sz="1400" dirty="0"/>
          </a:p>
        </p:txBody>
      </p:sp>
      <p:sp>
        <p:nvSpPr>
          <p:cNvPr id="11" name="feature Batch / on-line / mini-batch"/>
          <p:cNvSpPr/>
          <p:nvPr/>
        </p:nvSpPr>
        <p:spPr>
          <a:xfrm>
            <a:off x="3264408" y="2212848"/>
            <a:ext cx="2615184" cy="1097280"/>
          </a:xfrm>
          <a:prstGeom prst="roundRect">
            <a:avLst>
              <a:gd name="adj" fmla="val 6667"/>
            </a:avLst>
          </a:prstGeom>
          <a:solidFill>
            <a:schemeClr val="bg2"/>
          </a:solidFill>
          <a:ln/>
        </p:spPr>
      </p:sp>
      <p:sp>
        <p:nvSpPr>
          <p:cNvPr id="12" name="Text 10"/>
          <p:cNvSpPr txBox="1"/>
          <p:nvPr/>
        </p:nvSpPr>
        <p:spPr>
          <a:xfrm>
            <a:off x="3355848"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Batch / on-line / mini-batch</a:t>
            </a:r>
            <a:endParaRPr lang="en-US" sz="1400" dirty="0"/>
          </a:p>
          <a:p>
            <a:pPr indent="0" marL="0">
              <a:buNone/>
            </a:pPr>
            <a:r>
              <a:rPr lang="en-US" sz="1400" dirty="0">
                <a:solidFill>
                  <a:schemeClr val="tx1"/>
                </a:solidFill>
              </a:rPr>
              <a:t>All three; CUP: full batch; MONK: Table 1</a:t>
            </a:r>
            <a:endParaRPr lang="en-US" sz="1400" dirty="0"/>
          </a:p>
        </p:txBody>
      </p:sp>
      <p:sp>
        <p:nvSpPr>
          <p:cNvPr id="13" name="feature Initialization"/>
          <p:cNvSpPr/>
          <p:nvPr/>
        </p:nvSpPr>
        <p:spPr>
          <a:xfrm>
            <a:off x="6071616" y="2212848"/>
            <a:ext cx="2615184" cy="1097280"/>
          </a:xfrm>
          <a:prstGeom prst="roundRect">
            <a:avLst>
              <a:gd name="adj" fmla="val 6667"/>
            </a:avLst>
          </a:prstGeom>
          <a:solidFill>
            <a:schemeClr val="bg2"/>
          </a:solidFill>
          <a:ln/>
        </p:spPr>
      </p:sp>
      <p:sp>
        <p:nvSpPr>
          <p:cNvPr id="14" name="Text 12"/>
          <p:cNvSpPr txBox="1"/>
          <p:nvPr/>
        </p:nvSpPr>
        <p:spPr>
          <a:xfrm>
            <a:off x="6163056"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Initialization</a:t>
            </a:r>
            <a:endParaRPr lang="en-US" sz="1400" dirty="0"/>
          </a:p>
          <a:p>
            <a:pPr indent="0" marL="0">
              <a:buNone/>
            </a:pPr>
            <a:r>
              <a:rPr lang="en-US" sz="1400" dirty="0">
                <a:solidFill>
                  <a:schemeClr val="tx1"/>
                </a:solidFill>
              </a:rPr>
              <a:t>Uniform, Glorot, He; CUP: He, </a:t>
            </a:r>
            <a:pPr indent="0" marL="0">
              <a:buNone/>
            </a:pPr>
            <a:r>
              <a:rPr lang="en-US" sz="1400" i="1" dirty="0">
                <a:solidFill>
                  <a:schemeClr val="accent2"/>
                </a:solidFill>
              </a:rPr>
              <a:t>10</a:t>
            </a:r>
            <a:pPr indent="0" marL="0">
              <a:buNone/>
            </a:pPr>
            <a:r>
              <a:rPr lang="en-US" sz="1400" dirty="0">
                <a:solidFill>
                  <a:schemeClr val="tx1"/>
                </a:solidFill>
              </a:rPr>
              <a:t> random inits per configuration</a:t>
            </a:r>
            <a:endParaRPr lang="en-US" sz="1400" dirty="0"/>
          </a:p>
        </p:txBody>
      </p:sp>
      <p:sp>
        <p:nvSpPr>
          <p:cNvPr id="15" name="feature Regularization"/>
          <p:cNvSpPr/>
          <p:nvPr/>
        </p:nvSpPr>
        <p:spPr>
          <a:xfrm>
            <a:off x="457200" y="3419856"/>
            <a:ext cx="2615184" cy="1097280"/>
          </a:xfrm>
          <a:prstGeom prst="roundRect">
            <a:avLst>
              <a:gd name="adj" fmla="val 6667"/>
            </a:avLst>
          </a:prstGeom>
          <a:solidFill>
            <a:schemeClr val="bg2"/>
          </a:solidFill>
          <a:ln/>
        </p:spPr>
      </p:sp>
      <p:sp>
        <p:nvSpPr>
          <p:cNvPr id="16" name="Text 14"/>
          <p:cNvSpPr txBox="1"/>
          <p:nvPr/>
        </p:nvSpPr>
        <p:spPr>
          <a:xfrm>
            <a:off x="548640"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Regularization</a:t>
            </a:r>
            <a:endParaRPr lang="en-US" sz="1400" dirty="0"/>
          </a:p>
          <a:p>
            <a:pPr indent="0" marL="0">
              <a:buNone/>
            </a:pPr>
            <a:r>
              <a:rPr lang="en-US" sz="1400" dirty="0">
                <a:solidFill>
                  <a:schemeClr val="tx1"/>
                </a:solidFill>
              </a:rPr>
              <a:t>L2 (Tikhonov) and L1 on the weights, not on the biases; CUP: L2, λ 0.01</a:t>
            </a:r>
            <a:endParaRPr lang="en-US" sz="1400" dirty="0"/>
          </a:p>
        </p:txBody>
      </p:sp>
      <p:sp>
        <p:nvSpPr>
          <p:cNvPr id="17" name="feature Stop conditions"/>
          <p:cNvSpPr/>
          <p:nvPr/>
        </p:nvSpPr>
        <p:spPr>
          <a:xfrm>
            <a:off x="3264408" y="3419856"/>
            <a:ext cx="2615184" cy="1097280"/>
          </a:xfrm>
          <a:prstGeom prst="roundRect">
            <a:avLst>
              <a:gd name="adj" fmla="val 6667"/>
            </a:avLst>
          </a:prstGeom>
          <a:solidFill>
            <a:schemeClr val="bg2"/>
          </a:solidFill>
          <a:ln/>
        </p:spPr>
      </p:sp>
      <p:sp>
        <p:nvSpPr>
          <p:cNvPr id="18" name="Text 16"/>
          <p:cNvSpPr txBox="1"/>
          <p:nvPr/>
        </p:nvSpPr>
        <p:spPr>
          <a:xfrm>
            <a:off x="3355848"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Stop conditions</a:t>
            </a:r>
            <a:endParaRPr lang="en-US" sz="1400" dirty="0"/>
          </a:p>
          <a:p>
            <a:pPr indent="0" marL="0">
              <a:buNone/>
            </a:pPr>
            <a:r>
              <a:rPr lang="en-US" sz="1400" dirty="0">
                <a:solidFill>
                  <a:schemeClr val="tx1"/>
                </a:solidFill>
              </a:rPr>
              <a:t>Max epochs, early stopping (patience </a:t>
            </a:r>
            <a:pPr indent="0" marL="0">
              <a:buNone/>
            </a:pPr>
            <a:r>
              <a:rPr lang="en-US" sz="1400" i="1" dirty="0">
                <a:solidFill>
                  <a:schemeClr val="accent2"/>
                </a:solidFill>
              </a:rPr>
              <a:t>100</a:t>
            </a:r>
            <a:pPr indent="0" marL="0">
              <a:buNone/>
            </a:pPr>
            <a:r>
              <a:rPr lang="en-US" sz="1400" dirty="0">
                <a:solidFill>
                  <a:schemeClr val="tx1"/>
                </a:solidFill>
              </a:rPr>
              <a:t>); retraining: CV TR-error target</a:t>
            </a:r>
            <a:endParaRPr lang="en-US" sz="1400" dirty="0"/>
          </a:p>
        </p:txBody>
      </p:sp>
      <p:sp>
        <p:nvSpPr>
          <p:cNvPr id="19" name="feature Loss and metrics"/>
          <p:cNvSpPr/>
          <p:nvPr/>
        </p:nvSpPr>
        <p:spPr>
          <a:xfrm>
            <a:off x="6071616" y="3419856"/>
            <a:ext cx="2615184" cy="1097280"/>
          </a:xfrm>
          <a:prstGeom prst="roundRect">
            <a:avLst>
              <a:gd name="adj" fmla="val 6667"/>
            </a:avLst>
          </a:prstGeom>
          <a:solidFill>
            <a:schemeClr val="bg2"/>
          </a:solidFill>
          <a:ln/>
        </p:spPr>
      </p:sp>
      <p:sp>
        <p:nvSpPr>
          <p:cNvPr id="20" name="Text 18"/>
          <p:cNvSpPr txBox="1"/>
          <p:nvPr/>
        </p:nvSpPr>
        <p:spPr>
          <a:xfrm>
            <a:off x="6163056"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Loss and metrics</a:t>
            </a:r>
            <a:endParaRPr lang="en-US" sz="1400" dirty="0"/>
          </a:p>
          <a:p>
            <a:pPr indent="0" marL="0">
              <a:buNone/>
            </a:pPr>
            <a:r>
              <a:rPr lang="en-US" sz="1400" dirty="0">
                <a:solidFill>
                  <a:schemeClr val="tx1"/>
                </a:solidFill>
              </a:rPr>
              <a:t>MSE loss, no penalty in tables; MONK: accuracy; CUP: MEE, original scale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Beyond the basics</a:t>
            </a:r>
            <a:endParaRPr lang="en-US" sz="2600" dirty="0"/>
          </a:p>
        </p:txBody>
      </p:sp>
      <p:sp>
        <p:nvSpPr>
          <p:cNvPr id="3" name="extra CV-guided final retraining"/>
          <p:cNvSpPr/>
          <p:nvPr/>
        </p:nvSpPr>
        <p:spPr>
          <a:xfrm>
            <a:off x="457200" y="1005840"/>
            <a:ext cx="2560320" cy="3566160"/>
          </a:xfrm>
          <a:prstGeom prst="roundRect">
            <a:avLst>
              <a:gd name="adj" fmla="val 2857"/>
            </a:avLst>
          </a:prstGeom>
          <a:solidFill>
            <a:schemeClr val="bg2"/>
          </a:solidFill>
          <a:ln/>
        </p:spPr>
      </p:sp>
      <p:sp>
        <p:nvSpPr>
          <p:cNvPr id="4" name="Text 2"/>
          <p:cNvSpPr txBox="1"/>
          <p:nvPr/>
        </p:nvSpPr>
        <p:spPr>
          <a:xfrm>
            <a:off x="59436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CV-guided final retraining</a:t>
            </a:r>
            <a:endParaRPr lang="en-US" sz="1400" dirty="0"/>
          </a:p>
          <a:p>
            <a:pPr indent="0" marL="0">
              <a:spcAft>
                <a:spcPts val="600"/>
              </a:spcAft>
              <a:buNone/>
            </a:pPr>
            <a:r>
              <a:rPr lang="en-US" sz="1400" dirty="0">
                <a:solidFill>
                  <a:schemeClr val="tx1"/>
                </a:solidFill>
              </a:rPr>
              <a:t>The retraining stops when TR MEE reaches the mean TR MEE at the best VL epoch of the CV</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a fold trains on ≈267 patterns, the retraining on 400-500: equal epochs ≠ equal fit</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[TS MEE vs. a fixed number of epochs]</a:t>
            </a:r>
            <a:endParaRPr lang="en-US" sz="1400" dirty="0"/>
          </a:p>
        </p:txBody>
      </p:sp>
      <p:sp>
        <p:nvSpPr>
          <p:cNvPr id="5" name="extra Two sources of variance"/>
          <p:cNvSpPr/>
          <p:nvPr/>
        </p:nvSpPr>
        <p:spPr>
          <a:xfrm>
            <a:off x="3291840" y="1005840"/>
            <a:ext cx="2560320" cy="3566160"/>
          </a:xfrm>
          <a:prstGeom prst="roundRect">
            <a:avLst>
              <a:gd name="adj" fmla="val 2857"/>
            </a:avLst>
          </a:prstGeom>
          <a:solidFill>
            <a:schemeClr val="bg2"/>
          </a:solidFill>
          <a:ln/>
        </p:spPr>
      </p:sp>
      <p:sp>
        <p:nvSpPr>
          <p:cNvPr id="6" name="Text 4"/>
          <p:cNvSpPr txBox="1"/>
          <p:nvPr/>
        </p:nvSpPr>
        <p:spPr>
          <a:xfrm>
            <a:off x="342900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Two sources of variance</a:t>
            </a:r>
            <a:endParaRPr lang="en-US" sz="1400" dirty="0"/>
          </a:p>
          <a:p>
            <a:pPr indent="0" marL="0">
              <a:spcAft>
                <a:spcPts val="600"/>
              </a:spcAft>
              <a:buNone/>
            </a:pPr>
            <a:r>
              <a:rPr lang="en-US" sz="1400" dirty="0">
                <a:solidFill>
                  <a:schemeClr val="tx1"/>
                </a:solidFill>
              </a:rPr>
              <a:t>Every configuration trained with several random inits on each fold (CUP: </a:t>
            </a:r>
            <a:pPr indent="0" marL="0">
              <a:buNone/>
            </a:pPr>
            <a:r>
              <a:rPr lang="en-US" sz="1400" i="1" dirty="0">
                <a:solidFill>
                  <a:schemeClr val="accent2"/>
                </a:solidFill>
              </a:rPr>
              <a:t>10</a:t>
            </a:r>
            <a:pPr indent="0" marL="0">
              <a:buNone/>
            </a:pPr>
            <a:r>
              <a:rPr lang="en-US" sz="1400" dirty="0">
                <a:solidFill>
                  <a:schemeClr val="tx1"/>
                </a:solidFill>
              </a:rPr>
              <a:t> × </a:t>
            </a:r>
            <a:pPr indent="0" marL="0">
              <a:buNone/>
            </a:pPr>
            <a:r>
              <a:rPr lang="en-US" sz="1400" i="1" dirty="0">
                <a:solidFill>
                  <a:schemeClr val="accent2"/>
                </a:solidFill>
              </a:rPr>
              <a:t>3</a:t>
            </a:r>
            <a:pPr indent="0" marL="0">
              <a:buNone/>
            </a:pPr>
            <a:r>
              <a:rPr lang="en-US" sz="1400" dirty="0">
                <a:solidFill>
                  <a:schemeClr val="tx1"/>
                </a:solidFill>
              </a:rPr>
              <a:t> folds); ranking on the mean</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std across inits and std across folds reported apart (initialization vs. data split)</a:t>
            </a:r>
            <a:endParaRPr lang="en-US" sz="1400" dirty="0"/>
          </a:p>
          <a:p>
            <a:pPr indent="0" marL="0">
              <a:buNone/>
            </a:pPr>
            <a:r>
              <a:rPr lang="en-US" sz="1400" b="1" dirty="0">
                <a:solidFill>
                  <a:schemeClr val="tx2"/>
                </a:solidFill>
              </a:rPr>
              <a:t>Evidence: </a:t>
            </a:r>
            <a:pPr indent="0" marL="0">
              <a:buNone/>
            </a:pPr>
            <a:r>
              <a:rPr lang="en-US" sz="1400" dirty="0">
                <a:solidFill>
                  <a:schemeClr val="tx1"/>
                </a:solidFill>
              </a:rPr>
              <a:t>Table 3, Fig. A.5</a:t>
            </a:r>
            <a:endParaRPr lang="en-US" sz="1400" dirty="0"/>
          </a:p>
        </p:txBody>
      </p:sp>
      <p:sp>
        <p:nvSpPr>
          <p:cNvPr id="7" name="extra Parallel, reproducible search"/>
          <p:cNvSpPr/>
          <p:nvPr/>
        </p:nvSpPr>
        <p:spPr>
          <a:xfrm>
            <a:off x="6126480" y="1005840"/>
            <a:ext cx="2560320" cy="3566160"/>
          </a:xfrm>
          <a:prstGeom prst="roundRect">
            <a:avLst>
              <a:gd name="adj" fmla="val 2857"/>
            </a:avLst>
          </a:prstGeom>
          <a:solidFill>
            <a:schemeClr val="bg2"/>
          </a:solidFill>
          <a:ln/>
        </p:spPr>
      </p:sp>
      <p:sp>
        <p:nvSpPr>
          <p:cNvPr id="8" name="Text 6"/>
          <p:cNvSpPr txBox="1"/>
          <p:nvPr/>
        </p:nvSpPr>
        <p:spPr>
          <a:xfrm>
            <a:off x="626364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Parallel, reproducible search</a:t>
            </a:r>
            <a:endParaRPr lang="en-US" sz="1400" dirty="0"/>
          </a:p>
          <a:p>
            <a:pPr indent="0" marL="0">
              <a:spcAft>
                <a:spcPts val="600"/>
              </a:spcAft>
              <a:buNone/>
            </a:pPr>
            <a:r>
              <a:rPr lang="en-US" sz="1400" dirty="0">
                <a:solidFill>
                  <a:schemeClr val="tx1"/>
                </a:solidFill>
              </a:rPr>
              <a:t>Configs × folds × inits run in parallel; split, init and shuffle seeds derived from one master seed</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larger grids in the same time, every result can be replayed</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[speed-up: 1 vs. N workers]</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results</a:t>
            </a:r>
            <a:endParaRPr lang="en-US" sz="2600" dirty="0"/>
          </a:p>
        </p:txBody>
      </p:sp>
      <p:sp>
        <p:nvSpPr>
          <p:cNvPr id="3" name="Text 1"/>
          <p:cNvSpPr txBox="1"/>
          <p:nvPr/>
        </p:nvSpPr>
        <p:spPr>
          <a:xfrm>
            <a:off x="457200" y="960120"/>
            <a:ext cx="8229600" cy="731520"/>
          </a:xfrm>
          <a:prstGeom prst="rect">
            <a:avLst/>
          </a:prstGeom>
          <a:noFill/>
          <a:ln/>
        </p:spPr>
        <p:txBody>
          <a:bodyPr wrap="square" lIns="635" tIns="635" rIns="635" bIns="635" rtlCol="0" anchor="t"/>
          <a:lstStyle/>
          <a:p>
            <a:pPr indent="0" marL="0">
              <a:buNone/>
            </a:pPr>
            <a:r>
              <a:rPr lang="en-US" sz="1400" dirty="0">
                <a:solidFill>
                  <a:schemeClr val="tx1"/>
                </a:solidFill>
              </a:rPr>
              <a:t>17 one-hot inputs → 4 tanh units → 1 sigmoid unit; MSE loss, Glorot init. Model selection: grid search with stratified hold-out (80% TR / 20% VL); MONK 3 (reg.): 5-fold CV. TS only for the final assessment.</a:t>
            </a:r>
            <a:endParaRPr lang="en-US" sz="1400" dirty="0"/>
          </a:p>
        </p:txBody>
      </p:sp>
      <p:sp>
        <p:nvSpPr>
          <p:cNvPr id="4" name="Text 2"/>
          <p:cNvSpPr txBox="1"/>
          <p:nvPr/>
        </p:nvSpPr>
        <p:spPr>
          <a:xfrm>
            <a:off x="457200" y="1719072"/>
            <a:ext cx="8229600" cy="521208"/>
          </a:xfrm>
          <a:prstGeom prst="rect">
            <a:avLst/>
          </a:prstGeom>
          <a:noFill/>
          <a:ln/>
        </p:spPr>
        <p:txBody>
          <a:bodyPr wrap="square" lIns="635" tIns="635" rIns="635" bIns="635" rtlCol="0" anchor="t"/>
          <a:lstStyle/>
          <a:p>
            <a:pPr indent="0" marL="0">
              <a:buNone/>
            </a:pPr>
            <a:r>
              <a:rPr lang="en-US" sz="1400" i="1" dirty="0">
                <a:solidFill>
                  <a:schemeClr val="accent3"/>
                </a:solidFill>
              </a:rPr>
              <a:t>Table 1. Mean ± std over 50 inits, MSE without penalty. N = Nesterov; CV stop = retraining up to the TR-MSE target of the CV.</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8229600" cy="914400"/>
        </p:xfrm>
        <a:graphic>
          <a:graphicData uri="http://schemas.openxmlformats.org/drawingml/2006/table">
            <a:tbl>
              <a:tblPr/>
              <a:tblGrid>
                <a:gridCol w="1188720"/>
                <a:gridCol w="2286000"/>
                <a:gridCol w="1188720"/>
                <a:gridCol w="1188720"/>
                <a:gridCol w="1188720"/>
                <a:gridCol w="1188720"/>
              </a:tblGrid>
              <a:tr h="384048">
                <a:tc>
                  <a:txBody>
                    <a:bodyPr/>
                    <a:lstStyle/>
                    <a:p>
                      <a:pPr indent="0" marL="0">
                        <a:buNone/>
                      </a:pPr>
                      <a:r>
                        <a:rPr lang="en-US" sz="1400" b="1" dirty="0">
                          <a:solidFill>
                            <a:schemeClr val="bg1"/>
                          </a:solidFill>
                        </a:rPr>
                        <a:t>Task</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 η, α, λ, batch, epochs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MSE TR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MSE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Acc. TR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Acc. TS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84048">
                <a:tc>
                  <a:txBody>
                    <a:bodyPr/>
                    <a:lstStyle/>
                    <a:p>
                      <a:pPr indent="0" marL="0">
                        <a:buNone/>
                      </a:pPr>
                      <a:r>
                        <a:rPr lang="en-US" sz="1400" b="1" dirty="0">
                          <a:solidFill>
                            <a:schemeClr val="tx1"/>
                          </a:solidFill>
                        </a:rPr>
                        <a:t>MONK 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 η 0.7, batch, 1400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0.005 ± 0.015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0.009 ± 0.019</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99.6 ± 1.5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99.3 ± 2.0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 η 0.08, α 0.9 N, on-line, 71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0.002 ± 0.008</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0.004 ± 0.013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99.8 ± 1.0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99.6 ± 1.5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MONK 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 η 0.5, batch, 300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0.045 ± 0.002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0.042 ± 0.004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94.9 ± 0.4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95.8 ± 0.5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3 (reg.)</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 η 0.7, α 0.9, λ 0.01, batch, CV stop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0.069 ± 0.006</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0.055 ± 0.007</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93.4 ± 0.2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97.1 ± 0.3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(1/2)</a:t>
            </a:r>
            <a:endParaRPr lang="en-US" sz="2600" dirty="0"/>
          </a:p>
        </p:txBody>
      </p:sp>
      <p:pic>
        <p:nvPicPr>
          <p:cNvPr id="3" name="Image 0" descr="MONK undefined learning curves: MSE and accuracy">    </p:cNvPr>
          <p:cNvPicPr>
            <a:picLocks noChangeAspect="1"/>
          </p:cNvPicPr>
          <p:nvPr/>
        </p:nvPicPr>
        <p:blipFill>
          <a:blip r:embed="rId1"/>
          <a:stretch>
            <a:fillRect/>
          </a:stretch>
        </p:blipFill>
        <p:spPr>
          <a:xfrm>
            <a:off x="457200" y="960120"/>
            <a:ext cx="5120640" cy="1691363"/>
          </a:xfrm>
          <a:prstGeom prst="rect">
            <a:avLst/>
          </a:prstGeom>
        </p:spPr>
      </p:pic>
      <p:sp>
        <p:nvSpPr>
          <p:cNvPr id="4" name="Text 1"/>
          <p:cNvSpPr txBox="1"/>
          <p:nvPr/>
        </p:nvSpPr>
        <p:spPr>
          <a:xfrm>
            <a:off x="5806440" y="960120"/>
            <a:ext cx="2880360" cy="1691363"/>
          </a:xfrm>
          <a:prstGeom prst="rect">
            <a:avLst/>
          </a:prstGeom>
          <a:noFill/>
          <a:ln/>
        </p:spPr>
        <p:txBody>
          <a:bodyPr wrap="square" lIns="635" tIns="635" rIns="635" bIns="635" rtlCol="0" anchor="ctr"/>
          <a:lstStyle/>
          <a:p>
            <a:pPr indent="0" marL="0">
              <a:spcAft>
                <a:spcPts val="400"/>
              </a:spcAft>
              <a:buNone/>
            </a:pPr>
            <a:r>
              <a:rPr lang="en-US" sz="1600" b="1" dirty="0">
                <a:solidFill>
                  <a:schemeClr val="tx2"/>
                </a:solidFill>
              </a:rPr>
              <a:t>MONK undefined</a:t>
            </a:r>
            <a:endParaRPr lang="en-US" sz="1400" dirty="0"/>
          </a:p>
          <a:p>
            <a:pPr indent="0" marL="0">
              <a:spcAft>
                <a:spcPts val="600"/>
              </a:spcAft>
              <a:buNone/>
            </a:pPr>
            <a:r>
              <a:rPr lang="en-US" sz="1400" dirty="0">
                <a:solidFill>
                  <a:schemeClr val="tx1"/>
                </a:solidFill>
              </a:rPr>
              <a:t>TS accuracy 99.3 ± 2.0%; 100% in 37 of 50 trials</a:t>
            </a:r>
            <a:endParaRPr lang="en-US" sz="1400" dirty="0"/>
          </a:p>
          <a:p>
            <a:pPr indent="0" marL="0">
              <a:buNone/>
            </a:pPr>
            <a:r>
              <a:rPr lang="en-US" sz="1400" i="1" dirty="0">
                <a:solidFill>
                  <a:schemeClr val="accent3"/>
                </a:solidFill>
              </a:rPr>
              <a:t>Fig. 1. Trial with median TS accuracy; training solid, test dashed.</a:t>
            </a:r>
            <a:endParaRPr lang="en-US" sz="1400" dirty="0"/>
          </a:p>
        </p:txBody>
      </p:sp>
      <p:pic>
        <p:nvPicPr>
          <p:cNvPr id="5" name="Image 1" descr="MONK undefined learning curves: MSE and accuracy">    </p:cNvPr>
          <p:cNvPicPr>
            <a:picLocks noChangeAspect="1"/>
          </p:cNvPicPr>
          <p:nvPr/>
        </p:nvPicPr>
        <p:blipFill>
          <a:blip r:embed="rId2"/>
          <a:stretch>
            <a:fillRect/>
          </a:stretch>
        </p:blipFill>
        <p:spPr>
          <a:xfrm>
            <a:off x="457200" y="2834640"/>
            <a:ext cx="5120640" cy="1691363"/>
          </a:xfrm>
          <a:prstGeom prst="rect">
            <a:avLst/>
          </a:prstGeom>
        </p:spPr>
      </p:pic>
      <p:sp>
        <p:nvSpPr>
          <p:cNvPr id="6" name="Text 2"/>
          <p:cNvSpPr txBox="1"/>
          <p:nvPr/>
        </p:nvSpPr>
        <p:spPr>
          <a:xfrm>
            <a:off x="5806440" y="2834640"/>
            <a:ext cx="2880360" cy="1691363"/>
          </a:xfrm>
          <a:prstGeom prst="rect">
            <a:avLst/>
          </a:prstGeom>
          <a:noFill/>
          <a:ln/>
        </p:spPr>
        <p:txBody>
          <a:bodyPr wrap="square" lIns="635" tIns="635" rIns="635" bIns="635" rtlCol="0" anchor="ctr"/>
          <a:lstStyle/>
          <a:p>
            <a:pPr indent="0" marL="0">
              <a:spcAft>
                <a:spcPts val="400"/>
              </a:spcAft>
              <a:buNone/>
            </a:pPr>
            <a:r>
              <a:rPr lang="en-US" sz="1600" b="1" dirty="0">
                <a:solidFill>
                  <a:schemeClr val="tx2"/>
                </a:solidFill>
              </a:rPr>
              <a:t>MONK undefined</a:t>
            </a:r>
            <a:endParaRPr lang="en-US" sz="1400" dirty="0"/>
          </a:p>
          <a:p>
            <a:pPr indent="0" marL="0">
              <a:spcAft>
                <a:spcPts val="600"/>
              </a:spcAft>
              <a:buNone/>
            </a:pPr>
            <a:r>
              <a:rPr lang="en-US" sz="1400" dirty="0">
                <a:solidFill>
                  <a:schemeClr val="tx1"/>
                </a:solidFill>
              </a:rPr>
              <a:t>TS accuracy 99.6 ± 1.5%; 100% in 44 of 50 trials</a:t>
            </a:r>
            <a:endParaRPr lang="en-US" sz="1400" dirty="0"/>
          </a:p>
          <a:p>
            <a:pPr indent="0" marL="0">
              <a:buNone/>
            </a:pPr>
            <a:r>
              <a:rPr lang="en-US" sz="1400" i="1" dirty="0">
                <a:solidFill>
                  <a:schemeClr val="accent3"/>
                </a:solidFill>
              </a:rPr>
              <a:t>Fig. 2. Trial with median TS accuracy; training solid,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(2/2)</a:t>
            </a:r>
            <a:endParaRPr lang="en-US" sz="2600" dirty="0"/>
          </a:p>
        </p:txBody>
      </p:sp>
      <p:pic>
        <p:nvPicPr>
          <p:cNvPr id="3" name="Image 0" descr="MONK 3 learning curves: MSE and accuracy">    </p:cNvPr>
          <p:cNvPicPr>
            <a:picLocks noChangeAspect="1"/>
          </p:cNvPicPr>
          <p:nvPr/>
        </p:nvPicPr>
        <p:blipFill>
          <a:blip r:embed="rId1"/>
          <a:stretch>
            <a:fillRect/>
          </a:stretch>
        </p:blipFill>
        <p:spPr>
          <a:xfrm>
            <a:off x="457200" y="960120"/>
            <a:ext cx="5120640" cy="1691363"/>
          </a:xfrm>
          <a:prstGeom prst="rect">
            <a:avLst/>
          </a:prstGeom>
        </p:spPr>
      </p:pic>
      <p:sp>
        <p:nvSpPr>
          <p:cNvPr id="4" name="Text 1"/>
          <p:cNvSpPr txBox="1"/>
          <p:nvPr/>
        </p:nvSpPr>
        <p:spPr>
          <a:xfrm>
            <a:off x="5806440" y="960120"/>
            <a:ext cx="2880360" cy="1691363"/>
          </a:xfrm>
          <a:prstGeom prst="rect">
            <a:avLst/>
          </a:prstGeom>
          <a:noFill/>
          <a:ln/>
        </p:spPr>
        <p:txBody>
          <a:bodyPr wrap="square" lIns="635" tIns="635" rIns="635" bIns="635" rtlCol="0" anchor="ctr"/>
          <a:lstStyle/>
          <a:p>
            <a:pPr indent="0" marL="0">
              <a:spcAft>
                <a:spcPts val="400"/>
              </a:spcAft>
              <a:buNone/>
            </a:pPr>
            <a:r>
              <a:rPr lang="en-US" sz="1600" b="1" dirty="0">
                <a:solidFill>
                  <a:schemeClr val="tx2"/>
                </a:solidFill>
              </a:rPr>
              <a:t>MONK 3</a:t>
            </a:r>
            <a:endParaRPr lang="en-US" sz="1400" dirty="0"/>
          </a:p>
          <a:p>
            <a:pPr indent="0" marL="0">
              <a:spcAft>
                <a:spcPts val="600"/>
              </a:spcAft>
              <a:buNone/>
            </a:pPr>
            <a:r>
              <a:rPr lang="en-US" sz="1400" dirty="0">
                <a:solidFill>
                  <a:schemeClr val="tx1"/>
                </a:solidFill>
              </a:rPr>
              <a:t>TS 95.8% above TR 94.9%: 5% of the training labels are noisy [2]</a:t>
            </a:r>
            <a:endParaRPr lang="en-US" sz="1400" dirty="0"/>
          </a:p>
          <a:p>
            <a:pPr indent="0" marL="0">
              <a:buNone/>
            </a:pPr>
            <a:r>
              <a:rPr lang="en-US" sz="1400" i="1" dirty="0">
                <a:solidFill>
                  <a:schemeClr val="accent3"/>
                </a:solidFill>
              </a:rPr>
              <a:t>Fig. 3. Trial with median TS accuracy; training solid, test dashed.</a:t>
            </a:r>
            <a:endParaRPr lang="en-US" sz="1400" dirty="0"/>
          </a:p>
        </p:txBody>
      </p:sp>
      <p:pic>
        <p:nvPicPr>
          <p:cNvPr id="5" name="Image 1" descr="MONK 3 (reg.) learning curves: MSE and accuracy">    </p:cNvPr>
          <p:cNvPicPr>
            <a:picLocks noChangeAspect="1"/>
          </p:cNvPicPr>
          <p:nvPr/>
        </p:nvPicPr>
        <p:blipFill>
          <a:blip r:embed="rId2"/>
          <a:stretch>
            <a:fillRect/>
          </a:stretch>
        </p:blipFill>
        <p:spPr>
          <a:xfrm>
            <a:off x="457200" y="2834640"/>
            <a:ext cx="5120640" cy="1691363"/>
          </a:xfrm>
          <a:prstGeom prst="rect">
            <a:avLst/>
          </a:prstGeom>
        </p:spPr>
      </p:pic>
      <p:sp>
        <p:nvSpPr>
          <p:cNvPr id="6" name="Text 2"/>
          <p:cNvSpPr txBox="1"/>
          <p:nvPr/>
        </p:nvSpPr>
        <p:spPr>
          <a:xfrm>
            <a:off x="5806440" y="2834640"/>
            <a:ext cx="2880360" cy="1691363"/>
          </a:xfrm>
          <a:prstGeom prst="rect">
            <a:avLst/>
          </a:prstGeom>
          <a:noFill/>
          <a:ln/>
        </p:spPr>
        <p:txBody>
          <a:bodyPr wrap="square" lIns="635" tIns="635" rIns="635" bIns="635" rtlCol="0" anchor="ctr"/>
          <a:lstStyle/>
          <a:p>
            <a:pPr indent="0" marL="0">
              <a:spcAft>
                <a:spcPts val="400"/>
              </a:spcAft>
              <a:buNone/>
            </a:pPr>
            <a:r>
              <a:rPr lang="en-US" sz="1600" b="1" dirty="0">
                <a:solidFill>
                  <a:schemeClr val="tx2"/>
                </a:solidFill>
              </a:rPr>
              <a:t>MONK 3 (reg.)</a:t>
            </a:r>
            <a:endParaRPr lang="en-US" sz="1400" dirty="0"/>
          </a:p>
          <a:p>
            <a:pPr indent="0" marL="0">
              <a:spcAft>
                <a:spcPts val="600"/>
              </a:spcAft>
              <a:buNone/>
            </a:pPr>
            <a:r>
              <a:rPr lang="en-US" sz="1400" dirty="0">
                <a:solidFill>
                  <a:schemeClr val="tx1"/>
                </a:solidFill>
              </a:rPr>
              <a:t>TS 97.1 ± 0.3%, TR 93.4%: L2 (λ 0.01) stops the fit of the noisy labels</a:t>
            </a:r>
            <a:endParaRPr lang="en-US" sz="1400" dirty="0"/>
          </a:p>
          <a:p>
            <a:pPr indent="0" marL="0">
              <a:buNone/>
            </a:pPr>
            <a:r>
              <a:rPr lang="en-US" sz="1400" i="1" dirty="0">
                <a:solidFill>
                  <a:schemeClr val="accent3"/>
                </a:solidFill>
              </a:rPr>
              <a:t>Fig. 4. As Fig. 3, with L2; stops at the CV TR-MSE target.</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data and validation schema</a:t>
            </a:r>
            <a:endParaRPr lang="en-US" sz="2600" dirty="0"/>
          </a:p>
        </p:txBody>
      </p:sp>
      <p:sp>
        <p:nvSpPr>
          <p:cNvPr id="3" name="Text 1"/>
          <p:cNvSpPr txBox="1"/>
          <p:nvPr/>
        </p:nvSpPr>
        <p:spPr>
          <a:xfrm>
            <a:off x="457200" y="914400"/>
            <a:ext cx="8229600" cy="566928"/>
          </a:xfrm>
          <a:prstGeom prst="rect">
            <a:avLst/>
          </a:prstGeom>
          <a:noFill/>
          <a:ln/>
        </p:spPr>
        <p:txBody>
          <a:bodyPr wrap="square" lIns="635" tIns="635" rIns="635" bIns="635" rtlCol="0" anchor="t"/>
          <a:lstStyle/>
          <a:p>
            <a:pPr indent="0" marL="0">
              <a:buNone/>
            </a:pPr>
            <a:r>
              <a:rPr lang="en-US" sz="1400" dirty="0">
                <a:solidFill>
                  <a:schemeClr val="tx1"/>
                </a:solidFill>
              </a:rPr>
              <a:t>ML-CUP25: 500 labelled patterns (12 inputs, 4 targets), blind test of 1000. Inputs and targets standardized on the training part only; MEE always in the original scale.</a:t>
            </a:r>
            <a:endParaRPr lang="en-US" sz="1400" dirty="0"/>
          </a:p>
        </p:txBody>
      </p:sp>
      <p:sp>
        <p:nvSpPr>
          <p:cNvPr id="4" name="Text 2"/>
          <p:cNvSpPr txBox="1"/>
          <p:nvPr/>
        </p:nvSpPr>
        <p:spPr>
          <a:xfrm>
            <a:off x="457200" y="1572768"/>
            <a:ext cx="5486400" cy="292608"/>
          </a:xfrm>
          <a:prstGeom prst="rect">
            <a:avLst/>
          </a:prstGeom>
          <a:noFill/>
          <a:ln/>
        </p:spPr>
        <p:txBody>
          <a:bodyPr wrap="square" lIns="635" tIns="635" rIns="635" bIns="635" rtlCol="0" anchor="t"/>
          <a:lstStyle/>
          <a:p>
            <a:pPr indent="0" marL="0">
              <a:buNone/>
            </a:pPr>
            <a:r>
              <a:rPr lang="en-US" sz="1400" b="1" dirty="0">
                <a:solidFill>
                  <a:schemeClr val="tx2"/>
                </a:solidFill>
              </a:rPr>
              <a:t>ML-CUP25 training file (500 patterns)</a:t>
            </a:r>
            <a:endParaRPr lang="en-US" sz="1400" dirty="0"/>
          </a:p>
        </p:txBody>
      </p:sp>
      <p:sp>
        <p:nvSpPr>
          <p:cNvPr id="5" name="fold 1"/>
          <p:cNvSpPr/>
          <p:nvPr/>
        </p:nvSpPr>
        <p:spPr>
          <a:xfrm>
            <a:off x="457200" y="1901952"/>
            <a:ext cx="2194560" cy="548640"/>
          </a:xfrm>
          <a:prstGeom prst="rect">
            <a:avLst/>
          </a:prstGeom>
          <a:solidFill>
            <a:schemeClr val="bg2"/>
          </a:solidFill>
          <a:ln w="25400">
            <a:solidFill>
              <a:srgbClr val="FFFFFF"/>
            </a:solidFill>
            <a:prstDash val="solid"/>
          </a:ln>
        </p:spPr>
      </p:sp>
      <p:sp>
        <p:nvSpPr>
          <p:cNvPr id="6" name="Text 4"/>
          <p:cNvSpPr txBox="1"/>
          <p:nvPr/>
        </p:nvSpPr>
        <p:spPr>
          <a:xfrm>
            <a:off x="457200" y="1901952"/>
            <a:ext cx="2194560"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1</a:t>
            </a:r>
            <a:endParaRPr lang="en-US" sz="1400" dirty="0"/>
          </a:p>
        </p:txBody>
      </p:sp>
      <p:sp>
        <p:nvSpPr>
          <p:cNvPr id="7" name="fold 2"/>
          <p:cNvSpPr/>
          <p:nvPr/>
        </p:nvSpPr>
        <p:spPr>
          <a:xfrm>
            <a:off x="2651760" y="1901952"/>
            <a:ext cx="2194560" cy="548640"/>
          </a:xfrm>
          <a:prstGeom prst="rect">
            <a:avLst/>
          </a:prstGeom>
          <a:solidFill>
            <a:schemeClr val="bg2"/>
          </a:solidFill>
          <a:ln w="25400">
            <a:solidFill>
              <a:srgbClr val="FFFFFF"/>
            </a:solidFill>
            <a:prstDash val="solid"/>
          </a:ln>
        </p:spPr>
      </p:sp>
      <p:sp>
        <p:nvSpPr>
          <p:cNvPr id="8" name="Text 6"/>
          <p:cNvSpPr txBox="1"/>
          <p:nvPr/>
        </p:nvSpPr>
        <p:spPr>
          <a:xfrm>
            <a:off x="2651760" y="1901952"/>
            <a:ext cx="2194560"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2</a:t>
            </a:r>
            <a:endParaRPr lang="en-US" sz="1400" dirty="0"/>
          </a:p>
        </p:txBody>
      </p:sp>
      <p:sp>
        <p:nvSpPr>
          <p:cNvPr id="9" name="fold 3"/>
          <p:cNvSpPr/>
          <p:nvPr/>
        </p:nvSpPr>
        <p:spPr>
          <a:xfrm>
            <a:off x="4846320" y="1901952"/>
            <a:ext cx="2194560" cy="548640"/>
          </a:xfrm>
          <a:prstGeom prst="rect">
            <a:avLst/>
          </a:prstGeom>
          <a:solidFill>
            <a:schemeClr val="bg2"/>
          </a:solidFill>
          <a:ln w="25400">
            <a:solidFill>
              <a:srgbClr val="FFFFFF"/>
            </a:solidFill>
            <a:prstDash val="solid"/>
          </a:ln>
        </p:spPr>
      </p:sp>
      <p:sp>
        <p:nvSpPr>
          <p:cNvPr id="10" name="Text 8"/>
          <p:cNvSpPr txBox="1"/>
          <p:nvPr/>
        </p:nvSpPr>
        <p:spPr>
          <a:xfrm>
            <a:off x="4846320" y="1901952"/>
            <a:ext cx="2194560"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3</a:t>
            </a:r>
            <a:endParaRPr lang="en-US" sz="1400" dirty="0"/>
          </a:p>
        </p:txBody>
      </p:sp>
      <p:sp>
        <p:nvSpPr>
          <p:cNvPr id="11" name="internal test"/>
          <p:cNvSpPr/>
          <p:nvPr/>
        </p:nvSpPr>
        <p:spPr>
          <a:xfrm>
            <a:off x="7086600" y="1901952"/>
            <a:ext cx="1600200" cy="548640"/>
          </a:xfrm>
          <a:prstGeom prst="rect">
            <a:avLst/>
          </a:prstGeom>
          <a:solidFill>
            <a:schemeClr val="tx2"/>
          </a:solidFill>
          <a:ln w="25400">
            <a:solidFill>
              <a:srgbClr val="FFFFFF"/>
            </a:solidFill>
            <a:prstDash val="solid"/>
          </a:ln>
        </p:spPr>
      </p:sp>
      <p:sp>
        <p:nvSpPr>
          <p:cNvPr id="12" name="Text 10"/>
          <p:cNvSpPr txBox="1"/>
          <p:nvPr/>
        </p:nvSpPr>
        <p:spPr>
          <a:xfrm>
            <a:off x="7086600" y="1901952"/>
            <a:ext cx="1600200" cy="548640"/>
          </a:xfrm>
          <a:prstGeom prst="rect">
            <a:avLst/>
          </a:prstGeom>
          <a:noFill/>
          <a:ln/>
        </p:spPr>
        <p:txBody>
          <a:bodyPr wrap="square" lIns="635" tIns="635" rIns="635" bIns="635" rtlCol="0" anchor="ctr"/>
          <a:lstStyle/>
          <a:p>
            <a:pPr algn="ctr" indent="0" marL="0">
              <a:buNone/>
            </a:pPr>
            <a:r>
              <a:rPr lang="en-US" sz="1400" b="1" dirty="0">
                <a:solidFill>
                  <a:schemeClr val="bg1"/>
                </a:solidFill>
              </a:rPr>
              <a:t>Internal test</a:t>
            </a:r>
            <a:endParaRPr lang="en-US" sz="1400" dirty="0"/>
          </a:p>
        </p:txBody>
      </p:sp>
      <p:sp>
        <p:nvSpPr>
          <p:cNvPr id="13" name="Text 11"/>
          <p:cNvSpPr txBox="1"/>
          <p:nvPr/>
        </p:nvSpPr>
        <p:spPr>
          <a:xfrm>
            <a:off x="457200" y="2514600"/>
            <a:ext cx="6537960" cy="566928"/>
          </a:xfrm>
          <a:prstGeom prst="rect">
            <a:avLst/>
          </a:prstGeom>
          <a:noFill/>
          <a:ln/>
        </p:spPr>
        <p:txBody>
          <a:bodyPr wrap="square" lIns="635" tIns="635" rIns="635" bIns="635" rtlCol="0" anchor="t"/>
          <a:lstStyle/>
          <a:p>
            <a:pPr indent="0" marL="0">
              <a:buNone/>
            </a:pPr>
            <a:r>
              <a:rPr lang="en-US" sz="1400" b="1" dirty="0">
                <a:solidFill>
                  <a:schemeClr val="tx1"/>
                </a:solidFill>
              </a:rPr>
              <a:t>Design set, 80% (400): </a:t>
            </a:r>
            <a:pPr indent="0" marL="0">
              <a:buNone/>
            </a:pPr>
            <a:r>
              <a:rPr lang="en-US" sz="1400" i="1" dirty="0">
                <a:solidFill>
                  <a:schemeClr val="accent2"/>
                </a:solidFill>
              </a:rPr>
              <a:t>3</a:t>
            </a:r>
            <a:pPr indent="0" marL="0">
              <a:buNone/>
            </a:pPr>
            <a:r>
              <a:rPr lang="en-US" sz="1400" dirty="0">
                <a:solidFill>
                  <a:schemeClr val="tx1"/>
                </a:solidFill>
              </a:rPr>
              <a:t>-fold CV for model selection, TR ≈ 267 / VL ≈ 133 per fold, </a:t>
            </a:r>
            <a:pPr indent="0" marL="0">
              <a:buNone/>
            </a:pPr>
            <a:r>
              <a:rPr lang="en-US" sz="1400" i="1" dirty="0">
                <a:solidFill>
                  <a:schemeClr val="accent2"/>
                </a:solidFill>
              </a:rPr>
              <a:t>10</a:t>
            </a:r>
            <a:pPr indent="0" marL="0">
              <a:buNone/>
            </a:pPr>
            <a:r>
              <a:rPr lang="en-US" sz="1400" dirty="0">
                <a:solidFill>
                  <a:schemeClr val="tx1"/>
                </a:solidFill>
              </a:rPr>
              <a:t> inits each</a:t>
            </a:r>
            <a:endParaRPr lang="en-US" sz="1400" dirty="0"/>
          </a:p>
        </p:txBody>
      </p:sp>
      <p:sp>
        <p:nvSpPr>
          <p:cNvPr id="14" name="Text 12"/>
          <p:cNvSpPr txBox="1"/>
          <p:nvPr/>
        </p:nvSpPr>
        <p:spPr>
          <a:xfrm>
            <a:off x="7086600" y="2514600"/>
            <a:ext cx="1600200" cy="566928"/>
          </a:xfrm>
          <a:prstGeom prst="rect">
            <a:avLst/>
          </a:prstGeom>
          <a:noFill/>
          <a:ln/>
        </p:spPr>
        <p:txBody>
          <a:bodyPr wrap="square" lIns="635" tIns="635" rIns="635" bIns="635" rtlCol="0" anchor="t"/>
          <a:lstStyle/>
          <a:p>
            <a:pPr indent="0" marL="0">
              <a:buNone/>
            </a:pPr>
            <a:r>
              <a:rPr lang="en-US" sz="1400" b="1" dirty="0">
                <a:solidFill>
                  <a:schemeClr val="tx1"/>
                </a:solidFill>
              </a:rPr>
              <a:t>20% (100): </a:t>
            </a:r>
            <a:pPr indent="0" marL="0">
              <a:buNone/>
            </a:pPr>
            <a:r>
              <a:rPr lang="en-US" sz="1400" dirty="0">
                <a:solidFill>
                  <a:schemeClr val="tx1"/>
                </a:solidFill>
              </a:rPr>
              <a:t>hold-out, used once</a:t>
            </a:r>
            <a:endParaRPr lang="en-US" sz="1400" dirty="0"/>
          </a:p>
        </p:txBody>
      </p:sp>
      <p:sp>
        <p:nvSpPr>
          <p:cNvPr id="15" name="step 1"/>
          <p:cNvSpPr/>
          <p:nvPr/>
        </p:nvSpPr>
        <p:spPr>
          <a:xfrm>
            <a:off x="457200" y="3429000"/>
            <a:ext cx="2468880" cy="1097280"/>
          </a:xfrm>
          <a:prstGeom prst="roundRect">
            <a:avLst>
              <a:gd name="adj" fmla="val 6667"/>
            </a:avLst>
          </a:prstGeom>
          <a:solidFill>
            <a:schemeClr val="bg2"/>
          </a:solidFill>
          <a:ln/>
        </p:spPr>
      </p:sp>
      <p:sp>
        <p:nvSpPr>
          <p:cNvPr id="16" name="Text 14"/>
          <p:cNvSpPr txBox="1"/>
          <p:nvPr/>
        </p:nvSpPr>
        <p:spPr>
          <a:xfrm>
            <a:off x="54864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Model selection: </a:t>
            </a:r>
            <a:pPr indent="0" marL="0">
              <a:buNone/>
            </a:pPr>
            <a:r>
              <a:rPr lang="en-US" sz="1400" dirty="0">
                <a:solidFill>
                  <a:schemeClr val="tx1"/>
                </a:solidFill>
              </a:rPr>
              <a:t>best configuration by mean VL MEE (Table 3)</a:t>
            </a:r>
            <a:endParaRPr lang="en-US" sz="1400" dirty="0"/>
          </a:p>
        </p:txBody>
      </p:sp>
      <p:sp>
        <p:nvSpPr>
          <p:cNvPr id="17" name="Shape 15"/>
          <p:cNvSpPr/>
          <p:nvPr/>
        </p:nvSpPr>
        <p:spPr>
          <a:xfrm>
            <a:off x="2971800" y="3977640"/>
            <a:ext cx="320040" cy="0"/>
          </a:xfrm>
          <a:prstGeom prst="line">
            <a:avLst/>
          </a:prstGeom>
          <a:noFill/>
          <a:ln w="19050">
            <a:solidFill>
              <a:srgbClr val="5A6F86"/>
            </a:solidFill>
            <a:prstDash val="solid"/>
            <a:tailEnd type="triangle"/>
          </a:ln>
        </p:spPr>
      </p:sp>
      <p:sp>
        <p:nvSpPr>
          <p:cNvPr id="18" name="step 2"/>
          <p:cNvSpPr/>
          <p:nvPr/>
        </p:nvSpPr>
        <p:spPr>
          <a:xfrm>
            <a:off x="3337560" y="3429000"/>
            <a:ext cx="2468880" cy="1097280"/>
          </a:xfrm>
          <a:prstGeom prst="roundRect">
            <a:avLst>
              <a:gd name="adj" fmla="val 6667"/>
            </a:avLst>
          </a:prstGeom>
          <a:solidFill>
            <a:schemeClr val="bg2"/>
          </a:solidFill>
          <a:ln/>
        </p:spPr>
      </p:sp>
      <p:sp>
        <p:nvSpPr>
          <p:cNvPr id="19" name="Text 17"/>
          <p:cNvSpPr txBox="1"/>
          <p:nvPr/>
        </p:nvSpPr>
        <p:spPr>
          <a:xfrm>
            <a:off x="342900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Assessment: </a:t>
            </a:r>
            <a:pPr indent="0" marL="0">
              <a:buNone/>
            </a:pPr>
            <a:r>
              <a:rPr lang="en-US" sz="1400" dirty="0">
                <a:solidFill>
                  <a:schemeClr val="tx1"/>
                </a:solidFill>
              </a:rPr>
              <a:t>30 retrainings on the 400 design patterns up to the CV TR-MEE target; TS used once</a:t>
            </a:r>
            <a:endParaRPr lang="en-US" sz="1400" dirty="0"/>
          </a:p>
        </p:txBody>
      </p:sp>
      <p:sp>
        <p:nvSpPr>
          <p:cNvPr id="20" name="Shape 18"/>
          <p:cNvSpPr/>
          <p:nvPr/>
        </p:nvSpPr>
        <p:spPr>
          <a:xfrm>
            <a:off x="5852160" y="3977640"/>
            <a:ext cx="320040" cy="0"/>
          </a:xfrm>
          <a:prstGeom prst="line">
            <a:avLst/>
          </a:prstGeom>
          <a:noFill/>
          <a:ln w="19050">
            <a:solidFill>
              <a:srgbClr val="5A6F86"/>
            </a:solidFill>
            <a:prstDash val="solid"/>
            <a:tailEnd type="triangle"/>
          </a:ln>
        </p:spPr>
      </p:sp>
      <p:sp>
        <p:nvSpPr>
          <p:cNvPr id="21" name="step 3"/>
          <p:cNvSpPr/>
          <p:nvPr/>
        </p:nvSpPr>
        <p:spPr>
          <a:xfrm>
            <a:off x="6217920" y="3429000"/>
            <a:ext cx="2468880" cy="1097280"/>
          </a:xfrm>
          <a:prstGeom prst="roundRect">
            <a:avLst>
              <a:gd name="adj" fmla="val 6667"/>
            </a:avLst>
          </a:prstGeom>
          <a:solidFill>
            <a:schemeClr val="bg2"/>
          </a:solidFill>
          <a:ln/>
        </p:spPr>
      </p:sp>
      <p:sp>
        <p:nvSpPr>
          <p:cNvPr id="22" name="Text 20"/>
          <p:cNvSpPr txBox="1"/>
          <p:nvPr/>
        </p:nvSpPr>
        <p:spPr>
          <a:xfrm>
            <a:off x="630936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Final model: </a:t>
            </a:r>
            <a:pPr indent="0" marL="0">
              <a:buNone/>
            </a:pPr>
            <a:r>
              <a:rPr lang="en-US" sz="1400" dirty="0">
                <a:solidFill>
                  <a:schemeClr val="tx1"/>
                </a:solidFill>
              </a:rPr>
              <a:t>trial-0 seeds, retrained on all 500 patterns up to the same target → blind test</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model selection: grid search</a:t>
            </a:r>
            <a:endParaRPr lang="en-US" sz="2600" dirty="0"/>
          </a:p>
        </p:txBody>
      </p:sp>
      <p:sp>
        <p:nvSpPr>
          <p:cNvPr id="3" name="stage 1"/>
          <p:cNvSpPr/>
          <p:nvPr/>
        </p:nvSpPr>
        <p:spPr>
          <a:xfrm>
            <a:off x="457200" y="1005840"/>
            <a:ext cx="2286000" cy="658368"/>
          </a:xfrm>
          <a:prstGeom prst="roundRect">
            <a:avLst>
              <a:gd name="adj" fmla="val 11111"/>
            </a:avLst>
          </a:prstGeom>
          <a:solidFill>
            <a:schemeClr val="bg2"/>
          </a:solidFill>
          <a:ln/>
        </p:spPr>
      </p:sp>
      <p:sp>
        <p:nvSpPr>
          <p:cNvPr id="4" name="Text 2"/>
          <p:cNvSpPr txBox="1"/>
          <p:nvPr/>
        </p:nvSpPr>
        <p:spPr>
          <a:xfrm>
            <a:off x="566928" y="100584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1  Screening</a:t>
            </a:r>
            <a:endParaRPr lang="en-US" sz="1400" dirty="0"/>
          </a:p>
          <a:p>
            <a:pPr indent="0" marL="0">
              <a:buNone/>
            </a:pPr>
            <a:r>
              <a:rPr lang="en-US" sz="1400" i="1" dirty="0">
                <a:solidFill>
                  <a:schemeClr val="accent2"/>
                </a:solidFill>
              </a:rPr>
              <a:t>[N] configs</a:t>
            </a:r>
            <a:endParaRPr lang="en-US" sz="1400" dirty="0"/>
          </a:p>
        </p:txBody>
      </p:sp>
      <p:sp>
        <p:nvSpPr>
          <p:cNvPr id="5" name="Shape 3"/>
          <p:cNvSpPr/>
          <p:nvPr/>
        </p:nvSpPr>
        <p:spPr>
          <a:xfrm>
            <a:off x="1600200" y="1673352"/>
            <a:ext cx="0" cy="192024"/>
          </a:xfrm>
          <a:prstGeom prst="line">
            <a:avLst/>
          </a:prstGeom>
          <a:noFill/>
          <a:ln w="19050">
            <a:solidFill>
              <a:srgbClr val="5A6F86"/>
            </a:solidFill>
            <a:prstDash val="solid"/>
            <a:tailEnd type="triangle"/>
          </a:ln>
        </p:spPr>
      </p:sp>
      <p:sp>
        <p:nvSpPr>
          <p:cNvPr id="6" name="stage 2"/>
          <p:cNvSpPr/>
          <p:nvPr/>
        </p:nvSpPr>
        <p:spPr>
          <a:xfrm>
            <a:off x="457200" y="1874520"/>
            <a:ext cx="2286000" cy="658368"/>
          </a:xfrm>
          <a:prstGeom prst="roundRect">
            <a:avLst>
              <a:gd name="adj" fmla="val 11111"/>
            </a:avLst>
          </a:prstGeom>
          <a:solidFill>
            <a:schemeClr val="bg2"/>
          </a:solidFill>
          <a:ln/>
        </p:spPr>
      </p:sp>
      <p:sp>
        <p:nvSpPr>
          <p:cNvPr id="7" name="Text 5"/>
          <p:cNvSpPr txBox="1"/>
          <p:nvPr/>
        </p:nvSpPr>
        <p:spPr>
          <a:xfrm>
            <a:off x="566928" y="187452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2  Coarse grid</a:t>
            </a:r>
            <a:endParaRPr lang="en-US" sz="1400" dirty="0"/>
          </a:p>
          <a:p>
            <a:pPr indent="0" marL="0">
              <a:buNone/>
            </a:pPr>
            <a:r>
              <a:rPr lang="en-US" sz="1400" i="1" dirty="0">
                <a:solidFill>
                  <a:schemeClr val="accent2"/>
                </a:solidFill>
              </a:rPr>
              <a:t>[N] configs</a:t>
            </a:r>
            <a:endParaRPr lang="en-US" sz="1400" dirty="0"/>
          </a:p>
        </p:txBody>
      </p:sp>
      <p:sp>
        <p:nvSpPr>
          <p:cNvPr id="8" name="Shape 6"/>
          <p:cNvSpPr/>
          <p:nvPr/>
        </p:nvSpPr>
        <p:spPr>
          <a:xfrm>
            <a:off x="1600200" y="2542032"/>
            <a:ext cx="0" cy="192024"/>
          </a:xfrm>
          <a:prstGeom prst="line">
            <a:avLst/>
          </a:prstGeom>
          <a:noFill/>
          <a:ln w="19050">
            <a:solidFill>
              <a:srgbClr val="5A6F86"/>
            </a:solidFill>
            <a:prstDash val="solid"/>
            <a:tailEnd type="triangle"/>
          </a:ln>
        </p:spPr>
      </p:sp>
      <p:sp>
        <p:nvSpPr>
          <p:cNvPr id="9" name="stage 3"/>
          <p:cNvSpPr/>
          <p:nvPr/>
        </p:nvSpPr>
        <p:spPr>
          <a:xfrm>
            <a:off x="457200" y="2743200"/>
            <a:ext cx="2286000" cy="658368"/>
          </a:xfrm>
          <a:prstGeom prst="roundRect">
            <a:avLst>
              <a:gd name="adj" fmla="val 11111"/>
            </a:avLst>
          </a:prstGeom>
          <a:solidFill>
            <a:schemeClr val="tx2"/>
          </a:solidFill>
          <a:ln/>
        </p:spPr>
      </p:sp>
      <p:sp>
        <p:nvSpPr>
          <p:cNvPr id="10" name="Text 8"/>
          <p:cNvSpPr txBox="1"/>
          <p:nvPr/>
        </p:nvSpPr>
        <p:spPr>
          <a:xfrm>
            <a:off x="566928" y="2743200"/>
            <a:ext cx="2103120" cy="658368"/>
          </a:xfrm>
          <a:prstGeom prst="rect">
            <a:avLst/>
          </a:prstGeom>
          <a:noFill/>
          <a:ln/>
        </p:spPr>
        <p:txBody>
          <a:bodyPr wrap="square" lIns="635" tIns="635" rIns="635" bIns="635" rtlCol="0" anchor="ctr"/>
          <a:lstStyle/>
          <a:p>
            <a:pPr indent="0" marL="0">
              <a:buNone/>
            </a:pPr>
            <a:r>
              <a:rPr lang="en-US" sz="1400" b="1" dirty="0">
                <a:solidFill>
                  <a:schemeClr val="bg1"/>
                </a:solidFill>
              </a:rPr>
              <a:t>3  Fine grid</a:t>
            </a:r>
            <a:endParaRPr lang="en-US" sz="1400" dirty="0"/>
          </a:p>
          <a:p>
            <a:pPr indent="0" marL="0">
              <a:buNone/>
            </a:pPr>
            <a:r>
              <a:rPr lang="en-US" sz="1400" i="1" dirty="0">
                <a:solidFill>
                  <a:schemeClr val="bg1"/>
                </a:solidFill>
              </a:rPr>
              <a:t>60 configs</a:t>
            </a:r>
            <a:endParaRPr lang="en-US" sz="1400" dirty="0"/>
          </a:p>
        </p:txBody>
      </p:sp>
      <p:sp>
        <p:nvSpPr>
          <p:cNvPr id="11" name="Text 9"/>
          <p:cNvSpPr txBox="1"/>
          <p:nvPr/>
        </p:nvSpPr>
        <p:spPr>
          <a:xfrm>
            <a:off x="457200" y="3611880"/>
            <a:ext cx="2286000" cy="1005840"/>
          </a:xfrm>
          <a:prstGeom prst="rect">
            <a:avLst/>
          </a:prstGeom>
          <a:noFill/>
          <a:ln/>
        </p:spPr>
        <p:txBody>
          <a:bodyPr wrap="square" lIns="635" tIns="635" rIns="635" bIns="635" rtlCol="0" anchor="t"/>
          <a:lstStyle/>
          <a:p>
            <a:pPr indent="0" marL="0">
              <a:buNone/>
            </a:pPr>
            <a:r>
              <a:rPr lang="en-US" sz="1400" dirty="0">
                <a:solidFill>
                  <a:schemeClr val="tx1"/>
                </a:solidFill>
              </a:rPr>
              <a:t>Fine grid: </a:t>
            </a:r>
            <a:pPr indent="0" marL="0">
              <a:buNone/>
            </a:pPr>
            <a:r>
              <a:rPr lang="en-US" sz="1400" i="1" dirty="0">
                <a:solidFill>
                  <a:schemeClr val="accent2"/>
                </a:solidFill>
              </a:rPr>
              <a:t>3</a:t>
            </a:r>
            <a:pPr indent="0" marL="0">
              <a:buNone/>
            </a:pPr>
            <a:r>
              <a:rPr lang="en-US" sz="1400" dirty="0">
                <a:solidFill>
                  <a:schemeClr val="tx1"/>
                </a:solidFill>
              </a:rPr>
              <a:t> folds × </a:t>
            </a:r>
            <a:pPr indent="0" marL="0">
              <a:buNone/>
            </a:pPr>
            <a:r>
              <a:rPr lang="en-US" sz="1400" i="1" dirty="0">
                <a:solidFill>
                  <a:schemeClr val="accent2"/>
                </a:solidFill>
              </a:rPr>
              <a:t>10</a:t>
            </a:r>
            <a:pPr indent="0" marL="0">
              <a:buNone/>
            </a:pPr>
            <a:r>
              <a:rPr lang="en-US" sz="1400" dirty="0">
                <a:solidFill>
                  <a:schemeClr val="tx1"/>
                </a:solidFill>
              </a:rPr>
              <a:t> inits per configuration; ranking by mean VL MEE, ties by VL loss</a:t>
            </a:r>
            <a:endParaRPr lang="en-US" sz="1400" dirty="0"/>
          </a:p>
        </p:txBody>
      </p:sp>
      <p:sp>
        <p:nvSpPr>
          <p:cNvPr id="12" name="Text 10"/>
          <p:cNvSpPr txBox="1"/>
          <p:nvPr/>
        </p:nvSpPr>
        <p:spPr>
          <a:xfrm>
            <a:off x="3017520" y="960120"/>
            <a:ext cx="566928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2. Explored hyper-parameters (values of each grid).</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017520" y="1298448"/>
          <a:ext cx="5669280" cy="914400"/>
        </p:xfrm>
        <a:graphic>
          <a:graphicData uri="http://schemas.openxmlformats.org/drawingml/2006/table">
            <a:tbl>
              <a:tblPr/>
              <a:tblGrid>
                <a:gridCol w="1965960"/>
                <a:gridCol w="1325880"/>
                <a:gridCol w="2377440"/>
              </a:tblGrid>
              <a:tr h="365760">
                <a:tc>
                  <a:txBody>
                    <a:bodyPr/>
                    <a:lstStyle/>
                    <a:p>
                      <a:pPr indent="0" marL="0">
                        <a:buNone/>
                      </a:pPr>
                      <a:r>
                        <a:rPr lang="en-US" sz="1400" b="1" dirty="0">
                          <a:solidFill>
                            <a:schemeClr val="bg1"/>
                          </a:solidFill>
                        </a:rPr>
                        <a:t>Hyper-parameter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Coarse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Fine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65760">
                <a:tc>
                  <a:txBody>
                    <a:bodyPr/>
                    <a:lstStyle/>
                    <a:p>
                      <a:pPr indent="0" marL="0">
                        <a:buNone/>
                      </a:pPr>
                      <a:r>
                        <a:rPr lang="en-US" sz="1400" dirty="0">
                          <a:solidFill>
                            <a:schemeClr val="tx1"/>
                          </a:solidFill>
                        </a:rPr>
                        <a:t>Hidden layers × 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64-64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Activation / init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ReLU / He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η (fixed)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0.009, 0.01, 0.011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α (classical momentum)</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0, 0.75, 0.85, 0.88, 0.9</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λ (L2)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none, 0.008, 0.009, 0.01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Batch</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full batch</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Max epochs / patience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2000 / 100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screening: what drove the search</a:t>
            </a:r>
            <a:endParaRPr lang="en-US" sz="2600" dirty="0"/>
          </a:p>
        </p:txBody>
      </p:sp>
      <p:sp>
        <p:nvSpPr>
          <p:cNvPr id="3" name="figure placeholder"/>
          <p:cNvSpPr/>
          <p:nvPr/>
        </p:nvSpPr>
        <p:spPr>
          <a:xfrm>
            <a:off x="457200" y="960120"/>
            <a:ext cx="4572000" cy="3154680"/>
          </a:xfrm>
          <a:prstGeom prst="rect">
            <a:avLst/>
          </a:prstGeom>
          <a:solidFill>
            <a:schemeClr val="bg1"/>
          </a:solidFill>
          <a:ln w="15875">
            <a:solidFill>
              <a:srgbClr val="9DB0C6"/>
            </a:solidFill>
            <a:prstDash val="dash"/>
          </a:ln>
        </p:spPr>
      </p:sp>
      <p:sp>
        <p:nvSpPr>
          <p:cNvPr id="4" name="Text 2"/>
          <p:cNvSpPr txBox="1"/>
          <p:nvPr/>
        </p:nvSpPr>
        <p:spPr>
          <a:xfrm>
            <a:off x="640080" y="960120"/>
            <a:ext cx="4206240" cy="3154680"/>
          </a:xfrm>
          <a:prstGeom prst="rect">
            <a:avLst/>
          </a:prstGeom>
          <a:noFill/>
          <a:ln/>
        </p:spPr>
        <p:txBody>
          <a:bodyPr wrap="square" lIns="635" tIns="635" rIns="635" bIns="635" rtlCol="0" anchor="ctr"/>
          <a:lstStyle/>
          <a:p>
            <a:pPr algn="ctr" indent="0" marL="0">
              <a:buNone/>
            </a:pPr>
            <a:r>
              <a:rPr lang="en-US" sz="1400" i="1" dirty="0">
                <a:solidFill>
                  <a:schemeClr val="accent2"/>
                </a:solidFill>
              </a:rPr>
              <a:t>[Plot of the screening, e.g. mean VL MEE vs η for each architecture / activation]</a:t>
            </a:r>
            <a:endParaRPr lang="en-US" sz="1400" dirty="0"/>
          </a:p>
        </p:txBody>
      </p:sp>
      <p:sp>
        <p:nvSpPr>
          <p:cNvPr id="5" name="Text 3"/>
          <p:cNvSpPr txBox="1"/>
          <p:nvPr/>
        </p:nvSpPr>
        <p:spPr>
          <a:xfrm>
            <a:off x="457200" y="4187952"/>
            <a:ext cx="4572000" cy="411480"/>
          </a:xfrm>
          <a:prstGeom prst="rect">
            <a:avLst/>
          </a:prstGeom>
          <a:noFill/>
          <a:ln/>
        </p:spPr>
        <p:txBody>
          <a:bodyPr wrap="square" lIns="635" tIns="635" rIns="635" bIns="635" rtlCol="0" anchor="t"/>
          <a:lstStyle/>
          <a:p>
            <a:pPr indent="0" marL="0">
              <a:buNone/>
            </a:pPr>
            <a:r>
              <a:rPr lang="en-US" sz="1400" i="1" dirty="0">
                <a:solidFill>
                  <a:schemeClr val="accent3"/>
                </a:solidFill>
              </a:rPr>
              <a:t>Fig. 5. </a:t>
            </a:r>
            <a:pPr indent="0" marL="0">
              <a:buNone/>
            </a:pPr>
            <a:r>
              <a:rPr lang="en-US" sz="1400" i="1" dirty="0">
                <a:solidFill>
                  <a:schemeClr val="accent2"/>
                </a:solidFill>
              </a:rPr>
              <a:t>[caption]</a:t>
            </a:r>
            <a:endParaRPr lang="en-US" sz="1400" dirty="0"/>
          </a:p>
        </p:txBody>
      </p:sp>
      <p:sp>
        <p:nvSpPr>
          <p:cNvPr id="6" name="Shape 4"/>
          <p:cNvSpPr/>
          <p:nvPr/>
        </p:nvSpPr>
        <p:spPr>
          <a:xfrm>
            <a:off x="5303520" y="1005840"/>
            <a:ext cx="365760" cy="365760"/>
          </a:xfrm>
          <a:prstGeom prst="ellipse">
            <a:avLst/>
          </a:prstGeom>
          <a:solidFill>
            <a:schemeClr val="tx2"/>
          </a:solidFill>
          <a:ln/>
        </p:spPr>
      </p:sp>
      <p:sp>
        <p:nvSpPr>
          <p:cNvPr id="7" name="Text 5"/>
          <p:cNvSpPr txBox="1"/>
          <p:nvPr/>
        </p:nvSpPr>
        <p:spPr>
          <a:xfrm>
            <a:off x="5303520" y="10058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806440" y="96012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[Activation and init: ReLU + He vs tanh / sigmoid, VL MEE …]</a:t>
            </a:r>
            <a:endParaRPr lang="en-US" sz="1400" dirty="0"/>
          </a:p>
        </p:txBody>
      </p:sp>
      <p:sp>
        <p:nvSpPr>
          <p:cNvPr id="9" name="Shape 7"/>
          <p:cNvSpPr/>
          <p:nvPr/>
        </p:nvSpPr>
        <p:spPr>
          <a:xfrm>
            <a:off x="5303520" y="2194560"/>
            <a:ext cx="365760" cy="365760"/>
          </a:xfrm>
          <a:prstGeom prst="ellipse">
            <a:avLst/>
          </a:prstGeom>
          <a:solidFill>
            <a:schemeClr val="tx2"/>
          </a:solidFill>
          <a:ln/>
        </p:spPr>
      </p:sp>
      <p:sp>
        <p:nvSpPr>
          <p:cNvPr id="10" name="Text 8"/>
          <p:cNvSpPr txBox="1"/>
          <p:nvPr/>
        </p:nvSpPr>
        <p:spPr>
          <a:xfrm>
            <a:off x="5303520" y="21945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806440" y="214884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[Learning rate: stability limit with full batch → mini-batch and smaller η]</a:t>
            </a:r>
            <a:endParaRPr lang="en-US" sz="1400" dirty="0"/>
          </a:p>
        </p:txBody>
      </p:sp>
      <p:sp>
        <p:nvSpPr>
          <p:cNvPr id="12" name="Shape 10"/>
          <p:cNvSpPr/>
          <p:nvPr/>
        </p:nvSpPr>
        <p:spPr>
          <a:xfrm>
            <a:off x="5303520" y="3383280"/>
            <a:ext cx="365760" cy="365760"/>
          </a:xfrm>
          <a:prstGeom prst="ellipse">
            <a:avLst/>
          </a:prstGeom>
          <a:solidFill>
            <a:schemeClr val="tx2"/>
          </a:solidFill>
          <a:ln/>
        </p:spPr>
      </p:sp>
      <p:sp>
        <p:nvSpPr>
          <p:cNvPr id="13" name="Text 11"/>
          <p:cNvSpPr txBox="1"/>
          <p:nvPr/>
        </p:nvSpPr>
        <p:spPr>
          <a:xfrm>
            <a:off x="5303520" y="3383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806440" y="333756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[Early stopping: patience long enough for the best epochs observed]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grid search: best configurations</a:t>
            </a:r>
            <a:endParaRPr lang="en-US" sz="2600" dirty="0"/>
          </a:p>
        </p:txBody>
      </p:sp>
      <p:sp>
        <p:nvSpPr>
          <p:cNvPr id="3" name="Text 1"/>
          <p:cNvSpPr txBox="1"/>
          <p:nvPr/>
        </p:nvSpPr>
        <p:spPr>
          <a:xfrm>
            <a:off x="457200" y="96012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Table 3. Top-5 configurations of the fine grid: MEE (original scale), mean ± std over </a:t>
            </a:r>
            <a:pPr indent="0" marL="0">
              <a:buNone/>
            </a:pPr>
            <a:r>
              <a:rPr lang="en-US" sz="1400" i="1" dirty="0">
                <a:solidFill>
                  <a:schemeClr val="accent2"/>
                </a:solidFill>
              </a:rPr>
              <a:t>3</a:t>
            </a:r>
            <a:pPr indent="0" marL="0">
              <a:buNone/>
            </a:pPr>
            <a:r>
              <a:rPr lang="en-US" sz="1400" i="1" dirty="0">
                <a:solidFill>
                  <a:schemeClr val="accent3"/>
                </a:solidFill>
              </a:rPr>
              <a:t> folds × </a:t>
            </a:r>
            <a:pPr indent="0" marL="0">
              <a:buNone/>
            </a:pPr>
            <a:r>
              <a:rPr lang="en-US" sz="1400" i="1" dirty="0">
                <a:solidFill>
                  <a:schemeClr val="accent2"/>
                </a:solidFill>
              </a:rPr>
              <a:t>10</a:t>
            </a:r>
            <a:pPr indent="0" marL="0">
              <a:buNone/>
            </a:pPr>
            <a:r>
              <a:rPr lang="en-US" sz="1400" i="1" dirty="0">
                <a:solidFill>
                  <a:schemeClr val="accent3"/>
                </a:solidFill>
              </a:rPr>
              <a:t> initializations; epoch = median best epoch.</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411480"/>
                <a:gridCol w="1325880"/>
                <a:gridCol w="685800"/>
                <a:gridCol w="685800"/>
                <a:gridCol w="777240"/>
                <a:gridCol w="548640"/>
                <a:gridCol w="1463040"/>
                <a:gridCol w="1463040"/>
                <a:gridCol w="868680"/>
              </a:tblGrid>
              <a:tr h="347472">
                <a:tc>
                  <a:txBody>
                    <a:bodyPr/>
                    <a:lstStyle/>
                    <a:p>
                      <a:pPr indent="0" marL="0">
                        <a:buNone/>
                      </a:pPr>
                      <a:r>
                        <a:rPr lang="en-US" sz="1400" b="1" dirty="0">
                          <a:solidFill>
                            <a:schemeClr val="bg1"/>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η</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α</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λ</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mb</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TR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VL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Epoch</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47472">
                <a:tc>
                  <a:txBody>
                    <a:bodyPr/>
                    <a:lstStyle/>
                    <a:p>
                      <a:pPr indent="0" marL="0">
                        <a:buNone/>
                      </a:pPr>
                      <a:r>
                        <a:rPr lang="en-US" sz="1400" dirty="0">
                          <a:solidFill>
                            <a:schemeClr val="tx1"/>
                          </a:solidFill>
                        </a:rPr>
                        <a:t>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5" name="observation"/>
          <p:cNvSpPr/>
          <p:nvPr/>
        </p:nvSpPr>
        <p:spPr>
          <a:xfrm>
            <a:off x="457200" y="3840480"/>
            <a:ext cx="8229600" cy="731520"/>
          </a:xfrm>
          <a:prstGeom prst="roundRect">
            <a:avLst>
              <a:gd name="adj" fmla="val 10000"/>
            </a:avLst>
          </a:prstGeom>
          <a:solidFill>
            <a:schemeClr val="bg2"/>
          </a:solidFill>
          <a:ln/>
        </p:spPr>
      </p:sp>
      <p:sp>
        <p:nvSpPr>
          <p:cNvPr id="6" name="Text 3"/>
          <p:cNvSpPr txBox="1"/>
          <p:nvPr/>
        </p:nvSpPr>
        <p:spPr>
          <a:xfrm>
            <a:off x="594360" y="3840480"/>
            <a:ext cx="7955280" cy="731520"/>
          </a:xfrm>
          <a:prstGeom prst="rect">
            <a:avLst/>
          </a:prstGeom>
          <a:noFill/>
          <a:ln/>
        </p:spPr>
        <p:txBody>
          <a:bodyPr wrap="square" lIns="635" tIns="635" rIns="635" bIns="635" rtlCol="0" anchor="ctr"/>
          <a:lstStyle/>
          <a:p>
            <a:pPr indent="0" marL="0">
              <a:buNone/>
            </a:pPr>
            <a:r>
              <a:rPr lang="en-US" sz="1400" b="1" dirty="0">
                <a:solidFill>
                  <a:schemeClr val="tx2"/>
                </a:solidFill>
              </a:rPr>
              <a:t>Observation: </a:t>
            </a:r>
            <a:pPr indent="0" marL="0">
              <a:buNone/>
            </a:pPr>
            <a:r>
              <a:rPr lang="en-US" sz="1400" i="1" dirty="0">
                <a:solidFill>
                  <a:schemeClr val="accent2"/>
                </a:solidFill>
              </a:rPr>
              <a:t>[e.g. the top configurations differ by less than one std → choose the most stable / simplest]</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a:t>
            </a:r>
            <a:endParaRPr lang="en-US" sz="2600" dirty="0"/>
          </a:p>
        </p:txBody>
      </p:sp>
      <p:sp>
        <p:nvSpPr>
          <p:cNvPr id="3" name="selection and hyper-parameters"/>
          <p:cNvSpPr/>
          <p:nvPr/>
        </p:nvSpPr>
        <p:spPr>
          <a:xfrm>
            <a:off x="457200" y="960120"/>
            <a:ext cx="3977640" cy="3611880"/>
          </a:xfrm>
          <a:prstGeom prst="roundRect">
            <a:avLst>
              <a:gd name="adj" fmla="val 2025"/>
            </a:avLst>
          </a:prstGeom>
          <a:solidFill>
            <a:schemeClr val="bg2"/>
          </a:solidFill>
          <a:ln/>
        </p:spPr>
      </p:sp>
      <p:sp>
        <p:nvSpPr>
          <p:cNvPr id="4" name="Text 2"/>
          <p:cNvSpPr txBox="1"/>
          <p:nvPr/>
        </p:nvSpPr>
        <p:spPr>
          <a:xfrm>
            <a:off x="594360" y="1051560"/>
            <a:ext cx="3703320" cy="3474720"/>
          </a:xfrm>
          <a:prstGeom prst="rect">
            <a:avLst/>
          </a:prstGeom>
          <a:noFill/>
          <a:ln/>
        </p:spPr>
        <p:txBody>
          <a:bodyPr wrap="square" lIns="635" tIns="635" rIns="635" bIns="635" rtlCol="0" anchor="t"/>
          <a:lstStyle/>
          <a:p>
            <a:pPr indent="0" marL="0">
              <a:spcAft>
                <a:spcPts val="300"/>
              </a:spcAft>
              <a:buNone/>
            </a:pPr>
            <a:r>
              <a:rPr lang="en-US" sz="1600" b="1" dirty="0">
                <a:solidFill>
                  <a:schemeClr val="tx2"/>
                </a:solidFill>
              </a:rPr>
              <a:t>How it was selected</a:t>
            </a:r>
            <a:endParaRPr lang="en-US" sz="1400" dirty="0"/>
          </a:p>
          <a:p>
            <a:pPr indent="0" marL="0">
              <a:spcAft>
                <a:spcPts val="800"/>
              </a:spcAft>
              <a:buNone/>
            </a:pPr>
            <a:r>
              <a:rPr lang="en-US" sz="1400" dirty="0">
                <a:solidFill>
                  <a:schemeClr val="tx1"/>
                </a:solidFill>
              </a:rPr>
              <a:t>Lowest mean VL MEE of the fine grid (Table 3, rank </a:t>
            </a:r>
            <a:pPr indent="0" marL="0">
              <a:buNone/>
            </a:pPr>
            <a:r>
              <a:rPr lang="en-US" sz="1400" i="1" dirty="0">
                <a:solidFill>
                  <a:schemeClr val="accent2"/>
                </a:solidFill>
              </a:rPr>
              <a:t>[1]</a:t>
            </a:r>
            <a:pPr indent="0" marL="0">
              <a:buNone/>
            </a:pPr>
            <a:r>
              <a:rPr lang="en-US" sz="1400" dirty="0">
                <a:solidFill>
                  <a:schemeClr val="tx1"/>
                </a:solidFill>
              </a:rPr>
              <a:t>); </a:t>
            </a:r>
            <a:pPr indent="0" marL="0">
              <a:buNone/>
            </a:pPr>
            <a:r>
              <a:rPr lang="en-US" sz="1400" i="1" dirty="0">
                <a:solidFill>
                  <a:schemeClr val="accent2"/>
                </a:solidFill>
              </a:rPr>
              <a:t>[why among the candidates]</a:t>
            </a:r>
            <a:endParaRPr lang="en-US" sz="1400" dirty="0"/>
          </a:p>
          <a:p>
            <a:pPr indent="0" marL="0">
              <a:spcAft>
                <a:spcPts val="300"/>
              </a:spcAft>
              <a:buNone/>
            </a:pPr>
            <a:r>
              <a:rPr lang="en-US" sz="1600" b="1" dirty="0">
                <a:solidFill>
                  <a:schemeClr val="tx2"/>
                </a:solidFill>
              </a:rPr>
              <a:t>Hyper-parameters</a:t>
            </a:r>
            <a:endParaRPr lang="en-US" sz="1400" dirty="0"/>
          </a:p>
          <a:p>
            <a:pPr marL="177800" indent="-177800">
              <a:spcAft>
                <a:spcPts val="700"/>
              </a:spcAft>
              <a:buSzPct val="100000"/>
              <a:buChar char="•"/>
            </a:pPr>
            <a:r>
              <a:rPr lang="en-US" sz="1400" dirty="0">
                <a:solidFill>
                  <a:schemeClr val="tx1"/>
                </a:solidFill>
              </a:rPr>
              <a:t>12-64-64-4: ReLU hidden, linear outputs, He init</a:t>
            </a:r>
            <a:endParaRPr lang="en-US" sz="1400" dirty="0"/>
          </a:p>
          <a:p>
            <a:pPr marL="177800" indent="-177800">
              <a:spcAft>
                <a:spcPts val="700"/>
              </a:spcAft>
              <a:buSzPct val="100000"/>
              <a:buChar char="•"/>
            </a:pPr>
            <a:r>
              <a:rPr lang="en-US" sz="1400" dirty="0">
                <a:solidFill>
                  <a:schemeClr val="tx1"/>
                </a:solidFill>
              </a:rPr>
              <a:t>SGD η 0.01, α 0.9 (classical), full batch, L2 λ 0.01</a:t>
            </a:r>
            <a:endParaRPr lang="en-US" sz="1400" dirty="0"/>
          </a:p>
          <a:p>
            <a:pPr marL="177800" indent="-177800">
              <a:spcAft>
                <a:spcPts val="700"/>
              </a:spcAft>
              <a:buSzPct val="100000"/>
              <a:buChar char="•"/>
            </a:pPr>
            <a:r>
              <a:rPr lang="en-US" sz="1400" dirty="0">
                <a:solidFill>
                  <a:schemeClr val="tx1"/>
                </a:solidFill>
              </a:rPr>
              <a:t>Stops at TR MEE 16.69 (CV target), 2597-4828 epochs</a:t>
            </a:r>
            <a:endParaRPr lang="en-US" sz="1400" dirty="0"/>
          </a:p>
          <a:p>
            <a:pPr marL="177800" indent="-177800">
              <a:spcAft>
                <a:spcPts val="700"/>
              </a:spcAft>
              <a:buSzPct val="100000"/>
              <a:buChar char="•"/>
            </a:pPr>
            <a:r>
              <a:rPr lang="en-US" sz="1400" dirty="0">
                <a:solidFill>
                  <a:schemeClr val="tx1"/>
                </a:solidFill>
              </a:rPr>
              <a:t>Blind test: trial-0 seeds (fixed in advance), refit on all 500 patterns</a:t>
            </a:r>
            <a:endParaRPr lang="en-US" sz="1400" dirty="0"/>
          </a:p>
        </p:txBody>
      </p:sp>
      <p:sp>
        <p:nvSpPr>
          <p:cNvPr id="5" name="Text 3"/>
          <p:cNvSpPr txBox="1"/>
          <p:nvPr/>
        </p:nvSpPr>
        <p:spPr>
          <a:xfrm>
            <a:off x="4709160" y="914400"/>
            <a:ext cx="3977640" cy="749808"/>
          </a:xfrm>
          <a:prstGeom prst="rect">
            <a:avLst/>
          </a:prstGeom>
          <a:noFill/>
          <a:ln/>
        </p:spPr>
        <p:txBody>
          <a:bodyPr wrap="square" lIns="635" tIns="635" rIns="635" bIns="635" rtlCol="0" anchor="t"/>
          <a:lstStyle/>
          <a:p>
            <a:pPr indent="0" marL="0">
              <a:buNone/>
            </a:pPr>
            <a:r>
              <a:rPr lang="en-US" sz="1400" i="1" dirty="0">
                <a:solidFill>
                  <a:schemeClr val="accent3"/>
                </a:solidFill>
              </a:rPr>
              <a:t>Table 4. MEE, original scale: mean ± std over 30 retrainings; VL from the model selection.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709160" y="1691640"/>
          <a:ext cx="3977640" cy="914400"/>
        </p:xfrm>
        <a:graphic>
          <a:graphicData uri="http://schemas.openxmlformats.org/drawingml/2006/table">
            <a:tbl>
              <a:tblPr/>
              <a:tblGrid>
                <a:gridCol w="1783080"/>
                <a:gridCol w="914400"/>
                <a:gridCol w="1280160"/>
              </a:tblGrid>
              <a:tr h="365760">
                <a:tc>
                  <a:txBody>
                    <a:bodyPr/>
                    <a:lstStyle/>
                    <a:p>
                      <a:pPr indent="0" marL="0">
                        <a:buNone/>
                      </a:pPr>
                      <a:r>
                        <a:rPr lang="en-US" sz="1400" b="1" dirty="0">
                          <a:solidFill>
                            <a:schemeClr val="bg1"/>
                          </a:solidFill>
                        </a:rPr>
                        <a:t>Set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Patterns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65760">
                <a:tc>
                  <a:txBody>
                    <a:bodyPr/>
                    <a:lstStyle/>
                    <a:p>
                      <a:pPr indent="0" marL="0">
                        <a:buNone/>
                      </a:pPr>
                      <a:r>
                        <a:rPr lang="en-US" sz="1400" b="1" dirty="0">
                          <a:solidFill>
                            <a:schemeClr val="tx1"/>
                          </a:solidFill>
                        </a:rPr>
                        <a:t>Training (TR)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16.69 ± 0.00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b="1" dirty="0">
                          <a:solidFill>
                            <a:schemeClr val="tx1"/>
                          </a:solidFill>
                        </a:rPr>
                        <a:t>Validation (VL)</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3 × 133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b="1" dirty="0">
                          <a:solidFill>
                            <a:schemeClr val="tx1"/>
                          </a:solidFill>
                        </a:rPr>
                        <a:t>Internal test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20.85 ± 0.29</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7" name="computing time"/>
          <p:cNvSpPr/>
          <p:nvPr/>
        </p:nvSpPr>
        <p:spPr>
          <a:xfrm>
            <a:off x="4709160" y="3246120"/>
            <a:ext cx="3977640" cy="1325880"/>
          </a:xfrm>
          <a:prstGeom prst="roundRect">
            <a:avLst>
              <a:gd name="adj" fmla="val 5517"/>
            </a:avLst>
          </a:prstGeom>
          <a:solidFill>
            <a:schemeClr val="bg2"/>
          </a:solidFill>
          <a:ln/>
        </p:spPr>
      </p:sp>
      <p:sp>
        <p:nvSpPr>
          <p:cNvPr id="8" name="Text 5"/>
          <p:cNvSpPr txBox="1"/>
          <p:nvPr/>
        </p:nvSpPr>
        <p:spPr>
          <a:xfrm>
            <a:off x="4818888" y="3291840"/>
            <a:ext cx="3758184" cy="1234440"/>
          </a:xfrm>
          <a:prstGeom prst="rect">
            <a:avLst/>
          </a:prstGeom>
          <a:noFill/>
          <a:ln/>
        </p:spPr>
        <p:txBody>
          <a:bodyPr wrap="square" lIns="635" tIns="635" rIns="635" bIns="635" rtlCol="0" anchor="t"/>
          <a:lstStyle/>
          <a:p>
            <a:pPr indent="0" marL="0">
              <a:spcAft>
                <a:spcPts val="300"/>
              </a:spcAft>
              <a:buNone/>
            </a:pPr>
            <a:r>
              <a:rPr lang="en-US" sz="1400" b="1" dirty="0">
                <a:solidFill>
                  <a:schemeClr val="tx2"/>
                </a:solidFill>
              </a:rPr>
              <a:t>Computing time and hardware</a:t>
            </a:r>
            <a:endParaRPr lang="en-US" sz="1400" dirty="0"/>
          </a:p>
          <a:p>
            <a:pPr indent="0" marL="0">
              <a:buNone/>
            </a:pPr>
            <a:r>
              <a:rPr lang="en-US" sz="1400" dirty="0">
                <a:solidFill>
                  <a:schemeClr val="tx1"/>
                </a:solidFill>
              </a:rPr>
              <a:t>Intel CPU (family 6, model 186), Windows 11, </a:t>
            </a:r>
            <a:pPr indent="0" marL="0">
              <a:buNone/>
            </a:pPr>
            <a:r>
              <a:rPr lang="en-US" sz="1400" i="1" dirty="0">
                <a:solidFill>
                  <a:schemeClr val="accent2"/>
                </a:solidFill>
              </a:rPr>
              <a:t>[model, RAM]</a:t>
            </a:r>
            <a:endParaRPr lang="en-US" sz="1400" dirty="0"/>
          </a:p>
          <a:p>
            <a:pPr indent="0" marL="0">
              <a:buNone/>
            </a:pPr>
            <a:r>
              <a:rPr lang="en-US" sz="1400" dirty="0">
                <a:solidFill>
                  <a:schemeClr val="tx1"/>
                </a:solidFill>
              </a:rPr>
              <a:t>Fine grid: </a:t>
            </a:r>
            <a:pPr indent="0" marL="0">
              <a:buNone/>
            </a:pPr>
            <a:r>
              <a:rPr lang="en-US" sz="1400" i="1" dirty="0">
                <a:solidFill>
                  <a:schemeClr val="accent2"/>
                </a:solidFill>
              </a:rPr>
              <a:t>[hh:mm]</a:t>
            </a:r>
            <a:pPr indent="0" marL="0">
              <a:buNone/>
            </a:pPr>
            <a:r>
              <a:rPr lang="en-US" sz="1400" dirty="0">
                <a:solidFill>
                  <a:schemeClr val="tx1"/>
                </a:solidFill>
              </a:rPr>
              <a:t> · retraining: </a:t>
            </a:r>
            <a:pPr indent="0" marL="0">
              <a:buNone/>
            </a:pPr>
            <a:r>
              <a:rPr lang="en-US" sz="1400" i="1" dirty="0">
                <a:solidFill>
                  <a:schemeClr val="accent2"/>
                </a:solidFill>
              </a:rPr>
              <a:t>[s]</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 learning curve</a:t>
            </a:r>
            <a:endParaRPr lang="en-US" sz="2600" dirty="0"/>
          </a:p>
        </p:txBody>
      </p:sp>
      <p:pic>
        <p:nvPicPr>
          <p:cNvPr id="3" name="Image 0" descr="CUP final model learning curves: MSE and MEE">    </p:cNvPr>
          <p:cNvPicPr>
            <a:picLocks noChangeAspect="1"/>
          </p:cNvPicPr>
          <p:nvPr/>
        </p:nvPicPr>
        <p:blipFill>
          <a:blip r:embed="rId1"/>
          <a:stretch>
            <a:fillRect/>
          </a:stretch>
        </p:blipFill>
        <p:spPr>
          <a:xfrm>
            <a:off x="457200" y="960120"/>
            <a:ext cx="8229600" cy="2790207"/>
          </a:xfrm>
          <a:prstGeom prst="rect">
            <a:avLst/>
          </a:prstGeom>
        </p:spPr>
      </p:pic>
      <p:sp>
        <p:nvSpPr>
          <p:cNvPr id="4" name="Text 1"/>
          <p:cNvSpPr txBox="1"/>
          <p:nvPr/>
        </p:nvSpPr>
        <p:spPr>
          <a:xfrm>
            <a:off x="457200" y="3841767"/>
            <a:ext cx="8229600" cy="731520"/>
          </a:xfrm>
          <a:prstGeom prst="rect">
            <a:avLst/>
          </a:prstGeom>
          <a:noFill/>
          <a:ln/>
        </p:spPr>
        <p:txBody>
          <a:bodyPr wrap="square" lIns="635" tIns="635" rIns="635" bIns="635" rtlCol="0" anchor="t"/>
          <a:lstStyle/>
          <a:p>
            <a:pPr indent="0" marL="0">
              <a:buNone/>
            </a:pPr>
            <a:r>
              <a:rPr lang="en-US" sz="1400" i="1" dirty="0">
                <a:solidFill>
                  <a:schemeClr val="accent3"/>
                </a:solidFill>
              </a:rPr>
              <a:t>Fig. 6. Assessment retraining on the 400 design patterns (trial with median TS MEE): MSE on standardized targets (left), MEE (right); training solid, internal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(1/2): effect of our choices</a:t>
            </a:r>
            <a:endParaRPr lang="en-US" sz="2600" dirty="0"/>
          </a:p>
        </p:txBody>
      </p:sp>
      <p:sp>
        <p:nvSpPr>
          <p:cNvPr id="3" name="finding 1"/>
          <p:cNvSpPr/>
          <p:nvPr/>
        </p:nvSpPr>
        <p:spPr>
          <a:xfrm>
            <a:off x="457200" y="1005840"/>
            <a:ext cx="8229600" cy="1051560"/>
          </a:xfrm>
          <a:prstGeom prst="roundRect">
            <a:avLst>
              <a:gd name="adj" fmla="val 6957"/>
            </a:avLst>
          </a:prstGeom>
          <a:solidFill>
            <a:schemeClr val="bg2"/>
          </a:solidFill>
          <a:ln/>
        </p:spPr>
      </p:sp>
      <p:sp>
        <p:nvSpPr>
          <p:cNvPr id="4" name="Shape 2"/>
          <p:cNvSpPr/>
          <p:nvPr/>
        </p:nvSpPr>
        <p:spPr>
          <a:xfrm>
            <a:off x="621792" y="1348740"/>
            <a:ext cx="365760" cy="365760"/>
          </a:xfrm>
          <a:prstGeom prst="ellipse">
            <a:avLst/>
          </a:prstGeom>
          <a:solidFill>
            <a:schemeClr val="tx2"/>
          </a:solidFill>
          <a:ln/>
        </p:spPr>
      </p:sp>
      <p:sp>
        <p:nvSpPr>
          <p:cNvPr id="5" name="Text 3"/>
          <p:cNvSpPr txBox="1"/>
          <p:nvPr/>
        </p:nvSpPr>
        <p:spPr>
          <a:xfrm>
            <a:off x="621792" y="13487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43000" y="1005840"/>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1: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7" name="finding 2"/>
          <p:cNvSpPr/>
          <p:nvPr/>
        </p:nvSpPr>
        <p:spPr>
          <a:xfrm>
            <a:off x="457200" y="2212848"/>
            <a:ext cx="8229600" cy="1051560"/>
          </a:xfrm>
          <a:prstGeom prst="roundRect">
            <a:avLst>
              <a:gd name="adj" fmla="val 6957"/>
            </a:avLst>
          </a:prstGeom>
          <a:solidFill>
            <a:schemeClr val="bg2"/>
          </a:solidFill>
          <a:ln/>
        </p:spPr>
      </p:sp>
      <p:sp>
        <p:nvSpPr>
          <p:cNvPr id="8" name="Shape 6"/>
          <p:cNvSpPr/>
          <p:nvPr/>
        </p:nvSpPr>
        <p:spPr>
          <a:xfrm>
            <a:off x="621792" y="2555748"/>
            <a:ext cx="365760" cy="365760"/>
          </a:xfrm>
          <a:prstGeom prst="ellipse">
            <a:avLst/>
          </a:prstGeom>
          <a:solidFill>
            <a:schemeClr val="tx2"/>
          </a:solidFill>
          <a:ln/>
        </p:spPr>
      </p:sp>
      <p:sp>
        <p:nvSpPr>
          <p:cNvPr id="9" name="Text 7"/>
          <p:cNvSpPr txBox="1"/>
          <p:nvPr/>
        </p:nvSpPr>
        <p:spPr>
          <a:xfrm>
            <a:off x="621792" y="2555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143000" y="2212848"/>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2: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11" name="finding 3"/>
          <p:cNvSpPr/>
          <p:nvPr/>
        </p:nvSpPr>
        <p:spPr>
          <a:xfrm>
            <a:off x="457200" y="3419856"/>
            <a:ext cx="8229600" cy="1051560"/>
          </a:xfrm>
          <a:prstGeom prst="roundRect">
            <a:avLst>
              <a:gd name="adj" fmla="val 6957"/>
            </a:avLst>
          </a:prstGeom>
          <a:solidFill>
            <a:schemeClr val="bg2"/>
          </a:solidFill>
          <a:ln/>
        </p:spPr>
      </p:sp>
      <p:sp>
        <p:nvSpPr>
          <p:cNvPr id="12" name="Shape 10"/>
          <p:cNvSpPr/>
          <p:nvPr/>
        </p:nvSpPr>
        <p:spPr>
          <a:xfrm>
            <a:off x="621792" y="3762756"/>
            <a:ext cx="365760" cy="365760"/>
          </a:xfrm>
          <a:prstGeom prst="ellipse">
            <a:avLst/>
          </a:prstGeom>
          <a:solidFill>
            <a:schemeClr val="tx2"/>
          </a:solidFill>
          <a:ln/>
        </p:spPr>
      </p:sp>
      <p:sp>
        <p:nvSpPr>
          <p:cNvPr id="13" name="Text 11"/>
          <p:cNvSpPr txBox="1"/>
          <p:nvPr/>
        </p:nvSpPr>
        <p:spPr>
          <a:xfrm>
            <a:off x="621792" y="376275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143000" y="3419856"/>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3: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(2/2): what we learned</a:t>
            </a:r>
            <a:endParaRPr lang="en-US" sz="2600" dirty="0"/>
          </a:p>
        </p:txBody>
      </p:sp>
      <p:sp>
        <p:nvSpPr>
          <p:cNvPr id="3" name="What worked"/>
          <p:cNvSpPr/>
          <p:nvPr/>
        </p:nvSpPr>
        <p:spPr>
          <a:xfrm>
            <a:off x="457200" y="1005840"/>
            <a:ext cx="4023360" cy="3566160"/>
          </a:xfrm>
          <a:prstGeom prst="roundRect">
            <a:avLst>
              <a:gd name="adj" fmla="val 2051"/>
            </a:avLst>
          </a:prstGeom>
          <a:solidFill>
            <a:schemeClr val="bg2"/>
          </a:solidFill>
          <a:ln/>
        </p:spPr>
      </p:sp>
      <p:sp>
        <p:nvSpPr>
          <p:cNvPr id="4" name="Text 2"/>
          <p:cNvSpPr txBox="1"/>
          <p:nvPr/>
        </p:nvSpPr>
        <p:spPr>
          <a:xfrm>
            <a:off x="59436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worked</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5" name="What did not work"/>
          <p:cNvSpPr/>
          <p:nvPr/>
        </p:nvSpPr>
        <p:spPr>
          <a:xfrm>
            <a:off x="4663440" y="1005840"/>
            <a:ext cx="4023360" cy="3566160"/>
          </a:xfrm>
          <a:prstGeom prst="roundRect">
            <a:avLst>
              <a:gd name="adj" fmla="val 2051"/>
            </a:avLst>
          </a:prstGeom>
          <a:solidFill>
            <a:schemeClr val="bg2"/>
          </a:solidFill>
          <a:ln/>
        </p:spPr>
      </p:sp>
      <p:sp>
        <p:nvSpPr>
          <p:cNvPr id="6" name="Text 4"/>
          <p:cNvSpPr txBox="1"/>
          <p:nvPr/>
        </p:nvSpPr>
        <p:spPr>
          <a:xfrm>
            <a:off x="480060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did not work</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Conclusions</a:t>
            </a:r>
            <a:endParaRPr lang="en-US" sz="2600" dirty="0"/>
          </a:p>
        </p:txBody>
      </p:sp>
      <p:sp>
        <p:nvSpPr>
          <p:cNvPr id="3" name="Text 1"/>
          <p:cNvSpPr txBox="1"/>
          <p:nvPr/>
        </p:nvSpPr>
        <p:spPr>
          <a:xfrm>
            <a:off x="457200" y="1005840"/>
            <a:ext cx="4754880" cy="365760"/>
          </a:xfrm>
          <a:prstGeom prst="rect">
            <a:avLst/>
          </a:prstGeom>
          <a:noFill/>
          <a:ln/>
        </p:spPr>
        <p:txBody>
          <a:bodyPr wrap="square" lIns="635" tIns="635" rIns="635" bIns="635" rtlCol="0" anchor="t"/>
          <a:lstStyle/>
          <a:p>
            <a:pPr indent="0" marL="0">
              <a:buNone/>
            </a:pPr>
            <a:r>
              <a:rPr lang="en-US" sz="1600" b="1" dirty="0">
                <a:solidFill>
                  <a:schemeClr val="tx2"/>
                </a:solidFill>
              </a:rPr>
              <a:t>Takeaways</a:t>
            </a:r>
            <a:endParaRPr lang="en-US" sz="1400" dirty="0"/>
          </a:p>
        </p:txBody>
      </p:sp>
      <p:sp>
        <p:nvSpPr>
          <p:cNvPr id="4" name="Shape 2"/>
          <p:cNvSpPr/>
          <p:nvPr/>
        </p:nvSpPr>
        <p:spPr>
          <a:xfrm>
            <a:off x="457200" y="1508760"/>
            <a:ext cx="365760" cy="365760"/>
          </a:xfrm>
          <a:prstGeom prst="ellipse">
            <a:avLst/>
          </a:prstGeom>
          <a:solidFill>
            <a:schemeClr val="tx2"/>
          </a:solidFill>
          <a:ln/>
        </p:spPr>
      </p:sp>
      <p:sp>
        <p:nvSpPr>
          <p:cNvPr id="5" name="Text 3"/>
          <p:cNvSpPr txBox="1"/>
          <p:nvPr/>
        </p:nvSpPr>
        <p:spPr>
          <a:xfrm>
            <a:off x="45720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960120" y="146304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7" name="Shape 5"/>
          <p:cNvSpPr/>
          <p:nvPr/>
        </p:nvSpPr>
        <p:spPr>
          <a:xfrm>
            <a:off x="457200" y="2331720"/>
            <a:ext cx="365760" cy="365760"/>
          </a:xfrm>
          <a:prstGeom prst="ellipse">
            <a:avLst/>
          </a:prstGeom>
          <a:solidFill>
            <a:schemeClr val="tx2"/>
          </a:solidFill>
          <a:ln/>
        </p:spPr>
      </p:sp>
      <p:sp>
        <p:nvSpPr>
          <p:cNvPr id="8" name="Text 6"/>
          <p:cNvSpPr txBox="1"/>
          <p:nvPr/>
        </p:nvSpPr>
        <p:spPr>
          <a:xfrm>
            <a:off x="45720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960120" y="228600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0" name="Shape 8"/>
          <p:cNvSpPr/>
          <p:nvPr/>
        </p:nvSpPr>
        <p:spPr>
          <a:xfrm>
            <a:off x="457200" y="3154680"/>
            <a:ext cx="365760" cy="365760"/>
          </a:xfrm>
          <a:prstGeom prst="ellipse">
            <a:avLst/>
          </a:prstGeom>
          <a:solidFill>
            <a:schemeClr val="tx2"/>
          </a:solidFill>
          <a:ln/>
        </p:spPr>
      </p:sp>
      <p:sp>
        <p:nvSpPr>
          <p:cNvPr id="11" name="Text 9"/>
          <p:cNvSpPr txBox="1"/>
          <p:nvPr/>
        </p:nvSpPr>
        <p:spPr>
          <a:xfrm>
            <a:off x="457200" y="31546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960120" y="310896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3" name="blind test"/>
          <p:cNvSpPr/>
          <p:nvPr/>
        </p:nvSpPr>
        <p:spPr>
          <a:xfrm>
            <a:off x="5486400" y="1005840"/>
            <a:ext cx="3200400" cy="2377440"/>
          </a:xfrm>
          <a:prstGeom prst="roundRect">
            <a:avLst>
              <a:gd name="adj" fmla="val 3077"/>
            </a:avLst>
          </a:prstGeom>
          <a:solidFill>
            <a:schemeClr val="tx2"/>
          </a:solidFill>
          <a:ln/>
        </p:spPr>
      </p:sp>
      <p:sp>
        <p:nvSpPr>
          <p:cNvPr id="14" name="Text 12"/>
          <p:cNvSpPr txBox="1"/>
          <p:nvPr/>
        </p:nvSpPr>
        <p:spPr>
          <a:xfrm>
            <a:off x="5623560" y="1097280"/>
            <a:ext cx="2926080" cy="2194560"/>
          </a:xfrm>
          <a:prstGeom prst="rect">
            <a:avLst/>
          </a:prstGeom>
          <a:noFill/>
          <a:ln/>
        </p:spPr>
        <p:txBody>
          <a:bodyPr wrap="square" lIns="635" tIns="635" rIns="635" bIns="635" rtlCol="0" anchor="t"/>
          <a:lstStyle/>
          <a:p>
            <a:pPr indent="0" marL="0">
              <a:spcAft>
                <a:spcPts val="600"/>
              </a:spcAft>
              <a:buNone/>
            </a:pPr>
            <a:r>
              <a:rPr lang="en-US" sz="1600" b="1" dirty="0">
                <a:solidFill>
                  <a:schemeClr val="bg1"/>
                </a:solidFill>
              </a:rPr>
              <a:t>Blind test results</a:t>
            </a:r>
            <a:endParaRPr lang="en-US" sz="1400" dirty="0"/>
          </a:p>
          <a:p>
            <a:pPr indent="0" marL="0">
              <a:spcAft>
                <a:spcPts val="400"/>
              </a:spcAft>
              <a:buNone/>
            </a:pPr>
            <a:r>
              <a:rPr lang="en-US" sz="1400" dirty="0">
                <a:solidFill>
                  <a:schemeClr val="bg1"/>
                </a:solidFill>
              </a:rPr>
              <a:t>Nickname: </a:t>
            </a:r>
            <a:pPr indent="0" marL="0">
              <a:buNone/>
            </a:pPr>
            <a:r>
              <a:rPr lang="en-US" sz="1400" i="1" dirty="0">
                <a:solidFill>
                  <a:schemeClr val="bg2"/>
                </a:solidFill>
              </a:rPr>
              <a:t>[team]</a:t>
            </a:r>
            <a:endParaRPr lang="en-US" sz="1400" dirty="0"/>
          </a:p>
          <a:p>
            <a:pPr indent="0" marL="0">
              <a:spcAft>
                <a:spcPts val="400"/>
              </a:spcAft>
              <a:buNone/>
            </a:pPr>
            <a:r>
              <a:rPr lang="en-US" sz="1400" dirty="0">
                <a:solidFill>
                  <a:schemeClr val="bg1"/>
                </a:solidFill>
              </a:rPr>
              <a:t>Results: </a:t>
            </a:r>
            <a:pPr indent="0" marL="0">
              <a:buNone/>
            </a:pPr>
            <a:r>
              <a:rPr lang="en-US" sz="1400" i="1" dirty="0">
                <a:solidFill>
                  <a:schemeClr val="bg2"/>
                </a:solidFill>
              </a:rPr>
              <a:t>[team]_ML-CUP25-TS.csv</a:t>
            </a:r>
            <a:endParaRPr lang="en-US" sz="1400" dirty="0"/>
          </a:p>
          <a:p>
            <a:pPr indent="0" marL="0">
              <a:buNone/>
            </a:pPr>
            <a:r>
              <a:rPr lang="en-US" sz="1400" dirty="0">
                <a:solidFill>
                  <a:schemeClr val="bg1"/>
                </a:solidFill>
              </a:rPr>
              <a:t>Abstract: </a:t>
            </a:r>
            <a:pPr indent="0" marL="0">
              <a:buNone/>
            </a:pPr>
            <a:r>
              <a:rPr lang="en-US" sz="1400" i="1" dirty="0">
                <a:solidFill>
                  <a:schemeClr val="bg2"/>
                </a:solidFill>
              </a:rPr>
              <a:t>[team]_abstract.txt</a:t>
            </a:r>
            <a:endParaRPr lang="en-US" sz="1400" dirty="0"/>
          </a:p>
        </p:txBody>
      </p:sp>
      <p:sp>
        <p:nvSpPr>
          <p:cNvPr id="15" name="Text 13"/>
          <p:cNvSpPr txBox="1"/>
          <p:nvPr/>
        </p:nvSpPr>
        <p:spPr>
          <a:xfrm>
            <a:off x="457200" y="402336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We agree to the disclosure and publication of our names, and of the results with preliminary and final ranking.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References</a:t>
            </a:r>
            <a:endParaRPr lang="en-US" sz="2600" dirty="0"/>
          </a:p>
        </p:txBody>
      </p:sp>
      <p:sp>
        <p:nvSpPr>
          <p:cNvPr id="3" name="Text 1"/>
          <p:cNvSpPr txBox="1"/>
          <p:nvPr/>
        </p:nvSpPr>
        <p:spPr>
          <a:xfrm>
            <a:off x="457200" y="960120"/>
            <a:ext cx="8229600" cy="3611880"/>
          </a:xfrm>
          <a:prstGeom prst="rect">
            <a:avLst/>
          </a:prstGeom>
          <a:noFill/>
          <a:ln/>
        </p:spPr>
        <p:txBody>
          <a:bodyPr wrap="square" lIns="635" tIns="635" rIns="635" bIns="635" rtlCol="0" anchor="t"/>
          <a:lstStyle/>
          <a:p>
            <a:pPr indent="0" marL="0">
              <a:spcAft>
                <a:spcPts val="500"/>
              </a:spcAft>
              <a:buNone/>
            </a:pPr>
            <a:r>
              <a:rPr lang="en-US" sz="1400" b="1" dirty="0">
                <a:solidFill>
                  <a:schemeClr val="tx1"/>
                </a:solidFill>
              </a:rPr>
              <a:t>[1] </a:t>
            </a:r>
            <a:pPr indent="0" marL="0">
              <a:buNone/>
            </a:pPr>
            <a:r>
              <a:rPr lang="en-US" sz="1400" dirty="0">
                <a:solidFill>
                  <a:schemeClr val="tx1"/>
                </a:solidFill>
              </a:rPr>
              <a:t>A. Micheli: Machine Learning, course slides, Università di Pisa, 2025.</a:t>
            </a:r>
            <a:endParaRPr lang="en-US" sz="1400" dirty="0"/>
          </a:p>
          <a:p>
            <a:pPr indent="0" marL="0">
              <a:spcAft>
                <a:spcPts val="500"/>
              </a:spcAft>
              <a:buNone/>
            </a:pPr>
            <a:r>
              <a:rPr lang="en-US" sz="1400" b="1" dirty="0">
                <a:solidFill>
                  <a:schemeClr val="tx1"/>
                </a:solidFill>
              </a:rPr>
              <a:t>[2] </a:t>
            </a:r>
            <a:pPr indent="0" marL="0">
              <a:buNone/>
            </a:pPr>
            <a:r>
              <a:rPr lang="en-US" sz="1400" dirty="0">
                <a:solidFill>
                  <a:schemeClr val="tx1"/>
                </a:solidFill>
              </a:rPr>
              <a:t>S. Thrun et al.: The MONK's Problems: A Performance Comparison of Different Learning Algorithms, Tech. Rep. CMU-CS-91-197, Carnegie Mellon University, 1991.</a:t>
            </a:r>
            <a:endParaRPr lang="en-US" sz="1400" dirty="0"/>
          </a:p>
          <a:p>
            <a:pPr indent="0" marL="0">
              <a:spcAft>
                <a:spcPts val="500"/>
              </a:spcAft>
              <a:buNone/>
            </a:pPr>
            <a:r>
              <a:rPr lang="en-US" sz="1400" b="1" dirty="0">
                <a:solidFill>
                  <a:schemeClr val="tx1"/>
                </a:solidFill>
              </a:rPr>
              <a:t>[3] </a:t>
            </a:r>
            <a:pPr indent="0" marL="0">
              <a:buNone/>
            </a:pPr>
            <a:r>
              <a:rPr lang="en-US" sz="1400" dirty="0">
                <a:solidFill>
                  <a:schemeClr val="tx1"/>
                </a:solidFill>
              </a:rPr>
              <a:t>X. Glorot, Y. Bengio: Understanding the difficulty of training deep feedforward neural networks, Proc. AISTATS, JMLR W&amp;CP 9, 249–256, 2010.</a:t>
            </a:r>
            <a:endParaRPr lang="en-US" sz="1400" dirty="0"/>
          </a:p>
          <a:p>
            <a:pPr indent="0" marL="0">
              <a:spcAft>
                <a:spcPts val="500"/>
              </a:spcAft>
              <a:buNone/>
            </a:pPr>
            <a:r>
              <a:rPr lang="en-US" sz="1400" b="1" dirty="0">
                <a:solidFill>
                  <a:schemeClr val="tx1"/>
                </a:solidFill>
              </a:rPr>
              <a:t>[4] </a:t>
            </a:r>
            <a:pPr indent="0" marL="0">
              <a:buNone/>
            </a:pPr>
            <a:r>
              <a:rPr lang="en-US" sz="1400" dirty="0">
                <a:solidFill>
                  <a:schemeClr val="tx1"/>
                </a:solidFill>
              </a:rPr>
              <a:t>K. He, X. Zhang, S. Ren, J. Sun: Delving Deep into Rectifiers, Proc. IEEE ICCV, 1026–1034, 2015.</a:t>
            </a:r>
            <a:endParaRPr lang="en-US" sz="1400" dirty="0"/>
          </a:p>
          <a:p>
            <a:pPr indent="0" marL="0">
              <a:spcAft>
                <a:spcPts val="500"/>
              </a:spcAft>
              <a:buNone/>
            </a:pPr>
            <a:r>
              <a:rPr lang="en-US" sz="1400" b="1" dirty="0">
                <a:solidFill>
                  <a:schemeClr val="tx1"/>
                </a:solidFill>
              </a:rPr>
              <a:t>[5] </a:t>
            </a:r>
            <a:pPr indent="0" marL="0">
              <a:buNone/>
            </a:pPr>
            <a:r>
              <a:rPr lang="en-US" sz="1400" dirty="0">
                <a:solidFill>
                  <a:schemeClr val="tx1"/>
                </a:solidFill>
              </a:rPr>
              <a:t>I. Sutskever, J. Martens, G. Dahl, G. Hinton: On the importance of initialization and momentum in deep learning, Proc. ICML, PMLR 28, 1139–1147, 2013.</a:t>
            </a:r>
            <a:endParaRPr lang="en-US" sz="1400" dirty="0"/>
          </a:p>
          <a:p>
            <a:pPr indent="0" marL="0">
              <a:spcAft>
                <a:spcPts val="500"/>
              </a:spcAft>
              <a:buNone/>
            </a:pPr>
            <a:r>
              <a:rPr lang="en-US" sz="1400" b="1" dirty="0">
                <a:solidFill>
                  <a:schemeClr val="tx1"/>
                </a:solidFill>
              </a:rPr>
              <a:t>[6] </a:t>
            </a:r>
            <a:pPr indent="0" marL="0">
              <a:buNone/>
            </a:pPr>
            <a:r>
              <a:rPr lang="en-US" sz="1400" dirty="0">
                <a:solidFill>
                  <a:schemeClr val="tx1"/>
                </a:solidFill>
              </a:rPr>
              <a:t>L. Prechelt: Early Stopping — But When?, in Neural Networks: Tricks of the Trade, LNCS 1524, Springer, 55–69, 1998.</a:t>
            </a:r>
            <a:endParaRPr lang="en-US" sz="1400" dirty="0"/>
          </a:p>
          <a:p>
            <a:pPr indent="0" marL="0">
              <a:spcAft>
                <a:spcPts val="500"/>
              </a:spcAft>
              <a:buNone/>
            </a:pPr>
            <a:r>
              <a:rPr lang="en-US" sz="1400" b="1" dirty="0">
                <a:solidFill>
                  <a:schemeClr val="tx1"/>
                </a:solidFill>
              </a:rPr>
              <a:t>[7] </a:t>
            </a:r>
            <a:pPr indent="0" marL="0">
              <a:buNone/>
            </a:pPr>
            <a:r>
              <a:rPr lang="en-US" sz="1400" dirty="0">
                <a:solidFill>
                  <a:schemeClr val="tx1"/>
                </a:solidFill>
              </a:rPr>
              <a:t>C. R. Harris et al.: Array programming with NumPy, Nature, 585, 357–362, 2020.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lIns="0" tIns="0" rIns="0" bIns="0" rtlCol="0" anchor="b"/>
          <a:lstStyle/>
          <a:p>
            <a:pPr indent="0" marL="0">
              <a:buNone/>
            </a:pPr>
            <a:r>
              <a:rPr lang="en-US" sz="3400" b="1" dirty="0">
                <a:solidFill>
                  <a:schemeClr val="bg1"/>
                </a:solidFill>
              </a:rPr>
              <a:t>Appendix</a:t>
            </a: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lIns="0" tIns="0" rIns="0" bIns="0" rtlCol="0" anchor="t"/>
          <a:lstStyle/>
          <a:p>
            <a:pPr indent="0" marL="0">
              <a:buNone/>
            </a:pPr>
            <a:r>
              <a:rPr lang="en-US" sz="1800" dirty="0">
                <a:solidFill>
                  <a:schemeClr val="bg2"/>
                </a:solidFill>
              </a:rPr>
              <a:t>Not shown in the time slot: complete settings, extra tables and plots for the discussion</a:t>
            </a: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A.1 Hyper-parameter settings</a:t>
            </a:r>
            <a:endParaRPr lang="en-US" sz="2600" dirty="0"/>
          </a:p>
        </p:txBody>
      </p:sp>
      <p:sp>
        <p:nvSpPr>
          <p:cNvPr id="3" name="Text 1"/>
          <p:cNvSpPr txBox="1"/>
          <p:nvPr/>
        </p:nvSpPr>
        <p:spPr>
          <a:xfrm>
            <a:off x="457200" y="96012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A.1. Complete grids of every search (screening, coarse, fine).</a:t>
            </a:r>
            <a:endParaRPr lang="en-US" sz="1400" dirty="0"/>
          </a:p>
        </p:txBody>
      </p:sp>
      <p:sp>
        <p:nvSpPr>
          <p:cNvPr id="4" name="figure placeholder"/>
          <p:cNvSpPr/>
          <p:nvPr/>
        </p:nvSpPr>
        <p:spPr>
          <a:xfrm>
            <a:off x="457200" y="1325880"/>
            <a:ext cx="8229600" cy="3246120"/>
          </a:xfrm>
          <a:prstGeom prst="rect">
            <a:avLst/>
          </a:prstGeom>
          <a:solidFill>
            <a:schemeClr val="bg1"/>
          </a:solidFill>
          <a:ln w="15875">
            <a:solidFill>
              <a:srgbClr val="9DB0C6"/>
            </a:solidFill>
            <a:prstDash val="dash"/>
          </a:ln>
        </p:spPr>
      </p:sp>
      <p:sp>
        <p:nvSpPr>
          <p:cNvPr id="5" name="Text 3"/>
          <p:cNvSpPr txBox="1"/>
          <p:nvPr/>
        </p:nvSpPr>
        <p:spPr>
          <a:xfrm>
            <a:off x="640080" y="1325880"/>
            <a:ext cx="7863840" cy="3246120"/>
          </a:xfrm>
          <a:prstGeom prst="rect">
            <a:avLst/>
          </a:prstGeom>
          <a:noFill/>
          <a:ln/>
        </p:spPr>
        <p:txBody>
          <a:bodyPr wrap="square" lIns="635" tIns="635" rIns="635" bIns="635" rtlCol="0" anchor="ctr"/>
          <a:lstStyle/>
          <a:p>
            <a:pPr algn="ctr" indent="0" marL="0">
              <a:buNone/>
            </a:pPr>
            <a:r>
              <a:rPr lang="en-US" sz="1400" i="1" dirty="0">
                <a:solidFill>
                  <a:schemeClr val="accent2"/>
                </a:solidFill>
              </a:rPr>
              <a:t>[Table A.1: every hyper-parameter and value of each grid; the full list also in the hyperparameters-setting file]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A.2 CUP screening: learning curves</a:t>
            </a:r>
            <a:endParaRPr lang="en-US" sz="2600" dirty="0"/>
          </a:p>
        </p:txBody>
      </p:sp>
      <p:sp>
        <p:nvSpPr>
          <p:cNvPr id="3" name="figure placeholder"/>
          <p:cNvSpPr/>
          <p:nvPr/>
        </p:nvSpPr>
        <p:spPr>
          <a:xfrm>
            <a:off x="457200" y="960120"/>
            <a:ext cx="4023360" cy="1463040"/>
          </a:xfrm>
          <a:prstGeom prst="rect">
            <a:avLst/>
          </a:prstGeom>
          <a:solidFill>
            <a:schemeClr val="bg1"/>
          </a:solidFill>
          <a:ln w="15875">
            <a:solidFill>
              <a:srgbClr val="9DB0C6"/>
            </a:solidFill>
            <a:prstDash val="dash"/>
          </a:ln>
        </p:spPr>
      </p:sp>
      <p:sp>
        <p:nvSpPr>
          <p:cNvPr id="4" name="Text 2"/>
          <p:cNvSpPr txBox="1"/>
          <p:nvPr/>
        </p:nvSpPr>
        <p:spPr>
          <a:xfrm>
            <a:off x="64008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A.1: screening curve]</a:t>
            </a:r>
            <a:endParaRPr lang="en-US" sz="1400" dirty="0"/>
          </a:p>
        </p:txBody>
      </p:sp>
      <p:sp>
        <p:nvSpPr>
          <p:cNvPr id="5" name="Text 3"/>
          <p:cNvSpPr txBox="1"/>
          <p:nvPr/>
        </p:nvSpPr>
        <p:spPr>
          <a:xfrm>
            <a:off x="45720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A.1. </a:t>
            </a:r>
            <a:pPr indent="0" marL="0">
              <a:buNone/>
            </a:pPr>
            <a:r>
              <a:rPr lang="en-US" sz="1400" i="1" dirty="0">
                <a:solidFill>
                  <a:schemeClr val="accent2"/>
                </a:solidFill>
              </a:rPr>
              <a:t>[caption]</a:t>
            </a:r>
            <a:endParaRPr lang="en-US" sz="1400" dirty="0"/>
          </a:p>
        </p:txBody>
      </p:sp>
      <p:sp>
        <p:nvSpPr>
          <p:cNvPr id="6" name="figure placeholder"/>
          <p:cNvSpPr/>
          <p:nvPr/>
        </p:nvSpPr>
        <p:spPr>
          <a:xfrm>
            <a:off x="4663440" y="960120"/>
            <a:ext cx="4023360" cy="1463040"/>
          </a:xfrm>
          <a:prstGeom prst="rect">
            <a:avLst/>
          </a:prstGeom>
          <a:solidFill>
            <a:schemeClr val="bg1"/>
          </a:solidFill>
          <a:ln w="15875">
            <a:solidFill>
              <a:srgbClr val="9DB0C6"/>
            </a:solidFill>
            <a:prstDash val="dash"/>
          </a:ln>
        </p:spPr>
      </p:sp>
      <p:sp>
        <p:nvSpPr>
          <p:cNvPr id="7" name="Text 5"/>
          <p:cNvSpPr txBox="1"/>
          <p:nvPr/>
        </p:nvSpPr>
        <p:spPr>
          <a:xfrm>
            <a:off x="484632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A.2: screening curve]</a:t>
            </a:r>
            <a:endParaRPr lang="en-US" sz="1400" dirty="0"/>
          </a:p>
        </p:txBody>
      </p:sp>
      <p:sp>
        <p:nvSpPr>
          <p:cNvPr id="8" name="Text 6"/>
          <p:cNvSpPr txBox="1"/>
          <p:nvPr/>
        </p:nvSpPr>
        <p:spPr>
          <a:xfrm>
            <a:off x="466344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A.2. </a:t>
            </a:r>
            <a:pPr indent="0" marL="0">
              <a:buNone/>
            </a:pPr>
            <a:r>
              <a:rPr lang="en-US" sz="1400" i="1" dirty="0">
                <a:solidFill>
                  <a:schemeClr val="accent2"/>
                </a:solidFill>
              </a:rPr>
              <a:t>[caption]</a:t>
            </a:r>
            <a:endParaRPr lang="en-US" sz="1400" dirty="0"/>
          </a:p>
        </p:txBody>
      </p:sp>
      <p:sp>
        <p:nvSpPr>
          <p:cNvPr id="9" name="figure placeholder"/>
          <p:cNvSpPr/>
          <p:nvPr/>
        </p:nvSpPr>
        <p:spPr>
          <a:xfrm>
            <a:off x="457200" y="2788920"/>
            <a:ext cx="4023360" cy="1463040"/>
          </a:xfrm>
          <a:prstGeom prst="rect">
            <a:avLst/>
          </a:prstGeom>
          <a:solidFill>
            <a:schemeClr val="bg1"/>
          </a:solidFill>
          <a:ln w="15875">
            <a:solidFill>
              <a:srgbClr val="9DB0C6"/>
            </a:solidFill>
            <a:prstDash val="dash"/>
          </a:ln>
        </p:spPr>
      </p:sp>
      <p:sp>
        <p:nvSpPr>
          <p:cNvPr id="10" name="Text 8"/>
          <p:cNvSpPr txBox="1"/>
          <p:nvPr/>
        </p:nvSpPr>
        <p:spPr>
          <a:xfrm>
            <a:off x="64008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A.3: screening curve]</a:t>
            </a:r>
            <a:endParaRPr lang="en-US" sz="1400" dirty="0"/>
          </a:p>
        </p:txBody>
      </p:sp>
      <p:sp>
        <p:nvSpPr>
          <p:cNvPr id="11" name="Text 9"/>
          <p:cNvSpPr txBox="1"/>
          <p:nvPr/>
        </p:nvSpPr>
        <p:spPr>
          <a:xfrm>
            <a:off x="45720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A.3. </a:t>
            </a:r>
            <a:pPr indent="0" marL="0">
              <a:buNone/>
            </a:pPr>
            <a:r>
              <a:rPr lang="en-US" sz="1400" i="1" dirty="0">
                <a:solidFill>
                  <a:schemeClr val="accent2"/>
                </a:solidFill>
              </a:rPr>
              <a:t>[caption]</a:t>
            </a:r>
            <a:endParaRPr lang="en-US" sz="1400" dirty="0"/>
          </a:p>
        </p:txBody>
      </p:sp>
      <p:sp>
        <p:nvSpPr>
          <p:cNvPr id="12" name="figure placeholder"/>
          <p:cNvSpPr/>
          <p:nvPr/>
        </p:nvSpPr>
        <p:spPr>
          <a:xfrm>
            <a:off x="4663440" y="2788920"/>
            <a:ext cx="4023360" cy="1463040"/>
          </a:xfrm>
          <a:prstGeom prst="rect">
            <a:avLst/>
          </a:prstGeom>
          <a:solidFill>
            <a:schemeClr val="bg1"/>
          </a:solidFill>
          <a:ln w="15875">
            <a:solidFill>
              <a:srgbClr val="9DB0C6"/>
            </a:solidFill>
            <a:prstDash val="dash"/>
          </a:ln>
        </p:spPr>
      </p:sp>
      <p:sp>
        <p:nvSpPr>
          <p:cNvPr id="13" name="Text 11"/>
          <p:cNvSpPr txBox="1"/>
          <p:nvPr/>
        </p:nvSpPr>
        <p:spPr>
          <a:xfrm>
            <a:off x="484632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A.4: screening curve]</a:t>
            </a:r>
            <a:endParaRPr lang="en-US" sz="1400" dirty="0"/>
          </a:p>
        </p:txBody>
      </p:sp>
      <p:sp>
        <p:nvSpPr>
          <p:cNvPr id="14" name="Text 12"/>
          <p:cNvSpPr txBox="1"/>
          <p:nvPr/>
        </p:nvSpPr>
        <p:spPr>
          <a:xfrm>
            <a:off x="466344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A.4.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A.3 Variability: folds vs initializations</a:t>
            </a:r>
            <a:endParaRPr lang="en-US" sz="2600" dirty="0"/>
          </a:p>
        </p:txBody>
      </p:sp>
      <p:sp>
        <p:nvSpPr>
          <p:cNvPr id="3" name="figure placeholder"/>
          <p:cNvSpPr/>
          <p:nvPr/>
        </p:nvSpPr>
        <p:spPr>
          <a:xfrm>
            <a:off x="457200" y="960120"/>
            <a:ext cx="8229600" cy="3108960"/>
          </a:xfrm>
          <a:prstGeom prst="rect">
            <a:avLst/>
          </a:prstGeom>
          <a:solidFill>
            <a:schemeClr val="bg1"/>
          </a:solidFill>
          <a:ln w="15875">
            <a:solidFill>
              <a:srgbClr val="9DB0C6"/>
            </a:solidFill>
            <a:prstDash val="dash"/>
          </a:ln>
        </p:spPr>
      </p:sp>
      <p:sp>
        <p:nvSpPr>
          <p:cNvPr id="4" name="Text 2"/>
          <p:cNvSpPr txBox="1"/>
          <p:nvPr/>
        </p:nvSpPr>
        <p:spPr>
          <a:xfrm>
            <a:off x="640080" y="960120"/>
            <a:ext cx="7863840" cy="3108960"/>
          </a:xfrm>
          <a:prstGeom prst="rect">
            <a:avLst/>
          </a:prstGeom>
          <a:noFill/>
          <a:ln/>
        </p:spPr>
        <p:txBody>
          <a:bodyPr wrap="square" lIns="635" tIns="635" rIns="635" bIns="635" rtlCol="0" anchor="ctr"/>
          <a:lstStyle/>
          <a:p>
            <a:pPr algn="ctr" indent="0" marL="0">
              <a:buNone/>
            </a:pPr>
            <a:r>
              <a:rPr lang="en-US" sz="1400" i="1" dirty="0">
                <a:solidFill>
                  <a:schemeClr val="accent2"/>
                </a:solidFill>
              </a:rPr>
              <a:t>[Std of VL MEE across folds and across initializations for the top configurations]</a:t>
            </a:r>
            <a:endParaRPr lang="en-US" sz="1400" dirty="0"/>
          </a:p>
        </p:txBody>
      </p:sp>
      <p:sp>
        <p:nvSpPr>
          <p:cNvPr id="5" name="Text 3"/>
          <p:cNvSpPr txBox="1"/>
          <p:nvPr/>
        </p:nvSpPr>
        <p:spPr>
          <a:xfrm>
            <a:off x="457200" y="4133088"/>
            <a:ext cx="8229600" cy="457200"/>
          </a:xfrm>
          <a:prstGeom prst="rect">
            <a:avLst/>
          </a:prstGeom>
          <a:noFill/>
          <a:ln/>
        </p:spPr>
        <p:txBody>
          <a:bodyPr wrap="square" lIns="635" tIns="635" rIns="635" bIns="635" rtlCol="0" anchor="t"/>
          <a:lstStyle/>
          <a:p>
            <a:pPr indent="0" marL="0">
              <a:buNone/>
            </a:pPr>
            <a:r>
              <a:rPr lang="en-US" sz="1400" i="1" dirty="0">
                <a:solidFill>
                  <a:schemeClr val="accent3"/>
                </a:solidFill>
              </a:rPr>
              <a:t>Fig. A.5.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A.4 Reproducibility</a:t>
            </a:r>
            <a:endParaRPr lang="en-US" sz="2600" dirty="0"/>
          </a:p>
        </p:txBody>
      </p:sp>
      <p:sp>
        <p:nvSpPr>
          <p:cNvPr id="3" name="Text 1"/>
          <p:cNvSpPr txBox="1"/>
          <p:nvPr/>
        </p:nvSpPr>
        <p:spPr>
          <a:xfrm>
            <a:off x="457200" y="1005840"/>
            <a:ext cx="8229600" cy="3566160"/>
          </a:xfrm>
          <a:prstGeom prst="rect">
            <a:avLst/>
          </a:prstGeom>
          <a:noFill/>
          <a:ln/>
        </p:spPr>
        <p:txBody>
          <a:bodyPr wrap="square" lIns="635" tIns="635" rIns="635" bIns="635" rtlCol="0" anchor="t"/>
          <a:lstStyle/>
          <a:p>
            <a:pPr indent="0" marL="0">
              <a:spcAft>
                <a:spcPts val="800"/>
              </a:spcAft>
              <a:buNone/>
            </a:pPr>
            <a:r>
              <a:rPr lang="en-US" sz="1400" dirty="0">
                <a:solidFill>
                  <a:schemeClr val="tx1"/>
                </a:solidFill>
              </a:rPr>
              <a:t>Every run is a JSON config; results, seeds and plots are saved in results/&lt;task&gt;/&lt;run_id&gt;/.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select].json</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assess].json</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python experiments/cup_final.py</a:t>
            </a:r>
            <a:endParaRPr lang="en-US" sz="1400" dirty="0"/>
          </a:p>
          <a:p>
            <a:pPr indent="0" marL="0">
              <a:buNone/>
            </a:pPr>
            <a:r>
              <a:rPr lang="en-US" sz="1400" dirty="0">
                <a:solidFill>
                  <a:schemeClr val="tx1"/>
                </a:solidFill>
              </a:rPr>
              <a:t>Master seed </a:t>
            </a:r>
            <a:pPr indent="0" marL="0">
              <a:buNone/>
            </a:pPr>
            <a:r>
              <a:rPr lang="en-US" sz="1400" i="1" dirty="0">
                <a:solidFill>
                  <a:schemeClr val="accent2"/>
                </a:solidFill>
              </a:rPr>
              <a:t>[…]</a:t>
            </a:r>
            <a:pPr indent="0" marL="0">
              <a:buNone/>
            </a:pPr>
            <a:r>
              <a:rPr lang="en-US" sz="1400" dirty="0">
                <a:solidFill>
                  <a:schemeClr val="tx1"/>
                </a:solidFill>
              </a:rPr>
              <a:t>; internal test split always with seed 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ML 2025 Report">
  <a:themeElements>
    <a:clrScheme name="ML 2025 Report">
      <a:dk1>
        <a:srgbClr val="1B1F24"/>
      </a:dk1>
      <a:lt1>
        <a:srgbClr val="FFFFFF"/>
      </a:lt1>
      <a:dk2>
        <a:srgbClr val="16365C"/>
      </a:dk2>
      <a:lt2>
        <a:srgbClr val="EDF1F6"/>
      </a:lt2>
      <a:accent1>
        <a:srgbClr val="16365C"/>
      </a:accent1>
      <a:accent2>
        <a:srgbClr val="B5482F"/>
      </a:accent2>
      <a:accent3>
        <a:srgbClr val="5A6F86"/>
      </a:accent3>
      <a:accent4>
        <a:srgbClr val="9DB0C6"/>
      </a:accent4>
      <a:accent5>
        <a:srgbClr val="2F6E4F"/>
      </a:accent5>
      <a:accent6>
        <a:srgbClr val="8A6D1D"/>
      </a:accent6>
      <a:hlink>
        <a:srgbClr val="1F5FA8"/>
      </a:hlink>
      <a:folHlink>
        <a:srgbClr val="6B4C9A"/>
      </a:folHlink>
    </a:clrScheme>
    <a:fontScheme name="ML 2025 Re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 2025 Project</dc:title>
  <dc:subject>MONK and ML-CUP25 with a neural network written from scratch</dc:subject>
  <dc:creator>PptxGenJS</dc:creator>
  <cp:lastModifiedBy>PptxGenJS</cp:lastModifiedBy>
  <cp:revision>1</cp:revision>
  <dcterms:created xsi:type="dcterms:W3CDTF">2026-10-26T09:49:51Z</dcterms:created>
  <dcterms:modified xsi:type="dcterms:W3CDTF">2026-10-26T09:49:51Z</dcterms:modified>
</cp:coreProperties>
</file>